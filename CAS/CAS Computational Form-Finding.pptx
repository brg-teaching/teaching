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ask: a concept for discussion, re-scoped from the prepared MAS, built on material the group already maintains. Ten ECTS, six chapters, first cohort October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sits at the top of every chapter slide that follows, and it fills as we go. Segment widths are ECTS, so the picture also shows where the weight of the course sits: chapters 2 and the three method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chapters as one connected sequence, each represented by its key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run one after another. The individual project runs underneath for the whole course; its six steps are placed where they fall in time, with the midterm review halfway.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covers the history of computational structural design, and it starts from graphic statics fundamentals, the lectures shows various system as a global overview and also show graphic statics diagrams. At this moment no computation methods are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introduces the computational toolkit: COMPAS, AEC exchange formats, solvers and AI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moves from cables and arches to trusses, and then to trusses computed with compas_ags.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covers form finding through two methods: force density and dynamic relaxation.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covers thrust network analysis, thrust network optimization and discrete element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covers materialization and constructability: building models with compas_model and fabrication through 3D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individual project in six steps: research question, physical prototype, toolchain, documented repository, midterm review and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ask: a concept for discussion, re-scoped from the prepared MAS, built on material the group already maintains. Ten ECTS, six chapters, first cohort October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is graphic statics proper, and eQUILIBRIUM belongs here: the platform and the drawings player are the historical material made operable. Students reproduce the classic constructions before they write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1.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bootcamp. No prior Python required, which is the deliberate market-widening decision — week zero handles installation so day one is not lost to conda.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2.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hand construction becomes code. The five-step table after Chapter 5 expands exactly this transition, so keep it brief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3.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is the largest solver chapter and rests on the most mature gitbook. It is also where the missing mathematics hurts most: students meet two solvers and have to choose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4.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closes the loop back to Chapter 1: TNA is reciprocity in three dimensions. RhinoVAULT gives the interface, compas_tna the script, compas_tno the outlook to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5.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that turns a form-found geometry into something buildable: discretisation, interfaces, tolerance, assembly sequence, and fabrication at the RFL.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6.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accumulates here: sixty per cent of the grade, two toolchains minimum, and it has to run as code. This is also what graduates take away — a public repository with their name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Day-by-day plan for chapter 7. Four recurring activity types run through every chapter: hands-on work with physical models, the computational workflow, and integration into the individual work via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same equilibrium problem, five ways of defining and enforcing it. This is the spine of the whole curriculum — students draw it before they solve it, and solve it before they constrain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names its own gaps; these six items answer them. Twenty to thirty person-weeks, mostly adapting existing research documentation. The ask today is approval to file the SCE package for the November 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slideLayout" Target="../slideLayouts/slideLayout1.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image" Target="../media/image-4-19.png"/><Relationship Id="rId20" Type="http://schemas.openxmlformats.org/officeDocument/2006/relationships/image" Target="../media/image-4-20.svg"/><Relationship Id="rId21" Type="http://schemas.openxmlformats.org/officeDocument/2006/relationships/image" Target="../media/image-4-21.png"/><Relationship Id="rId22" Type="http://schemas.openxmlformats.org/officeDocument/2006/relationships/image" Target="../media/image-4-22.svg"/><Relationship Id="rId23" Type="http://schemas.openxmlformats.org/officeDocument/2006/relationships/image" Target="../media/image-4-23.png"/><Relationship Id="rId24" Type="http://schemas.openxmlformats.org/officeDocument/2006/relationships/image" Target="../media/image-4-24.svg"/><Relationship Id="rId25" Type="http://schemas.openxmlformats.org/officeDocument/2006/relationships/image" Target="../media/image-4-25.png"/><Relationship Id="rId26" Type="http://schemas.openxmlformats.org/officeDocument/2006/relationships/image" Target="../media/image-4-26.svg"/><Relationship Id="rId27" Type="http://schemas.openxmlformats.org/officeDocument/2006/relationships/slideLayout" Target="../slideLayouts/slideLayout1.xml"/><Relationship Id="rId2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image" Target="../media/image-5-17.png"/><Relationship Id="rId18" Type="http://schemas.openxmlformats.org/officeDocument/2006/relationships/image" Target="../media/image-5-18.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13.png"/><Relationship Id="rId14" Type="http://schemas.openxmlformats.org/officeDocument/2006/relationships/image" Target="../media/image-11-14.sv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pic>
        <p:nvPicPr>
          <p:cNvPr id="2" name="Image 0" descr="image.imageformat.1286.dpr2.207728301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B3D">
              <a:alpha val="72000"/>
            </a:srgbClr>
          </a:solidFill>
          <a:ln/>
        </p:spPr>
      </p:sp>
      <p:sp>
        <p:nvSpPr>
          <p:cNvPr id="4" name="Text 1"/>
          <p:cNvSpPr txBox="1"/>
          <p:nvPr/>
        </p:nvSpPr>
        <p:spPr>
          <a:xfrm>
            <a:off x="609905" y="559613"/>
            <a:ext cx="3786530"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Block Research Group · ITA · D-ARCH · ETH Zürich</a:t>
            </a:r>
            <a:endParaRPr lang="en-US" sz="1200" dirty="0"/>
          </a:p>
        </p:txBody>
      </p:sp>
      <p:sp>
        <p:nvSpPr>
          <p:cNvPr id="5" name="Text 2"/>
          <p:cNvSpPr txBox="1"/>
          <p:nvPr/>
        </p:nvSpPr>
        <p:spPr>
          <a:xfrm>
            <a:off x="609905" y="1748333"/>
            <a:ext cx="11874398" cy="1584655"/>
          </a:xfrm>
          <a:prstGeom prst="rect">
            <a:avLst/>
          </a:prstGeom>
          <a:noFill/>
          <a:ln/>
        </p:spPr>
        <p:txBody>
          <a:bodyPr wrap="none" lIns="0" tIns="0" rIns="0" bIns="0" rtlCol="0" anchor="t"/>
          <a:lstStyle/>
          <a:p>
            <a:pPr algn="l" indent="0" marL="0">
              <a:lnSpc>
                <a:spcPts val="6240"/>
              </a:lnSpc>
              <a:buNone/>
            </a:pPr>
            <a:r>
              <a:rPr lang="en-US" sz="6500" b="1" spc="-227" kern="0" dirty="0">
                <a:solidFill>
                  <a:srgbClr val="FFFFFF"/>
                </a:solidFill>
                <a:latin typeface="Open Sans" pitchFamily="34" charset="0"/>
                <a:ea typeface="Open Sans" pitchFamily="34" charset="-122"/>
                <a:cs typeface="Open Sans" pitchFamily="34" charset="-120"/>
              </a:rPr>
              <a:t>CAS</a:t>
            </a:r>
            <a:endParaRPr lang="en-US" sz="6500" dirty="0"/>
          </a:p>
          <a:p>
            <a:pPr algn="l" indent="0" marL="0">
              <a:lnSpc>
                <a:spcPts val="6240"/>
              </a:lnSpc>
              <a:buNone/>
            </a:pPr>
            <a:r>
              <a:rPr lang="en-US" sz="6500" b="1" spc="-227" kern="0" dirty="0">
                <a:solidFill>
                  <a:srgbClr val="FFFFFF"/>
                </a:solidFill>
                <a:latin typeface="Open Sans" pitchFamily="34" charset="0"/>
                <a:ea typeface="Open Sans" pitchFamily="34" charset="-122"/>
                <a:cs typeface="Open Sans" pitchFamily="34" charset="-120"/>
              </a:rPr>
              <a:t>Computational Form-finding</a:t>
            </a:r>
            <a:endParaRPr lang="en-US" sz="6500" dirty="0"/>
          </a:p>
        </p:txBody>
      </p:sp>
      <p:sp>
        <p:nvSpPr>
          <p:cNvPr id="6" name="Shape 3"/>
          <p:cNvSpPr/>
          <p:nvPr/>
        </p:nvSpPr>
        <p:spPr>
          <a:xfrm>
            <a:off x="609905" y="3554273"/>
            <a:ext cx="1524305" cy="88697"/>
          </a:xfrm>
          <a:prstGeom prst="rect">
            <a:avLst/>
          </a:prstGeom>
          <a:solidFill>
            <a:srgbClr val="3057B1"/>
          </a:solidFill>
          <a:ln/>
        </p:spPr>
      </p:sp>
      <p:sp>
        <p:nvSpPr>
          <p:cNvPr id="7" name="Shape 4"/>
          <p:cNvSpPr/>
          <p:nvPr/>
        </p:nvSpPr>
        <p:spPr>
          <a:xfrm>
            <a:off x="2184502" y="3554273"/>
            <a:ext cx="1524305" cy="88697"/>
          </a:xfrm>
          <a:prstGeom prst="rect">
            <a:avLst/>
          </a:prstGeom>
          <a:solidFill>
            <a:srgbClr val="5552BB"/>
          </a:solidFill>
          <a:ln/>
        </p:spPr>
      </p:sp>
      <p:sp>
        <p:nvSpPr>
          <p:cNvPr id="8" name="Shape 5"/>
          <p:cNvSpPr/>
          <p:nvPr/>
        </p:nvSpPr>
        <p:spPr>
          <a:xfrm>
            <a:off x="3759098" y="3554273"/>
            <a:ext cx="1524305" cy="88697"/>
          </a:xfrm>
          <a:prstGeom prst="rect">
            <a:avLst/>
          </a:prstGeom>
          <a:solidFill>
            <a:srgbClr val="7750C1"/>
          </a:solidFill>
          <a:ln/>
        </p:spPr>
      </p:sp>
      <p:sp>
        <p:nvSpPr>
          <p:cNvPr id="9" name="Shape 6"/>
          <p:cNvSpPr/>
          <p:nvPr/>
        </p:nvSpPr>
        <p:spPr>
          <a:xfrm>
            <a:off x="5333695" y="3554273"/>
            <a:ext cx="1524305" cy="88697"/>
          </a:xfrm>
          <a:prstGeom prst="rect">
            <a:avLst/>
          </a:prstGeom>
          <a:solidFill>
            <a:srgbClr val="934ABD"/>
          </a:solidFill>
          <a:ln/>
        </p:spPr>
      </p:sp>
      <p:sp>
        <p:nvSpPr>
          <p:cNvPr id="10" name="Shape 7"/>
          <p:cNvSpPr/>
          <p:nvPr/>
        </p:nvSpPr>
        <p:spPr>
          <a:xfrm>
            <a:off x="6909206" y="3554273"/>
            <a:ext cx="1524305" cy="88697"/>
          </a:xfrm>
          <a:prstGeom prst="rect">
            <a:avLst/>
          </a:prstGeom>
          <a:solidFill>
            <a:srgbClr val="AE4BB2"/>
          </a:solidFill>
          <a:ln/>
        </p:spPr>
      </p:sp>
      <p:sp>
        <p:nvSpPr>
          <p:cNvPr id="11" name="Shape 8"/>
          <p:cNvSpPr/>
          <p:nvPr/>
        </p:nvSpPr>
        <p:spPr>
          <a:xfrm>
            <a:off x="8483803" y="3554273"/>
            <a:ext cx="1524305" cy="88697"/>
          </a:xfrm>
          <a:prstGeom prst="rect">
            <a:avLst/>
          </a:prstGeom>
          <a:solidFill>
            <a:srgbClr val="CA49A4"/>
          </a:solidFill>
          <a:ln/>
        </p:spPr>
      </p:sp>
      <p:sp>
        <p:nvSpPr>
          <p:cNvPr id="12" name="Shape 9"/>
          <p:cNvSpPr/>
          <p:nvPr/>
        </p:nvSpPr>
        <p:spPr>
          <a:xfrm>
            <a:off x="10058400" y="3554273"/>
            <a:ext cx="1524305" cy="88697"/>
          </a:xfrm>
          <a:prstGeom prst="rect">
            <a:avLst/>
          </a:prstGeom>
          <a:solidFill>
            <a:srgbClr val="DC4B8D"/>
          </a:solidFill>
          <a:ln/>
        </p:spPr>
      </p:sp>
      <p:sp>
        <p:nvSpPr>
          <p:cNvPr id="13" name="Text 10"/>
          <p:cNvSpPr txBox="1"/>
          <p:nvPr/>
        </p:nvSpPr>
        <p:spPr>
          <a:xfrm>
            <a:off x="609905" y="3856025"/>
            <a:ext cx="5349240" cy="1320394"/>
          </a:xfrm>
          <a:prstGeom prst="rect">
            <a:avLst/>
          </a:prstGeom>
          <a:noFill/>
          <a:ln/>
        </p:spPr>
        <p:txBody>
          <a:bodyPr wrap="none" lIns="0" tIns="0" rIns="0" bIns="0" rtlCol="0" anchor="t"/>
          <a:lstStyle/>
          <a:p>
            <a:pPr algn="l" indent="0" marL="0">
              <a:lnSpc>
                <a:spcPts val="2600"/>
              </a:lnSpc>
              <a:buNone/>
            </a:pPr>
            <a:r>
              <a:rPr lang="en-US" sz="2000" dirty="0">
                <a:solidFill>
                  <a:srgbClr val="D0CFDE"/>
                </a:solidFill>
                <a:latin typeface="Open Sans" pitchFamily="34" charset="0"/>
                <a:ea typeface="Open Sans" pitchFamily="34" charset="-122"/>
                <a:cs typeface="Open Sans" pitchFamily="34" charset="-120"/>
              </a:rPr>
              <a:t>10 ECTS</a:t>
            </a:r>
            <a:endParaRPr lang="en-US" sz="2000" dirty="0"/>
          </a:p>
          <a:p>
            <a:pPr algn="l" indent="0" marL="0">
              <a:lnSpc>
                <a:spcPts val="2600"/>
              </a:lnSpc>
              <a:buNone/>
            </a:pPr>
            <a:r>
              <a:rPr lang="en-US" sz="2000" dirty="0">
                <a:solidFill>
                  <a:srgbClr val="D0CFDE"/>
                </a:solidFill>
                <a:latin typeface="Open Sans" pitchFamily="34" charset="0"/>
                <a:ea typeface="Open Sans" pitchFamily="34" charset="-122"/>
                <a:cs typeface="Open Sans" pitchFamily="34" charset="-120"/>
              </a:rPr>
              <a:t>40 work days</a:t>
            </a:r>
            <a:endParaRPr lang="en-US" sz="2000" dirty="0"/>
          </a:p>
          <a:p>
            <a:pPr algn="l" indent="0" marL="0">
              <a:lnSpc>
                <a:spcPts val="2600"/>
              </a:lnSpc>
              <a:buNone/>
            </a:pPr>
            <a:r>
              <a:rPr lang="en-US" sz="2000" dirty="0">
                <a:solidFill>
                  <a:srgbClr val="D0CFDE"/>
                </a:solidFill>
                <a:latin typeface="Open Sans" pitchFamily="34" charset="0"/>
                <a:ea typeface="Open Sans" pitchFamily="34" charset="-122"/>
                <a:cs typeface="Open Sans" pitchFamily="34" charset="-120"/>
              </a:rPr>
              <a:t>3-12 months</a:t>
            </a:r>
            <a:endParaRPr lang="en-US" sz="2000" dirty="0"/>
          </a:p>
          <a:p>
            <a:pPr algn="l" indent="0" marL="0">
              <a:lnSpc>
                <a:spcPts val="2600"/>
              </a:lnSpc>
              <a:buNone/>
            </a:pPr>
            <a:r>
              <a:rPr lang="en-US" sz="2000" dirty="0">
                <a:solidFill>
                  <a:srgbClr val="D0CFDE"/>
                </a:solidFill>
                <a:latin typeface="Open Sans" pitchFamily="34" charset="0"/>
                <a:ea typeface="Open Sans" pitchFamily="34" charset="-122"/>
                <a:cs typeface="Open Sans" pitchFamily="34" charset="-120"/>
              </a:rPr>
              <a:t>300 h student work ≈ 100 h contact hours</a:t>
            </a:r>
            <a:endParaRPr lang="en-US" sz="2000" dirty="0"/>
          </a:p>
        </p:txBody>
      </p:sp>
      <p:sp>
        <p:nvSpPr>
          <p:cNvPr id="14" name="Text 11"/>
          <p:cNvSpPr txBox="1"/>
          <p:nvPr/>
        </p:nvSpPr>
        <p:spPr>
          <a:xfrm>
            <a:off x="609905" y="6166714"/>
            <a:ext cx="1090879" cy="207569"/>
          </a:xfrm>
          <a:prstGeom prst="rect">
            <a:avLst/>
          </a:prstGeom>
          <a:noFill/>
          <a:ln/>
        </p:spPr>
        <p:txBody>
          <a:bodyPr wrap="none" lIns="0" tIns="0" rIns="0" bIns="0" rtlCol="0" anchor="t"/>
          <a:lstStyle/>
          <a:p>
            <a:pPr algn="l" indent="0" marL="0">
              <a:lnSpc>
                <a:spcPts val="1634"/>
              </a:lnSpc>
              <a:buNone/>
            </a:pPr>
            <a:r>
              <a:rPr lang="en-US" sz="1200" dirty="0">
                <a:solidFill>
                  <a:srgbClr val="A4A2B7"/>
                </a:solidFill>
                <a:latin typeface="Open Sans" pitchFamily="34" charset="0"/>
                <a:ea typeface="Open Sans" pitchFamily="34" charset="-122"/>
                <a:cs typeface="Open Sans" pitchFamily="34" charset="-120"/>
              </a:rPr>
              <a:t>Working draft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09905" y="657454"/>
            <a:ext cx="1770278" cy="400507"/>
          </a:xfrm>
          <a:prstGeom prst="rect">
            <a:avLst/>
          </a:prstGeom>
          <a:noFill/>
          <a:ln/>
        </p:spPr>
        <p:txBody>
          <a:bodyPr wrap="none" lIns="0" tIns="0" rIns="0" bIns="0" rtlCol="0" anchor="t"/>
          <a:lstStyle/>
          <a:p>
            <a:pPr algn="l" indent="0" marL="0">
              <a:lnSpc>
                <a:spcPts val="3150"/>
              </a:lnSpc>
              <a:buNone/>
            </a:pPr>
            <a:r>
              <a:rPr lang="en-US" sz="2895" b="1" spc="-60" kern="0" dirty="0">
                <a:solidFill>
                  <a:srgbClr val="141B3D"/>
                </a:solidFill>
                <a:latin typeface="Open Sans" pitchFamily="34" charset="0"/>
                <a:ea typeface="Open Sans" pitchFamily="34" charset="-122"/>
                <a:cs typeface="Open Sans" pitchFamily="34" charset="-120"/>
              </a:rPr>
              <a:t>Contents</a:t>
            </a:r>
            <a:endParaRPr lang="en-US" sz="2895" dirty="0"/>
          </a:p>
        </p:txBody>
      </p:sp>
      <p:sp>
        <p:nvSpPr>
          <p:cNvPr id="3" name="Shape 1"/>
          <p:cNvSpPr/>
          <p:nvPr/>
        </p:nvSpPr>
        <p:spPr>
          <a:xfrm>
            <a:off x="609905" y="1447495"/>
            <a:ext cx="1524305" cy="88697"/>
          </a:xfrm>
          <a:prstGeom prst="rect">
            <a:avLst/>
          </a:prstGeom>
          <a:solidFill>
            <a:srgbClr val="3057B1"/>
          </a:solidFill>
          <a:ln/>
        </p:spPr>
      </p:sp>
      <p:sp>
        <p:nvSpPr>
          <p:cNvPr id="4" name="Shape 2"/>
          <p:cNvSpPr/>
          <p:nvPr/>
        </p:nvSpPr>
        <p:spPr>
          <a:xfrm>
            <a:off x="2184502" y="1447495"/>
            <a:ext cx="1524305" cy="88697"/>
          </a:xfrm>
          <a:prstGeom prst="rect">
            <a:avLst/>
          </a:prstGeom>
          <a:solidFill>
            <a:srgbClr val="DCD9E4"/>
          </a:solidFill>
          <a:ln/>
        </p:spPr>
      </p:sp>
      <p:sp>
        <p:nvSpPr>
          <p:cNvPr id="5" name="Shape 3"/>
          <p:cNvSpPr/>
          <p:nvPr/>
        </p:nvSpPr>
        <p:spPr>
          <a:xfrm>
            <a:off x="3759098" y="1447495"/>
            <a:ext cx="1524305" cy="88697"/>
          </a:xfrm>
          <a:prstGeom prst="rect">
            <a:avLst/>
          </a:prstGeom>
          <a:solidFill>
            <a:srgbClr val="DCD9E4"/>
          </a:solidFill>
          <a:ln/>
        </p:spPr>
      </p:sp>
      <p:sp>
        <p:nvSpPr>
          <p:cNvPr id="6" name="Shape 4"/>
          <p:cNvSpPr/>
          <p:nvPr/>
        </p:nvSpPr>
        <p:spPr>
          <a:xfrm>
            <a:off x="5333695" y="1447495"/>
            <a:ext cx="1524305" cy="88697"/>
          </a:xfrm>
          <a:prstGeom prst="rect">
            <a:avLst/>
          </a:prstGeom>
          <a:solidFill>
            <a:srgbClr val="DCD9E4"/>
          </a:solidFill>
          <a:ln/>
        </p:spPr>
      </p:sp>
      <p:sp>
        <p:nvSpPr>
          <p:cNvPr id="7" name="Shape 5"/>
          <p:cNvSpPr/>
          <p:nvPr/>
        </p:nvSpPr>
        <p:spPr>
          <a:xfrm>
            <a:off x="6909206" y="1447495"/>
            <a:ext cx="1524305" cy="88697"/>
          </a:xfrm>
          <a:prstGeom prst="rect">
            <a:avLst/>
          </a:prstGeom>
          <a:solidFill>
            <a:srgbClr val="DCD9E4"/>
          </a:solidFill>
          <a:ln/>
        </p:spPr>
      </p:sp>
      <p:sp>
        <p:nvSpPr>
          <p:cNvPr id="8" name="Shape 6"/>
          <p:cNvSpPr/>
          <p:nvPr/>
        </p:nvSpPr>
        <p:spPr>
          <a:xfrm>
            <a:off x="8483803" y="1447495"/>
            <a:ext cx="1524305" cy="88697"/>
          </a:xfrm>
          <a:prstGeom prst="rect">
            <a:avLst/>
          </a:prstGeom>
          <a:solidFill>
            <a:srgbClr val="DCD9E4"/>
          </a:solidFill>
          <a:ln/>
        </p:spPr>
      </p:sp>
      <p:sp>
        <p:nvSpPr>
          <p:cNvPr id="9" name="Shape 7"/>
          <p:cNvSpPr/>
          <p:nvPr/>
        </p:nvSpPr>
        <p:spPr>
          <a:xfrm>
            <a:off x="10058400" y="1447495"/>
            <a:ext cx="1524305" cy="88697"/>
          </a:xfrm>
          <a:prstGeom prst="rect">
            <a:avLst/>
          </a:prstGeom>
          <a:solidFill>
            <a:srgbClr val="DCD9E4"/>
          </a:solidFill>
          <a:ln/>
        </p:spPr>
      </p:sp>
      <p:sp>
        <p:nvSpPr>
          <p:cNvPr id="10" name="Text 8"/>
          <p:cNvSpPr txBox="1"/>
          <p:nvPr/>
        </p:nvSpPr>
        <p:spPr>
          <a:xfrm>
            <a:off x="609905" y="1597457"/>
            <a:ext cx="4486961" cy="222199"/>
          </a:xfrm>
          <a:prstGeom prst="rect">
            <a:avLst/>
          </a:prstGeom>
          <a:noFill/>
          <a:ln/>
        </p:spPr>
        <p:txBody>
          <a:bodyPr wrap="none" lIns="0" tIns="0" rIns="0" bIns="0" rtlCol="0" anchor="t"/>
          <a:lstStyle/>
          <a:p>
            <a:pPr algn="l" indent="0" marL="0">
              <a:lnSpc>
                <a:spcPts val="1750"/>
              </a:lnSpc>
              <a:buNone/>
            </a:pPr>
            <a:r>
              <a:rPr lang="en-US" sz="1353" b="1" dirty="0">
                <a:solidFill>
                  <a:srgbClr val="3057B1"/>
                </a:solidFill>
                <a:latin typeface="Open Sans" pitchFamily="34" charset="0"/>
                <a:ea typeface="Open Sans" pitchFamily="34" charset="-122"/>
                <a:cs typeface="Open Sans" pitchFamily="34" charset="-120"/>
              </a:rPr>
              <a:t>Ch 1  History of Computational Structural Design</a:t>
            </a:r>
            <a:endParaRPr lang="en-US" sz="1353" dirty="0"/>
          </a:p>
        </p:txBody>
      </p:sp>
      <p:sp>
        <p:nvSpPr>
          <p:cNvPr id="11" name="Shape 9"/>
          <p:cNvSpPr/>
          <p:nvPr/>
        </p:nvSpPr>
        <p:spPr>
          <a:xfrm>
            <a:off x="609905" y="1962302"/>
            <a:ext cx="1524305" cy="88697"/>
          </a:xfrm>
          <a:prstGeom prst="rect">
            <a:avLst/>
          </a:prstGeom>
          <a:solidFill>
            <a:srgbClr val="3057B1"/>
          </a:solidFill>
          <a:ln/>
        </p:spPr>
      </p:sp>
      <p:sp>
        <p:nvSpPr>
          <p:cNvPr id="12" name="Shape 10"/>
          <p:cNvSpPr/>
          <p:nvPr/>
        </p:nvSpPr>
        <p:spPr>
          <a:xfrm>
            <a:off x="2184502" y="1962302"/>
            <a:ext cx="1524305" cy="88697"/>
          </a:xfrm>
          <a:prstGeom prst="rect">
            <a:avLst/>
          </a:prstGeom>
          <a:solidFill>
            <a:srgbClr val="5552BB"/>
          </a:solidFill>
          <a:ln/>
        </p:spPr>
      </p:sp>
      <p:sp>
        <p:nvSpPr>
          <p:cNvPr id="13" name="Shape 11"/>
          <p:cNvSpPr/>
          <p:nvPr/>
        </p:nvSpPr>
        <p:spPr>
          <a:xfrm>
            <a:off x="3759098" y="1962302"/>
            <a:ext cx="1524305" cy="88697"/>
          </a:xfrm>
          <a:prstGeom prst="rect">
            <a:avLst/>
          </a:prstGeom>
          <a:solidFill>
            <a:srgbClr val="DCD9E4"/>
          </a:solidFill>
          <a:ln/>
        </p:spPr>
      </p:sp>
      <p:sp>
        <p:nvSpPr>
          <p:cNvPr id="14" name="Shape 12"/>
          <p:cNvSpPr/>
          <p:nvPr/>
        </p:nvSpPr>
        <p:spPr>
          <a:xfrm>
            <a:off x="5333695" y="1962302"/>
            <a:ext cx="1524305" cy="88697"/>
          </a:xfrm>
          <a:prstGeom prst="rect">
            <a:avLst/>
          </a:prstGeom>
          <a:solidFill>
            <a:srgbClr val="DCD9E4"/>
          </a:solidFill>
          <a:ln/>
        </p:spPr>
      </p:sp>
      <p:sp>
        <p:nvSpPr>
          <p:cNvPr id="15" name="Shape 13"/>
          <p:cNvSpPr/>
          <p:nvPr/>
        </p:nvSpPr>
        <p:spPr>
          <a:xfrm>
            <a:off x="6909206" y="1962302"/>
            <a:ext cx="1524305" cy="88697"/>
          </a:xfrm>
          <a:prstGeom prst="rect">
            <a:avLst/>
          </a:prstGeom>
          <a:solidFill>
            <a:srgbClr val="DCD9E4"/>
          </a:solidFill>
          <a:ln/>
        </p:spPr>
      </p:sp>
      <p:sp>
        <p:nvSpPr>
          <p:cNvPr id="16" name="Shape 14"/>
          <p:cNvSpPr/>
          <p:nvPr/>
        </p:nvSpPr>
        <p:spPr>
          <a:xfrm>
            <a:off x="8483803" y="1962302"/>
            <a:ext cx="1524305" cy="88697"/>
          </a:xfrm>
          <a:prstGeom prst="rect">
            <a:avLst/>
          </a:prstGeom>
          <a:solidFill>
            <a:srgbClr val="DCD9E4"/>
          </a:solidFill>
          <a:ln/>
        </p:spPr>
      </p:sp>
      <p:sp>
        <p:nvSpPr>
          <p:cNvPr id="17" name="Shape 15"/>
          <p:cNvSpPr/>
          <p:nvPr/>
        </p:nvSpPr>
        <p:spPr>
          <a:xfrm>
            <a:off x="10058400" y="1962302"/>
            <a:ext cx="1524305" cy="88697"/>
          </a:xfrm>
          <a:prstGeom prst="rect">
            <a:avLst/>
          </a:prstGeom>
          <a:solidFill>
            <a:srgbClr val="DCD9E4"/>
          </a:solidFill>
          <a:ln/>
        </p:spPr>
      </p:sp>
      <p:sp>
        <p:nvSpPr>
          <p:cNvPr id="18" name="Text 16"/>
          <p:cNvSpPr txBox="1"/>
          <p:nvPr/>
        </p:nvSpPr>
        <p:spPr>
          <a:xfrm>
            <a:off x="609905" y="2111350"/>
            <a:ext cx="4838090" cy="222199"/>
          </a:xfrm>
          <a:prstGeom prst="rect">
            <a:avLst/>
          </a:prstGeom>
          <a:noFill/>
          <a:ln/>
        </p:spPr>
        <p:txBody>
          <a:bodyPr wrap="none" lIns="0" tIns="0" rIns="0" bIns="0" rtlCol="0" anchor="t"/>
          <a:lstStyle/>
          <a:p>
            <a:pPr algn="l" indent="0" marL="0">
              <a:lnSpc>
                <a:spcPts val="1750"/>
              </a:lnSpc>
              <a:buNone/>
            </a:pPr>
            <a:r>
              <a:rPr lang="en-US" sz="1355" b="1" dirty="0">
                <a:solidFill>
                  <a:srgbClr val="5552BB"/>
                </a:solidFill>
                <a:latin typeface="Open Sans" pitchFamily="34" charset="0"/>
                <a:ea typeface="Open Sans" pitchFamily="34" charset="-122"/>
                <a:cs typeface="Open Sans" pitchFamily="34" charset="-120"/>
              </a:rPr>
              <a:t>Ch 2  Computational Structural Design with COMPAS</a:t>
            </a:r>
            <a:endParaRPr lang="en-US" sz="1355" dirty="0"/>
          </a:p>
        </p:txBody>
      </p:sp>
      <p:sp>
        <p:nvSpPr>
          <p:cNvPr id="19" name="Shape 17"/>
          <p:cNvSpPr/>
          <p:nvPr/>
        </p:nvSpPr>
        <p:spPr>
          <a:xfrm>
            <a:off x="609905" y="2476195"/>
            <a:ext cx="1524305" cy="88697"/>
          </a:xfrm>
          <a:prstGeom prst="rect">
            <a:avLst/>
          </a:prstGeom>
          <a:solidFill>
            <a:srgbClr val="3057B1"/>
          </a:solidFill>
          <a:ln/>
        </p:spPr>
      </p:sp>
      <p:sp>
        <p:nvSpPr>
          <p:cNvPr id="20" name="Shape 18"/>
          <p:cNvSpPr/>
          <p:nvPr/>
        </p:nvSpPr>
        <p:spPr>
          <a:xfrm>
            <a:off x="2184502" y="2476195"/>
            <a:ext cx="1524305" cy="88697"/>
          </a:xfrm>
          <a:prstGeom prst="rect">
            <a:avLst/>
          </a:prstGeom>
          <a:solidFill>
            <a:srgbClr val="5552BB"/>
          </a:solidFill>
          <a:ln/>
        </p:spPr>
      </p:sp>
      <p:sp>
        <p:nvSpPr>
          <p:cNvPr id="21" name="Shape 19"/>
          <p:cNvSpPr/>
          <p:nvPr/>
        </p:nvSpPr>
        <p:spPr>
          <a:xfrm>
            <a:off x="3759098" y="2476195"/>
            <a:ext cx="1524305" cy="88697"/>
          </a:xfrm>
          <a:prstGeom prst="rect">
            <a:avLst/>
          </a:prstGeom>
          <a:solidFill>
            <a:srgbClr val="7750C1"/>
          </a:solidFill>
          <a:ln/>
        </p:spPr>
      </p:sp>
      <p:sp>
        <p:nvSpPr>
          <p:cNvPr id="22" name="Shape 20"/>
          <p:cNvSpPr/>
          <p:nvPr/>
        </p:nvSpPr>
        <p:spPr>
          <a:xfrm>
            <a:off x="5333695" y="2476195"/>
            <a:ext cx="1524305" cy="88697"/>
          </a:xfrm>
          <a:prstGeom prst="rect">
            <a:avLst/>
          </a:prstGeom>
          <a:solidFill>
            <a:srgbClr val="DCD9E4"/>
          </a:solidFill>
          <a:ln/>
        </p:spPr>
      </p:sp>
      <p:sp>
        <p:nvSpPr>
          <p:cNvPr id="23" name="Shape 21"/>
          <p:cNvSpPr/>
          <p:nvPr/>
        </p:nvSpPr>
        <p:spPr>
          <a:xfrm>
            <a:off x="6909206" y="2476195"/>
            <a:ext cx="1524305" cy="88697"/>
          </a:xfrm>
          <a:prstGeom prst="rect">
            <a:avLst/>
          </a:prstGeom>
          <a:solidFill>
            <a:srgbClr val="DCD9E4"/>
          </a:solidFill>
          <a:ln/>
        </p:spPr>
      </p:sp>
      <p:sp>
        <p:nvSpPr>
          <p:cNvPr id="24" name="Shape 22"/>
          <p:cNvSpPr/>
          <p:nvPr/>
        </p:nvSpPr>
        <p:spPr>
          <a:xfrm>
            <a:off x="8483803" y="2476195"/>
            <a:ext cx="1524305" cy="88697"/>
          </a:xfrm>
          <a:prstGeom prst="rect">
            <a:avLst/>
          </a:prstGeom>
          <a:solidFill>
            <a:srgbClr val="DCD9E4"/>
          </a:solidFill>
          <a:ln/>
        </p:spPr>
      </p:sp>
      <p:sp>
        <p:nvSpPr>
          <p:cNvPr id="25" name="Shape 23"/>
          <p:cNvSpPr/>
          <p:nvPr/>
        </p:nvSpPr>
        <p:spPr>
          <a:xfrm>
            <a:off x="10058400" y="2476195"/>
            <a:ext cx="1524305" cy="88697"/>
          </a:xfrm>
          <a:prstGeom prst="rect">
            <a:avLst/>
          </a:prstGeom>
          <a:solidFill>
            <a:srgbClr val="DCD9E4"/>
          </a:solidFill>
          <a:ln/>
        </p:spPr>
      </p:sp>
      <p:sp>
        <p:nvSpPr>
          <p:cNvPr id="26" name="Text 24"/>
          <p:cNvSpPr txBox="1"/>
          <p:nvPr/>
        </p:nvSpPr>
        <p:spPr>
          <a:xfrm>
            <a:off x="609905" y="2626157"/>
            <a:ext cx="1876349" cy="222199"/>
          </a:xfrm>
          <a:prstGeom prst="rect">
            <a:avLst/>
          </a:prstGeom>
          <a:noFill/>
          <a:ln/>
        </p:spPr>
        <p:txBody>
          <a:bodyPr wrap="none" lIns="0" tIns="0" rIns="0" bIns="0" rtlCol="0" anchor="t"/>
          <a:lstStyle/>
          <a:p>
            <a:pPr algn="l" indent="0" marL="0">
              <a:lnSpc>
                <a:spcPts val="1750"/>
              </a:lnSpc>
              <a:buNone/>
            </a:pPr>
            <a:r>
              <a:rPr lang="en-US" sz="1358" b="1" dirty="0">
                <a:solidFill>
                  <a:srgbClr val="7750C1"/>
                </a:solidFill>
                <a:latin typeface="Open Sans" pitchFamily="34" charset="0"/>
                <a:ea typeface="Open Sans" pitchFamily="34" charset="-122"/>
                <a:cs typeface="Open Sans" pitchFamily="34" charset="-120"/>
              </a:rPr>
              <a:t>Ch 3  Graphic Statics</a:t>
            </a:r>
            <a:endParaRPr lang="en-US" sz="1358" dirty="0"/>
          </a:p>
        </p:txBody>
      </p:sp>
      <p:sp>
        <p:nvSpPr>
          <p:cNvPr id="27" name="Shape 25"/>
          <p:cNvSpPr/>
          <p:nvPr/>
        </p:nvSpPr>
        <p:spPr>
          <a:xfrm>
            <a:off x="609905" y="2991002"/>
            <a:ext cx="1524305" cy="88697"/>
          </a:xfrm>
          <a:prstGeom prst="rect">
            <a:avLst/>
          </a:prstGeom>
          <a:solidFill>
            <a:srgbClr val="3057B1"/>
          </a:solidFill>
          <a:ln/>
        </p:spPr>
      </p:sp>
      <p:sp>
        <p:nvSpPr>
          <p:cNvPr id="28" name="Shape 26"/>
          <p:cNvSpPr/>
          <p:nvPr/>
        </p:nvSpPr>
        <p:spPr>
          <a:xfrm>
            <a:off x="2184502" y="2991002"/>
            <a:ext cx="1524305" cy="88697"/>
          </a:xfrm>
          <a:prstGeom prst="rect">
            <a:avLst/>
          </a:prstGeom>
          <a:solidFill>
            <a:srgbClr val="5552BB"/>
          </a:solidFill>
          <a:ln/>
        </p:spPr>
      </p:sp>
      <p:sp>
        <p:nvSpPr>
          <p:cNvPr id="29" name="Shape 27"/>
          <p:cNvSpPr/>
          <p:nvPr/>
        </p:nvSpPr>
        <p:spPr>
          <a:xfrm>
            <a:off x="3759098" y="2991002"/>
            <a:ext cx="1524305" cy="88697"/>
          </a:xfrm>
          <a:prstGeom prst="rect">
            <a:avLst/>
          </a:prstGeom>
          <a:solidFill>
            <a:srgbClr val="7750C1"/>
          </a:solidFill>
          <a:ln/>
        </p:spPr>
      </p:sp>
      <p:sp>
        <p:nvSpPr>
          <p:cNvPr id="30" name="Shape 28"/>
          <p:cNvSpPr/>
          <p:nvPr/>
        </p:nvSpPr>
        <p:spPr>
          <a:xfrm>
            <a:off x="5333695" y="2991002"/>
            <a:ext cx="1524305" cy="88697"/>
          </a:xfrm>
          <a:prstGeom prst="rect">
            <a:avLst/>
          </a:prstGeom>
          <a:solidFill>
            <a:srgbClr val="934ABD"/>
          </a:solidFill>
          <a:ln/>
        </p:spPr>
      </p:sp>
      <p:sp>
        <p:nvSpPr>
          <p:cNvPr id="31" name="Shape 29"/>
          <p:cNvSpPr/>
          <p:nvPr/>
        </p:nvSpPr>
        <p:spPr>
          <a:xfrm>
            <a:off x="6909206" y="2991002"/>
            <a:ext cx="1524305" cy="88697"/>
          </a:xfrm>
          <a:prstGeom prst="rect">
            <a:avLst/>
          </a:prstGeom>
          <a:solidFill>
            <a:srgbClr val="DCD9E4"/>
          </a:solidFill>
          <a:ln/>
        </p:spPr>
      </p:sp>
      <p:sp>
        <p:nvSpPr>
          <p:cNvPr id="32" name="Shape 30"/>
          <p:cNvSpPr/>
          <p:nvPr/>
        </p:nvSpPr>
        <p:spPr>
          <a:xfrm>
            <a:off x="8483803" y="2991002"/>
            <a:ext cx="1524305" cy="88697"/>
          </a:xfrm>
          <a:prstGeom prst="rect">
            <a:avLst/>
          </a:prstGeom>
          <a:solidFill>
            <a:srgbClr val="DCD9E4"/>
          </a:solidFill>
          <a:ln/>
        </p:spPr>
      </p:sp>
      <p:sp>
        <p:nvSpPr>
          <p:cNvPr id="33" name="Shape 31"/>
          <p:cNvSpPr/>
          <p:nvPr/>
        </p:nvSpPr>
        <p:spPr>
          <a:xfrm>
            <a:off x="10058400" y="2991002"/>
            <a:ext cx="1524305" cy="88697"/>
          </a:xfrm>
          <a:prstGeom prst="rect">
            <a:avLst/>
          </a:prstGeom>
          <a:solidFill>
            <a:srgbClr val="DCD9E4"/>
          </a:solidFill>
          <a:ln/>
        </p:spPr>
      </p:sp>
      <p:sp>
        <p:nvSpPr>
          <p:cNvPr id="34" name="Text 32"/>
          <p:cNvSpPr txBox="1"/>
          <p:nvPr/>
        </p:nvSpPr>
        <p:spPr>
          <a:xfrm>
            <a:off x="609905" y="3140050"/>
            <a:ext cx="1706270" cy="222199"/>
          </a:xfrm>
          <a:prstGeom prst="rect">
            <a:avLst/>
          </a:prstGeom>
          <a:noFill/>
          <a:ln/>
        </p:spPr>
        <p:txBody>
          <a:bodyPr wrap="none" lIns="0" tIns="0" rIns="0" bIns="0" rtlCol="0" anchor="t"/>
          <a:lstStyle/>
          <a:p>
            <a:pPr algn="l" indent="0" marL="0">
              <a:lnSpc>
                <a:spcPts val="1750"/>
              </a:lnSpc>
              <a:buNone/>
            </a:pPr>
            <a:r>
              <a:rPr lang="en-US" sz="1364" b="1" dirty="0">
                <a:solidFill>
                  <a:srgbClr val="934ABD"/>
                </a:solidFill>
                <a:latin typeface="Open Sans" pitchFamily="34" charset="0"/>
                <a:ea typeface="Open Sans" pitchFamily="34" charset="-122"/>
                <a:cs typeface="Open Sans" pitchFamily="34" charset="-120"/>
              </a:rPr>
              <a:t>Ch 4  Form Finding</a:t>
            </a:r>
            <a:endParaRPr lang="en-US" sz="1364" dirty="0"/>
          </a:p>
        </p:txBody>
      </p:sp>
      <p:sp>
        <p:nvSpPr>
          <p:cNvPr id="35" name="Shape 33"/>
          <p:cNvSpPr/>
          <p:nvPr/>
        </p:nvSpPr>
        <p:spPr>
          <a:xfrm>
            <a:off x="609905" y="3504895"/>
            <a:ext cx="1524305" cy="88697"/>
          </a:xfrm>
          <a:prstGeom prst="rect">
            <a:avLst/>
          </a:prstGeom>
          <a:solidFill>
            <a:srgbClr val="3057B1"/>
          </a:solidFill>
          <a:ln/>
        </p:spPr>
      </p:sp>
      <p:sp>
        <p:nvSpPr>
          <p:cNvPr id="36" name="Shape 34"/>
          <p:cNvSpPr/>
          <p:nvPr/>
        </p:nvSpPr>
        <p:spPr>
          <a:xfrm>
            <a:off x="2184502" y="3504895"/>
            <a:ext cx="1524305" cy="88697"/>
          </a:xfrm>
          <a:prstGeom prst="rect">
            <a:avLst/>
          </a:prstGeom>
          <a:solidFill>
            <a:srgbClr val="5552BB"/>
          </a:solidFill>
          <a:ln/>
        </p:spPr>
      </p:sp>
      <p:sp>
        <p:nvSpPr>
          <p:cNvPr id="37" name="Shape 35"/>
          <p:cNvSpPr/>
          <p:nvPr/>
        </p:nvSpPr>
        <p:spPr>
          <a:xfrm>
            <a:off x="3759098" y="3504895"/>
            <a:ext cx="1524305" cy="88697"/>
          </a:xfrm>
          <a:prstGeom prst="rect">
            <a:avLst/>
          </a:prstGeom>
          <a:solidFill>
            <a:srgbClr val="7750C1"/>
          </a:solidFill>
          <a:ln/>
        </p:spPr>
      </p:sp>
      <p:sp>
        <p:nvSpPr>
          <p:cNvPr id="38" name="Shape 36"/>
          <p:cNvSpPr/>
          <p:nvPr/>
        </p:nvSpPr>
        <p:spPr>
          <a:xfrm>
            <a:off x="5333695" y="3504895"/>
            <a:ext cx="1524305" cy="88697"/>
          </a:xfrm>
          <a:prstGeom prst="rect">
            <a:avLst/>
          </a:prstGeom>
          <a:solidFill>
            <a:srgbClr val="934ABD"/>
          </a:solidFill>
          <a:ln/>
        </p:spPr>
      </p:sp>
      <p:sp>
        <p:nvSpPr>
          <p:cNvPr id="39" name="Shape 37"/>
          <p:cNvSpPr/>
          <p:nvPr/>
        </p:nvSpPr>
        <p:spPr>
          <a:xfrm>
            <a:off x="6909206" y="3504895"/>
            <a:ext cx="1524305" cy="88697"/>
          </a:xfrm>
          <a:prstGeom prst="rect">
            <a:avLst/>
          </a:prstGeom>
          <a:solidFill>
            <a:srgbClr val="AE4BB2"/>
          </a:solidFill>
          <a:ln/>
        </p:spPr>
      </p:sp>
      <p:sp>
        <p:nvSpPr>
          <p:cNvPr id="40" name="Shape 38"/>
          <p:cNvSpPr/>
          <p:nvPr/>
        </p:nvSpPr>
        <p:spPr>
          <a:xfrm>
            <a:off x="8483803" y="3504895"/>
            <a:ext cx="1524305" cy="88697"/>
          </a:xfrm>
          <a:prstGeom prst="rect">
            <a:avLst/>
          </a:prstGeom>
          <a:solidFill>
            <a:srgbClr val="DCD9E4"/>
          </a:solidFill>
          <a:ln/>
        </p:spPr>
      </p:sp>
      <p:sp>
        <p:nvSpPr>
          <p:cNvPr id="41" name="Shape 39"/>
          <p:cNvSpPr/>
          <p:nvPr/>
        </p:nvSpPr>
        <p:spPr>
          <a:xfrm>
            <a:off x="10058400" y="3504895"/>
            <a:ext cx="1524305" cy="88697"/>
          </a:xfrm>
          <a:prstGeom prst="rect">
            <a:avLst/>
          </a:prstGeom>
          <a:solidFill>
            <a:srgbClr val="DCD9E4"/>
          </a:solidFill>
          <a:ln/>
        </p:spPr>
      </p:sp>
      <p:sp>
        <p:nvSpPr>
          <p:cNvPr id="42" name="Text 40"/>
          <p:cNvSpPr txBox="1"/>
          <p:nvPr/>
        </p:nvSpPr>
        <p:spPr>
          <a:xfrm>
            <a:off x="609905" y="3654857"/>
            <a:ext cx="2756916" cy="222199"/>
          </a:xfrm>
          <a:prstGeom prst="rect">
            <a:avLst/>
          </a:prstGeom>
          <a:noFill/>
          <a:ln/>
        </p:spPr>
        <p:txBody>
          <a:bodyPr wrap="none" lIns="0" tIns="0" rIns="0" bIns="0" rtlCol="0" anchor="t"/>
          <a:lstStyle/>
          <a:p>
            <a:pPr algn="l" indent="0" marL="0">
              <a:lnSpc>
                <a:spcPts val="1750"/>
              </a:lnSpc>
              <a:buNone/>
            </a:pPr>
            <a:r>
              <a:rPr lang="en-US" sz="1350" b="1" dirty="0">
                <a:solidFill>
                  <a:srgbClr val="AE4BB2"/>
                </a:solidFill>
                <a:latin typeface="Open Sans" pitchFamily="34" charset="0"/>
                <a:ea typeface="Open Sans" pitchFamily="34" charset="-122"/>
                <a:cs typeface="Open Sans" pitchFamily="34" charset="-120"/>
              </a:rPr>
              <a:t>Ch 5  Thrust Network Analysis</a:t>
            </a:r>
            <a:endParaRPr lang="en-US" sz="1350" dirty="0"/>
          </a:p>
        </p:txBody>
      </p:sp>
      <p:sp>
        <p:nvSpPr>
          <p:cNvPr id="43" name="Shape 41"/>
          <p:cNvSpPr/>
          <p:nvPr/>
        </p:nvSpPr>
        <p:spPr>
          <a:xfrm>
            <a:off x="609905" y="4019702"/>
            <a:ext cx="1524305" cy="88697"/>
          </a:xfrm>
          <a:prstGeom prst="rect">
            <a:avLst/>
          </a:prstGeom>
          <a:solidFill>
            <a:srgbClr val="3057B1"/>
          </a:solidFill>
          <a:ln/>
        </p:spPr>
      </p:sp>
      <p:sp>
        <p:nvSpPr>
          <p:cNvPr id="44" name="Shape 42"/>
          <p:cNvSpPr/>
          <p:nvPr/>
        </p:nvSpPr>
        <p:spPr>
          <a:xfrm>
            <a:off x="2184502" y="4019702"/>
            <a:ext cx="1524305" cy="88697"/>
          </a:xfrm>
          <a:prstGeom prst="rect">
            <a:avLst/>
          </a:prstGeom>
          <a:solidFill>
            <a:srgbClr val="5552BB"/>
          </a:solidFill>
          <a:ln/>
        </p:spPr>
      </p:sp>
      <p:sp>
        <p:nvSpPr>
          <p:cNvPr id="45" name="Shape 43"/>
          <p:cNvSpPr/>
          <p:nvPr/>
        </p:nvSpPr>
        <p:spPr>
          <a:xfrm>
            <a:off x="3759098" y="4019702"/>
            <a:ext cx="1524305" cy="88697"/>
          </a:xfrm>
          <a:prstGeom prst="rect">
            <a:avLst/>
          </a:prstGeom>
          <a:solidFill>
            <a:srgbClr val="7750C1"/>
          </a:solidFill>
          <a:ln/>
        </p:spPr>
      </p:sp>
      <p:sp>
        <p:nvSpPr>
          <p:cNvPr id="46" name="Shape 44"/>
          <p:cNvSpPr/>
          <p:nvPr/>
        </p:nvSpPr>
        <p:spPr>
          <a:xfrm>
            <a:off x="5333695" y="4019702"/>
            <a:ext cx="1524305" cy="88697"/>
          </a:xfrm>
          <a:prstGeom prst="rect">
            <a:avLst/>
          </a:prstGeom>
          <a:solidFill>
            <a:srgbClr val="934ABD"/>
          </a:solidFill>
          <a:ln/>
        </p:spPr>
      </p:sp>
      <p:sp>
        <p:nvSpPr>
          <p:cNvPr id="47" name="Shape 45"/>
          <p:cNvSpPr/>
          <p:nvPr/>
        </p:nvSpPr>
        <p:spPr>
          <a:xfrm>
            <a:off x="6909206" y="4019702"/>
            <a:ext cx="1524305" cy="88697"/>
          </a:xfrm>
          <a:prstGeom prst="rect">
            <a:avLst/>
          </a:prstGeom>
          <a:solidFill>
            <a:srgbClr val="AE4BB2"/>
          </a:solidFill>
          <a:ln/>
        </p:spPr>
      </p:sp>
      <p:sp>
        <p:nvSpPr>
          <p:cNvPr id="48" name="Shape 46"/>
          <p:cNvSpPr/>
          <p:nvPr/>
        </p:nvSpPr>
        <p:spPr>
          <a:xfrm>
            <a:off x="8483803" y="4019702"/>
            <a:ext cx="1524305" cy="88697"/>
          </a:xfrm>
          <a:prstGeom prst="rect">
            <a:avLst/>
          </a:prstGeom>
          <a:solidFill>
            <a:srgbClr val="CA49A4"/>
          </a:solidFill>
          <a:ln/>
        </p:spPr>
      </p:sp>
      <p:sp>
        <p:nvSpPr>
          <p:cNvPr id="49" name="Shape 47"/>
          <p:cNvSpPr/>
          <p:nvPr/>
        </p:nvSpPr>
        <p:spPr>
          <a:xfrm>
            <a:off x="10058400" y="4019702"/>
            <a:ext cx="1524305" cy="88697"/>
          </a:xfrm>
          <a:prstGeom prst="rect">
            <a:avLst/>
          </a:prstGeom>
          <a:solidFill>
            <a:srgbClr val="DCD9E4"/>
          </a:solidFill>
          <a:ln/>
        </p:spPr>
      </p:sp>
      <p:sp>
        <p:nvSpPr>
          <p:cNvPr id="50" name="Text 48"/>
          <p:cNvSpPr txBox="1"/>
          <p:nvPr/>
        </p:nvSpPr>
        <p:spPr>
          <a:xfrm>
            <a:off x="609905" y="4168750"/>
            <a:ext cx="3544214" cy="222199"/>
          </a:xfrm>
          <a:prstGeom prst="rect">
            <a:avLst/>
          </a:prstGeom>
          <a:noFill/>
          <a:ln/>
        </p:spPr>
        <p:txBody>
          <a:bodyPr wrap="none" lIns="0" tIns="0" rIns="0" bIns="0" rtlCol="0" anchor="t"/>
          <a:lstStyle/>
          <a:p>
            <a:pPr algn="l" indent="0" marL="0">
              <a:lnSpc>
                <a:spcPts val="1750"/>
              </a:lnSpc>
              <a:buNone/>
            </a:pPr>
            <a:r>
              <a:rPr lang="en-US" sz="1344" b="1" dirty="0">
                <a:solidFill>
                  <a:srgbClr val="CA49A4"/>
                </a:solidFill>
                <a:latin typeface="Open Sans" pitchFamily="34" charset="0"/>
                <a:ea typeface="Open Sans" pitchFamily="34" charset="-122"/>
                <a:cs typeface="Open Sans" pitchFamily="34" charset="-120"/>
              </a:rPr>
              <a:t>Ch 6  Materialization / Constructability</a:t>
            </a:r>
            <a:endParaRPr lang="en-US" sz="1344" dirty="0"/>
          </a:p>
        </p:txBody>
      </p:sp>
      <p:sp>
        <p:nvSpPr>
          <p:cNvPr id="51" name="Shape 49"/>
          <p:cNvSpPr/>
          <p:nvPr/>
        </p:nvSpPr>
        <p:spPr>
          <a:xfrm>
            <a:off x="609905" y="4533595"/>
            <a:ext cx="1524305" cy="88697"/>
          </a:xfrm>
          <a:prstGeom prst="rect">
            <a:avLst/>
          </a:prstGeom>
          <a:solidFill>
            <a:srgbClr val="3057B1"/>
          </a:solidFill>
          <a:ln/>
        </p:spPr>
      </p:sp>
      <p:sp>
        <p:nvSpPr>
          <p:cNvPr id="52" name="Shape 50"/>
          <p:cNvSpPr/>
          <p:nvPr/>
        </p:nvSpPr>
        <p:spPr>
          <a:xfrm>
            <a:off x="2184502" y="4533595"/>
            <a:ext cx="1524305" cy="88697"/>
          </a:xfrm>
          <a:prstGeom prst="rect">
            <a:avLst/>
          </a:prstGeom>
          <a:solidFill>
            <a:srgbClr val="5552BB"/>
          </a:solidFill>
          <a:ln/>
        </p:spPr>
      </p:sp>
      <p:sp>
        <p:nvSpPr>
          <p:cNvPr id="53" name="Shape 51"/>
          <p:cNvSpPr/>
          <p:nvPr/>
        </p:nvSpPr>
        <p:spPr>
          <a:xfrm>
            <a:off x="3759098" y="4533595"/>
            <a:ext cx="1524305" cy="88697"/>
          </a:xfrm>
          <a:prstGeom prst="rect">
            <a:avLst/>
          </a:prstGeom>
          <a:solidFill>
            <a:srgbClr val="7750C1"/>
          </a:solidFill>
          <a:ln/>
        </p:spPr>
      </p:sp>
      <p:sp>
        <p:nvSpPr>
          <p:cNvPr id="54" name="Shape 52"/>
          <p:cNvSpPr/>
          <p:nvPr/>
        </p:nvSpPr>
        <p:spPr>
          <a:xfrm>
            <a:off x="5333695" y="4533595"/>
            <a:ext cx="1524305" cy="88697"/>
          </a:xfrm>
          <a:prstGeom prst="rect">
            <a:avLst/>
          </a:prstGeom>
          <a:solidFill>
            <a:srgbClr val="934ABD"/>
          </a:solidFill>
          <a:ln/>
        </p:spPr>
      </p:sp>
      <p:sp>
        <p:nvSpPr>
          <p:cNvPr id="55" name="Shape 53"/>
          <p:cNvSpPr/>
          <p:nvPr/>
        </p:nvSpPr>
        <p:spPr>
          <a:xfrm>
            <a:off x="6909206" y="4533595"/>
            <a:ext cx="1524305" cy="88697"/>
          </a:xfrm>
          <a:prstGeom prst="rect">
            <a:avLst/>
          </a:prstGeom>
          <a:solidFill>
            <a:srgbClr val="AE4BB2"/>
          </a:solidFill>
          <a:ln/>
        </p:spPr>
      </p:sp>
      <p:sp>
        <p:nvSpPr>
          <p:cNvPr id="56" name="Shape 54"/>
          <p:cNvSpPr/>
          <p:nvPr/>
        </p:nvSpPr>
        <p:spPr>
          <a:xfrm>
            <a:off x="8483803" y="4533595"/>
            <a:ext cx="1524305" cy="88697"/>
          </a:xfrm>
          <a:prstGeom prst="rect">
            <a:avLst/>
          </a:prstGeom>
          <a:solidFill>
            <a:srgbClr val="CA49A4"/>
          </a:solidFill>
          <a:ln/>
        </p:spPr>
      </p:sp>
      <p:sp>
        <p:nvSpPr>
          <p:cNvPr id="57" name="Shape 55"/>
          <p:cNvSpPr/>
          <p:nvPr/>
        </p:nvSpPr>
        <p:spPr>
          <a:xfrm>
            <a:off x="10058400" y="4533595"/>
            <a:ext cx="1524305" cy="88697"/>
          </a:xfrm>
          <a:prstGeom prst="rect">
            <a:avLst/>
          </a:prstGeom>
          <a:solidFill>
            <a:srgbClr val="DC4B8D"/>
          </a:solidFill>
          <a:ln/>
        </p:spPr>
      </p:sp>
      <p:sp>
        <p:nvSpPr>
          <p:cNvPr id="58" name="Text 56"/>
          <p:cNvSpPr txBox="1"/>
          <p:nvPr/>
        </p:nvSpPr>
        <p:spPr>
          <a:xfrm>
            <a:off x="609905" y="4683557"/>
            <a:ext cx="2111350" cy="222199"/>
          </a:xfrm>
          <a:prstGeom prst="rect">
            <a:avLst/>
          </a:prstGeom>
          <a:noFill/>
          <a:ln/>
        </p:spPr>
        <p:txBody>
          <a:bodyPr wrap="none" lIns="0" tIns="0" rIns="0" bIns="0" rtlCol="0" anchor="t"/>
          <a:lstStyle/>
          <a:p>
            <a:pPr algn="l" indent="0" marL="0">
              <a:lnSpc>
                <a:spcPts val="1750"/>
              </a:lnSpc>
              <a:buNone/>
            </a:pPr>
            <a:r>
              <a:rPr lang="en-US" sz="1352" b="1" dirty="0">
                <a:solidFill>
                  <a:srgbClr val="DC4B8D"/>
                </a:solidFill>
                <a:latin typeface="Open Sans" pitchFamily="34" charset="0"/>
                <a:ea typeface="Open Sans" pitchFamily="34" charset="-122"/>
                <a:cs typeface="Open Sans" pitchFamily="34" charset="-120"/>
              </a:rPr>
              <a:t>Ch 7  Individual Project</a:t>
            </a:r>
            <a:endParaRPr lang="en-US" sz="13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09905" y="555955"/>
            <a:ext cx="2338121" cy="400507"/>
          </a:xfrm>
          <a:prstGeom prst="rect">
            <a:avLst/>
          </a:prstGeom>
          <a:noFill/>
          <a:ln/>
        </p:spPr>
        <p:txBody>
          <a:bodyPr wrap="none" lIns="0" tIns="0" rIns="0" bIns="0" rtlCol="0" anchor="t"/>
          <a:lstStyle/>
          <a:p>
            <a:pPr algn="l" indent="0" marL="0">
              <a:lnSpc>
                <a:spcPts val="3150"/>
              </a:lnSpc>
              <a:buNone/>
            </a:pPr>
            <a:r>
              <a:rPr lang="en-US" sz="2927" b="1" spc="-60" kern="0" dirty="0">
                <a:solidFill>
                  <a:srgbClr val="141B3D"/>
                </a:solidFill>
                <a:latin typeface="Open Sans" pitchFamily="34" charset="0"/>
                <a:ea typeface="Open Sans" pitchFamily="34" charset="-122"/>
                <a:cs typeface="Open Sans" pitchFamily="34" charset="-120"/>
              </a:rPr>
              <a:t>Course map</a:t>
            </a:r>
            <a:endParaRPr lang="en-US" sz="2927" dirty="0"/>
          </a:p>
        </p:txBody>
      </p:sp>
      <p:pic>
        <p:nvPicPr>
          <p:cNvPr id="3" name="slide03-icon01" descr="slide03-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905" y="1444752"/>
            <a:ext cx="11175797" cy="4444898"/>
          </a:xfrm>
          <a:prstGeom prst="rect">
            <a:avLst/>
          </a:prstGeom>
        </p:spPr>
      </p:pic>
      <p:sp>
        <p:nvSpPr>
          <p:cNvPr id="4" name="Shape 1"/>
          <p:cNvSpPr/>
          <p:nvPr/>
        </p:nvSpPr>
        <p:spPr>
          <a:xfrm>
            <a:off x="625450" y="1460297"/>
            <a:ext cx="1555394" cy="1555394"/>
          </a:xfrm>
          <a:prstGeom prst="ellipse">
            <a:avLst/>
          </a:prstGeom>
          <a:solidFill>
            <a:srgbClr val="FFFFFF"/>
          </a:solidFill>
          <a:ln w="31750">
            <a:solidFill>
              <a:srgbClr val="3057B1"/>
            </a:solidFill>
            <a:prstDash val="solid"/>
          </a:ln>
        </p:spPr>
      </p:sp>
      <p:pic>
        <p:nvPicPr>
          <p:cNvPr id="5" name="slide03-icon02" descr="slide03-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2007" y="1806854"/>
            <a:ext cx="863194" cy="863194"/>
          </a:xfrm>
          <a:prstGeom prst="rect">
            <a:avLst/>
          </a:prstGeom>
        </p:spPr>
      </p:pic>
      <p:sp>
        <p:nvSpPr>
          <p:cNvPr id="6" name="Text 2"/>
          <p:cNvSpPr txBox="1"/>
          <p:nvPr/>
        </p:nvSpPr>
        <p:spPr>
          <a:xfrm>
            <a:off x="1008583" y="3185770"/>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Chapter 1</a:t>
            </a:r>
            <a:endParaRPr lang="en-US" sz="1200" dirty="0"/>
          </a:p>
        </p:txBody>
      </p:sp>
      <p:sp>
        <p:nvSpPr>
          <p:cNvPr id="7" name="Text 3"/>
          <p:cNvSpPr txBox="1"/>
          <p:nvPr/>
        </p:nvSpPr>
        <p:spPr>
          <a:xfrm>
            <a:off x="582473" y="3414370"/>
            <a:ext cx="1642262" cy="640080"/>
          </a:xfrm>
          <a:prstGeom prst="rect">
            <a:avLst/>
          </a:prstGeom>
          <a:noFill/>
          <a:ln/>
        </p:spPr>
        <p:txBody>
          <a:bodyPr wrap="none" lIns="0" tIns="0" rIns="0" bIns="0" rtlCol="0" anchor="t"/>
          <a:lstStyle/>
          <a:p>
            <a:pPr algn="ctr" indent="0" marL="0">
              <a:lnSpc>
                <a:spcPts val="1680"/>
              </a:lnSpc>
              <a:buNone/>
            </a:pPr>
            <a:r>
              <a:rPr lang="en-US" sz="1349" b="1" dirty="0">
                <a:solidFill>
                  <a:srgbClr val="141B3D"/>
                </a:solidFill>
                <a:latin typeface="Open Sans" pitchFamily="34" charset="0"/>
                <a:ea typeface="Open Sans" pitchFamily="34" charset="-122"/>
                <a:cs typeface="Open Sans" pitchFamily="34" charset="-120"/>
              </a:rPr>
              <a:t>History of</a:t>
            </a:r>
            <a:endParaRPr lang="en-US" sz="1349" dirty="0"/>
          </a:p>
          <a:p>
            <a:pPr algn="ctr" indent="0" marL="0">
              <a:lnSpc>
                <a:spcPts val="1680"/>
              </a:lnSpc>
              <a:buNone/>
            </a:pPr>
            <a:r>
              <a:rPr lang="en-US" sz="1349" b="1" dirty="0">
                <a:solidFill>
                  <a:srgbClr val="141B3D"/>
                </a:solidFill>
                <a:latin typeface="Open Sans" pitchFamily="34" charset="0"/>
                <a:ea typeface="Open Sans" pitchFamily="34" charset="-122"/>
                <a:cs typeface="Open Sans" pitchFamily="34" charset="-120"/>
              </a:rPr>
              <a:t>Computational</a:t>
            </a:r>
            <a:endParaRPr lang="en-US" sz="1349" dirty="0"/>
          </a:p>
          <a:p>
            <a:pPr algn="ctr" indent="0" marL="0">
              <a:lnSpc>
                <a:spcPts val="1680"/>
              </a:lnSpc>
              <a:buNone/>
            </a:pPr>
            <a:r>
              <a:rPr lang="en-US" sz="1349" b="1" dirty="0">
                <a:solidFill>
                  <a:srgbClr val="141B3D"/>
                </a:solidFill>
                <a:latin typeface="Open Sans" pitchFamily="34" charset="0"/>
                <a:ea typeface="Open Sans" pitchFamily="34" charset="-122"/>
                <a:cs typeface="Open Sans" pitchFamily="34" charset="-120"/>
              </a:rPr>
              <a:t>Structural Design</a:t>
            </a:r>
            <a:endParaRPr lang="en-US" sz="1349" dirty="0"/>
          </a:p>
        </p:txBody>
      </p:sp>
      <p:sp>
        <p:nvSpPr>
          <p:cNvPr id="8" name="Shape 4"/>
          <p:cNvSpPr/>
          <p:nvPr/>
        </p:nvSpPr>
        <p:spPr>
          <a:xfrm>
            <a:off x="2225650" y="3492094"/>
            <a:ext cx="1555394" cy="1555394"/>
          </a:xfrm>
          <a:prstGeom prst="ellipse">
            <a:avLst/>
          </a:prstGeom>
          <a:solidFill>
            <a:srgbClr val="FFFFFF"/>
          </a:solidFill>
          <a:ln w="31750">
            <a:solidFill>
              <a:srgbClr val="5552BB"/>
            </a:solidFill>
            <a:prstDash val="solid"/>
          </a:ln>
        </p:spPr>
      </p:sp>
      <p:pic>
        <p:nvPicPr>
          <p:cNvPr id="9" name="slide03-icon03" descr="slide03-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63978" y="3831336"/>
            <a:ext cx="878738" cy="912571"/>
          </a:xfrm>
          <a:prstGeom prst="rect">
            <a:avLst/>
          </a:prstGeom>
        </p:spPr>
      </p:pic>
      <p:sp>
        <p:nvSpPr>
          <p:cNvPr id="10" name="Text 5"/>
          <p:cNvSpPr txBox="1"/>
          <p:nvPr/>
        </p:nvSpPr>
        <p:spPr>
          <a:xfrm>
            <a:off x="2608783" y="5217566"/>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5552BB"/>
                </a:solidFill>
                <a:latin typeface="Open Sans" pitchFamily="34" charset="0"/>
                <a:ea typeface="Open Sans" pitchFamily="34" charset="-122"/>
                <a:cs typeface="Open Sans" pitchFamily="34" charset="-120"/>
              </a:rPr>
              <a:t>Chapter 2</a:t>
            </a:r>
            <a:endParaRPr lang="en-US" sz="1200" dirty="0"/>
          </a:p>
        </p:txBody>
      </p:sp>
      <p:sp>
        <p:nvSpPr>
          <p:cNvPr id="11" name="Text 6"/>
          <p:cNvSpPr txBox="1"/>
          <p:nvPr/>
        </p:nvSpPr>
        <p:spPr>
          <a:xfrm>
            <a:off x="2182673" y="5446166"/>
            <a:ext cx="1642262" cy="427025"/>
          </a:xfrm>
          <a:prstGeom prst="rect">
            <a:avLst/>
          </a:prstGeom>
          <a:noFill/>
          <a:ln/>
        </p:spPr>
        <p:txBody>
          <a:bodyPr wrap="none" lIns="0" tIns="0" rIns="0" bIns="0" rtlCol="0" anchor="t"/>
          <a:lstStyle/>
          <a:p>
            <a:pPr algn="ctr" indent="0" marL="0">
              <a:lnSpc>
                <a:spcPts val="1680"/>
              </a:lnSpc>
              <a:buNone/>
            </a:pPr>
            <a:r>
              <a:rPr lang="en-US" sz="1348" b="1" dirty="0">
                <a:solidFill>
                  <a:srgbClr val="141B3D"/>
                </a:solidFill>
                <a:latin typeface="Open Sans" pitchFamily="34" charset="0"/>
                <a:ea typeface="Open Sans" pitchFamily="34" charset="-122"/>
                <a:cs typeface="Open Sans" pitchFamily="34" charset="-120"/>
              </a:rPr>
              <a:t>Computational</a:t>
            </a:r>
            <a:endParaRPr lang="en-US" sz="1348" dirty="0"/>
          </a:p>
          <a:p>
            <a:pPr algn="ctr" indent="0" marL="0">
              <a:lnSpc>
                <a:spcPts val="1680"/>
              </a:lnSpc>
              <a:buNone/>
            </a:pPr>
            <a:r>
              <a:rPr lang="en-US" sz="1348" b="1" dirty="0">
                <a:solidFill>
                  <a:srgbClr val="141B3D"/>
                </a:solidFill>
                <a:latin typeface="Open Sans" pitchFamily="34" charset="0"/>
                <a:ea typeface="Open Sans" pitchFamily="34" charset="-122"/>
                <a:cs typeface="Open Sans" pitchFamily="34" charset="-120"/>
              </a:rPr>
              <a:t>Structural Design</a:t>
            </a:r>
            <a:endParaRPr lang="en-US" sz="1348" dirty="0"/>
          </a:p>
        </p:txBody>
      </p:sp>
      <p:sp>
        <p:nvSpPr>
          <p:cNvPr id="12" name="Shape 7"/>
          <p:cNvSpPr/>
          <p:nvPr/>
        </p:nvSpPr>
        <p:spPr>
          <a:xfrm>
            <a:off x="3819449" y="1460297"/>
            <a:ext cx="1555394" cy="1555394"/>
          </a:xfrm>
          <a:prstGeom prst="ellipse">
            <a:avLst/>
          </a:prstGeom>
          <a:solidFill>
            <a:srgbClr val="FFFFFF"/>
          </a:solidFill>
          <a:ln w="31750">
            <a:solidFill>
              <a:srgbClr val="7750C1"/>
            </a:solidFill>
            <a:prstDash val="solid"/>
          </a:ln>
        </p:spPr>
      </p:sp>
      <p:pic>
        <p:nvPicPr>
          <p:cNvPr id="13" name="slide03-icon04" descr="slide03-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66006" y="1806854"/>
            <a:ext cx="863194" cy="863194"/>
          </a:xfrm>
          <a:prstGeom prst="rect">
            <a:avLst/>
          </a:prstGeom>
        </p:spPr>
      </p:pic>
      <p:sp>
        <p:nvSpPr>
          <p:cNvPr id="14" name="Text 8"/>
          <p:cNvSpPr txBox="1"/>
          <p:nvPr/>
        </p:nvSpPr>
        <p:spPr>
          <a:xfrm>
            <a:off x="4202582" y="3185770"/>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7750C1"/>
                </a:solidFill>
                <a:latin typeface="Open Sans" pitchFamily="34" charset="0"/>
                <a:ea typeface="Open Sans" pitchFamily="34" charset="-122"/>
                <a:cs typeface="Open Sans" pitchFamily="34" charset="-120"/>
              </a:rPr>
              <a:t>Chapter 3</a:t>
            </a:r>
            <a:endParaRPr lang="en-US" sz="1200" dirty="0"/>
          </a:p>
        </p:txBody>
      </p:sp>
      <p:sp>
        <p:nvSpPr>
          <p:cNvPr id="15" name="Text 9"/>
          <p:cNvSpPr txBox="1"/>
          <p:nvPr/>
        </p:nvSpPr>
        <p:spPr>
          <a:xfrm>
            <a:off x="3885286" y="3414370"/>
            <a:ext cx="1423721" cy="213055"/>
          </a:xfrm>
          <a:prstGeom prst="rect">
            <a:avLst/>
          </a:prstGeom>
          <a:noFill/>
          <a:ln/>
        </p:spPr>
        <p:txBody>
          <a:bodyPr wrap="none" lIns="0" tIns="0" rIns="0" bIns="0" rtlCol="0" anchor="t"/>
          <a:lstStyle/>
          <a:p>
            <a:pPr algn="ctr" indent="0" marL="0">
              <a:lnSpc>
                <a:spcPts val="1680"/>
              </a:lnSpc>
              <a:buNone/>
            </a:pPr>
            <a:r>
              <a:rPr lang="en-US" sz="1348" b="1" dirty="0">
                <a:solidFill>
                  <a:srgbClr val="141B3D"/>
                </a:solidFill>
                <a:latin typeface="Open Sans" pitchFamily="34" charset="0"/>
                <a:ea typeface="Open Sans" pitchFamily="34" charset="-122"/>
                <a:cs typeface="Open Sans" pitchFamily="34" charset="-120"/>
              </a:rPr>
              <a:t>Graphic Statics</a:t>
            </a:r>
            <a:endParaRPr lang="en-US" sz="1348" dirty="0"/>
          </a:p>
        </p:txBody>
      </p:sp>
      <p:sp>
        <p:nvSpPr>
          <p:cNvPr id="16" name="Shape 10"/>
          <p:cNvSpPr/>
          <p:nvPr/>
        </p:nvSpPr>
        <p:spPr>
          <a:xfrm>
            <a:off x="5419649" y="3492094"/>
            <a:ext cx="1555394" cy="1555394"/>
          </a:xfrm>
          <a:prstGeom prst="ellipse">
            <a:avLst/>
          </a:prstGeom>
          <a:solidFill>
            <a:srgbClr val="FFFFFF"/>
          </a:solidFill>
          <a:ln w="31750">
            <a:solidFill>
              <a:srgbClr val="934ABD"/>
            </a:solidFill>
            <a:prstDash val="solid"/>
          </a:ln>
        </p:spPr>
      </p:sp>
      <p:pic>
        <p:nvPicPr>
          <p:cNvPr id="17" name="slide03-icon05" descr="slide03-icon0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66206" y="3838651"/>
            <a:ext cx="863194" cy="863194"/>
          </a:xfrm>
          <a:prstGeom prst="rect">
            <a:avLst/>
          </a:prstGeom>
        </p:spPr>
      </p:pic>
      <p:sp>
        <p:nvSpPr>
          <p:cNvPr id="18" name="Text 11"/>
          <p:cNvSpPr txBox="1"/>
          <p:nvPr/>
        </p:nvSpPr>
        <p:spPr>
          <a:xfrm>
            <a:off x="5802782" y="5217566"/>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934ABD"/>
                </a:solidFill>
                <a:latin typeface="Open Sans" pitchFamily="34" charset="0"/>
                <a:ea typeface="Open Sans" pitchFamily="34" charset="-122"/>
                <a:cs typeface="Open Sans" pitchFamily="34" charset="-120"/>
              </a:rPr>
              <a:t>Chapter 4</a:t>
            </a:r>
            <a:endParaRPr lang="en-US" sz="1200" dirty="0"/>
          </a:p>
        </p:txBody>
      </p:sp>
      <p:sp>
        <p:nvSpPr>
          <p:cNvPr id="19" name="Text 12"/>
          <p:cNvSpPr txBox="1"/>
          <p:nvPr/>
        </p:nvSpPr>
        <p:spPr>
          <a:xfrm>
            <a:off x="5571439" y="5446166"/>
            <a:ext cx="1252728" cy="213055"/>
          </a:xfrm>
          <a:prstGeom prst="rect">
            <a:avLst/>
          </a:prstGeom>
          <a:noFill/>
          <a:ln/>
        </p:spPr>
        <p:txBody>
          <a:bodyPr wrap="none" lIns="0" tIns="0" rIns="0" bIns="0" rtlCol="0" anchor="t"/>
          <a:lstStyle/>
          <a:p>
            <a:pPr algn="ctr" indent="0" marL="0">
              <a:lnSpc>
                <a:spcPts val="1680"/>
              </a:lnSpc>
              <a:buNone/>
            </a:pPr>
            <a:r>
              <a:rPr lang="en-US" sz="1355" b="1" dirty="0">
                <a:solidFill>
                  <a:srgbClr val="141B3D"/>
                </a:solidFill>
                <a:latin typeface="Open Sans" pitchFamily="34" charset="0"/>
                <a:ea typeface="Open Sans" pitchFamily="34" charset="-122"/>
                <a:cs typeface="Open Sans" pitchFamily="34" charset="-120"/>
              </a:rPr>
              <a:t>Form Finding</a:t>
            </a:r>
            <a:endParaRPr lang="en-US" sz="1355" dirty="0"/>
          </a:p>
        </p:txBody>
      </p:sp>
      <p:sp>
        <p:nvSpPr>
          <p:cNvPr id="20" name="Shape 13"/>
          <p:cNvSpPr/>
          <p:nvPr/>
        </p:nvSpPr>
        <p:spPr>
          <a:xfrm>
            <a:off x="7019849" y="1460297"/>
            <a:ext cx="1555394" cy="1555394"/>
          </a:xfrm>
          <a:prstGeom prst="ellipse">
            <a:avLst/>
          </a:prstGeom>
          <a:solidFill>
            <a:srgbClr val="FFFFFF"/>
          </a:solidFill>
          <a:ln w="31750">
            <a:solidFill>
              <a:srgbClr val="AE4BB2"/>
            </a:solidFill>
            <a:prstDash val="solid"/>
          </a:ln>
        </p:spPr>
      </p:sp>
      <p:pic>
        <p:nvPicPr>
          <p:cNvPr id="21" name="slide03-icon06" descr="slide03-icon06.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49033" y="1806854"/>
            <a:ext cx="885139" cy="863194"/>
          </a:xfrm>
          <a:prstGeom prst="rect">
            <a:avLst/>
          </a:prstGeom>
        </p:spPr>
      </p:pic>
      <p:sp>
        <p:nvSpPr>
          <p:cNvPr id="22" name="Text 14"/>
          <p:cNvSpPr txBox="1"/>
          <p:nvPr/>
        </p:nvSpPr>
        <p:spPr>
          <a:xfrm>
            <a:off x="7402982" y="3185770"/>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AE4BB2"/>
                </a:solidFill>
                <a:latin typeface="Open Sans" pitchFamily="34" charset="0"/>
                <a:ea typeface="Open Sans" pitchFamily="34" charset="-122"/>
                <a:cs typeface="Open Sans" pitchFamily="34" charset="-120"/>
              </a:rPr>
              <a:t>Chapter 5</a:t>
            </a:r>
            <a:endParaRPr lang="en-US" sz="1200" dirty="0"/>
          </a:p>
        </p:txBody>
      </p:sp>
      <p:sp>
        <p:nvSpPr>
          <p:cNvPr id="23" name="Text 15"/>
          <p:cNvSpPr txBox="1"/>
          <p:nvPr/>
        </p:nvSpPr>
        <p:spPr>
          <a:xfrm>
            <a:off x="7049110" y="3414370"/>
            <a:ext cx="1495958" cy="427025"/>
          </a:xfrm>
          <a:prstGeom prst="rect">
            <a:avLst/>
          </a:prstGeom>
          <a:noFill/>
          <a:ln/>
        </p:spPr>
        <p:txBody>
          <a:bodyPr wrap="none" lIns="0" tIns="0" rIns="0" bIns="0" rtlCol="0" anchor="t"/>
          <a:lstStyle/>
          <a:p>
            <a:pPr algn="ctr" indent="0" marL="0">
              <a:lnSpc>
                <a:spcPts val="1680"/>
              </a:lnSpc>
              <a:buNone/>
            </a:pPr>
            <a:r>
              <a:rPr lang="en-US" sz="1342" b="1" dirty="0">
                <a:solidFill>
                  <a:srgbClr val="141B3D"/>
                </a:solidFill>
                <a:latin typeface="Open Sans" pitchFamily="34" charset="0"/>
                <a:ea typeface="Open Sans" pitchFamily="34" charset="-122"/>
                <a:cs typeface="Open Sans" pitchFamily="34" charset="-120"/>
              </a:rPr>
              <a:t>Thrust Network</a:t>
            </a:r>
            <a:endParaRPr lang="en-US" sz="1342" dirty="0"/>
          </a:p>
          <a:p>
            <a:pPr algn="ctr" indent="0" marL="0">
              <a:lnSpc>
                <a:spcPts val="1680"/>
              </a:lnSpc>
              <a:buNone/>
            </a:pPr>
            <a:r>
              <a:rPr lang="en-US" sz="1342" b="1" dirty="0">
                <a:solidFill>
                  <a:srgbClr val="141B3D"/>
                </a:solidFill>
                <a:latin typeface="Open Sans" pitchFamily="34" charset="0"/>
                <a:ea typeface="Open Sans" pitchFamily="34" charset="-122"/>
                <a:cs typeface="Open Sans" pitchFamily="34" charset="-120"/>
              </a:rPr>
              <a:t>Analysis</a:t>
            </a:r>
            <a:endParaRPr lang="en-US" sz="1342" dirty="0"/>
          </a:p>
        </p:txBody>
      </p:sp>
      <p:sp>
        <p:nvSpPr>
          <p:cNvPr id="24" name="Shape 16"/>
          <p:cNvSpPr/>
          <p:nvPr/>
        </p:nvSpPr>
        <p:spPr>
          <a:xfrm>
            <a:off x="8613648" y="3492094"/>
            <a:ext cx="1555394" cy="1555394"/>
          </a:xfrm>
          <a:prstGeom prst="ellipse">
            <a:avLst/>
          </a:prstGeom>
          <a:solidFill>
            <a:srgbClr val="FFFFFF"/>
          </a:solidFill>
          <a:ln w="31750">
            <a:solidFill>
              <a:srgbClr val="CA49A4"/>
            </a:solidFill>
            <a:prstDash val="solid"/>
          </a:ln>
        </p:spPr>
      </p:sp>
      <p:pic>
        <p:nvPicPr>
          <p:cNvPr id="25" name="slide03-icon07" descr="slide03-icon07.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60206" y="3838651"/>
            <a:ext cx="863194" cy="863194"/>
          </a:xfrm>
          <a:prstGeom prst="rect">
            <a:avLst/>
          </a:prstGeom>
        </p:spPr>
      </p:pic>
      <p:sp>
        <p:nvSpPr>
          <p:cNvPr id="26" name="Text 17"/>
          <p:cNvSpPr txBox="1"/>
          <p:nvPr/>
        </p:nvSpPr>
        <p:spPr>
          <a:xfrm>
            <a:off x="8996782" y="5217566"/>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CA49A4"/>
                </a:solidFill>
                <a:latin typeface="Open Sans" pitchFamily="34" charset="0"/>
                <a:ea typeface="Open Sans" pitchFamily="34" charset="-122"/>
                <a:cs typeface="Open Sans" pitchFamily="34" charset="-120"/>
              </a:rPr>
              <a:t>Chapter 6</a:t>
            </a:r>
            <a:endParaRPr lang="en-US" sz="1200" dirty="0"/>
          </a:p>
        </p:txBody>
      </p:sp>
      <p:sp>
        <p:nvSpPr>
          <p:cNvPr id="27" name="Text 18"/>
          <p:cNvSpPr txBox="1"/>
          <p:nvPr/>
        </p:nvSpPr>
        <p:spPr>
          <a:xfrm>
            <a:off x="8609076" y="5446166"/>
            <a:ext cx="1564538" cy="427025"/>
          </a:xfrm>
          <a:prstGeom prst="rect">
            <a:avLst/>
          </a:prstGeom>
          <a:noFill/>
          <a:ln/>
        </p:spPr>
        <p:txBody>
          <a:bodyPr wrap="none" lIns="0" tIns="0" rIns="0" bIns="0" rtlCol="0" anchor="t"/>
          <a:lstStyle/>
          <a:p>
            <a:pPr algn="ctr" indent="0" marL="0">
              <a:lnSpc>
                <a:spcPts val="1680"/>
              </a:lnSpc>
              <a:buNone/>
            </a:pPr>
            <a:r>
              <a:rPr lang="en-US" sz="1337" b="1" dirty="0">
                <a:solidFill>
                  <a:srgbClr val="141B3D"/>
                </a:solidFill>
                <a:latin typeface="Open Sans" pitchFamily="34" charset="0"/>
                <a:ea typeface="Open Sans" pitchFamily="34" charset="-122"/>
                <a:cs typeface="Open Sans" pitchFamily="34" charset="-120"/>
              </a:rPr>
              <a:t>Materialization /</a:t>
            </a:r>
            <a:endParaRPr lang="en-US" sz="1337" dirty="0"/>
          </a:p>
          <a:p>
            <a:pPr algn="ctr" indent="0" marL="0">
              <a:lnSpc>
                <a:spcPts val="1680"/>
              </a:lnSpc>
              <a:buNone/>
            </a:pPr>
            <a:r>
              <a:rPr lang="en-US" sz="1337" b="1" dirty="0">
                <a:solidFill>
                  <a:srgbClr val="141B3D"/>
                </a:solidFill>
                <a:latin typeface="Open Sans" pitchFamily="34" charset="0"/>
                <a:ea typeface="Open Sans" pitchFamily="34" charset="-122"/>
                <a:cs typeface="Open Sans" pitchFamily="34" charset="-120"/>
              </a:rPr>
              <a:t>Constructability</a:t>
            </a:r>
            <a:endParaRPr lang="en-US" sz="1337" dirty="0"/>
          </a:p>
        </p:txBody>
      </p:sp>
      <p:sp>
        <p:nvSpPr>
          <p:cNvPr id="28" name="Shape 19"/>
          <p:cNvSpPr/>
          <p:nvPr/>
        </p:nvSpPr>
        <p:spPr>
          <a:xfrm>
            <a:off x="10213848" y="1460297"/>
            <a:ext cx="1555394" cy="1555394"/>
          </a:xfrm>
          <a:prstGeom prst="ellipse">
            <a:avLst/>
          </a:prstGeom>
          <a:solidFill>
            <a:srgbClr val="FFFFFF"/>
          </a:solidFill>
          <a:ln w="31750">
            <a:solidFill>
              <a:srgbClr val="DC4B8D"/>
            </a:solidFill>
            <a:prstDash val="solid"/>
          </a:ln>
        </p:spPr>
      </p:sp>
      <p:pic>
        <p:nvPicPr>
          <p:cNvPr id="29" name="slide03-icon08" descr="slide03-icon08.sv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560406" y="1806854"/>
            <a:ext cx="863194" cy="875081"/>
          </a:xfrm>
          <a:prstGeom prst="rect">
            <a:avLst/>
          </a:prstGeom>
        </p:spPr>
      </p:pic>
      <p:sp>
        <p:nvSpPr>
          <p:cNvPr id="30" name="Text 20"/>
          <p:cNvSpPr txBox="1"/>
          <p:nvPr/>
        </p:nvSpPr>
        <p:spPr>
          <a:xfrm>
            <a:off x="10596982" y="3185770"/>
            <a:ext cx="790042"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Chapter 7</a:t>
            </a:r>
            <a:endParaRPr lang="en-US" sz="1200" dirty="0"/>
          </a:p>
        </p:txBody>
      </p:sp>
      <p:sp>
        <p:nvSpPr>
          <p:cNvPr id="31" name="Text 21"/>
          <p:cNvSpPr txBox="1"/>
          <p:nvPr/>
        </p:nvSpPr>
        <p:spPr>
          <a:xfrm>
            <a:off x="10162642" y="3414370"/>
            <a:ext cx="1657807" cy="213055"/>
          </a:xfrm>
          <a:prstGeom prst="rect">
            <a:avLst/>
          </a:prstGeom>
          <a:noFill/>
          <a:ln/>
        </p:spPr>
        <p:txBody>
          <a:bodyPr wrap="none" lIns="0" tIns="0" rIns="0" bIns="0" rtlCol="0" anchor="t"/>
          <a:lstStyle/>
          <a:p>
            <a:pPr algn="ctr" indent="0" marL="0">
              <a:lnSpc>
                <a:spcPts val="1680"/>
              </a:lnSpc>
              <a:buNone/>
            </a:pPr>
            <a:r>
              <a:rPr lang="en-US" sz="1341" b="1" dirty="0">
                <a:solidFill>
                  <a:srgbClr val="141B3D"/>
                </a:solidFill>
                <a:latin typeface="Open Sans" pitchFamily="34" charset="0"/>
                <a:ea typeface="Open Sans" pitchFamily="34" charset="-122"/>
                <a:cs typeface="Open Sans" pitchFamily="34" charset="-120"/>
              </a:rPr>
              <a:t>Individual Project</a:t>
            </a:r>
            <a:endParaRPr lang="en-US" sz="134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09905" y="555955"/>
            <a:ext cx="3044952" cy="400507"/>
          </a:xfrm>
          <a:prstGeom prst="rect">
            <a:avLst/>
          </a:prstGeom>
          <a:noFill/>
          <a:ln/>
        </p:spPr>
        <p:txBody>
          <a:bodyPr wrap="none" lIns="0" tIns="0" rIns="0" bIns="0" rtlCol="0" anchor="t"/>
          <a:lstStyle/>
          <a:p>
            <a:pPr algn="l" indent="0" marL="0">
              <a:lnSpc>
                <a:spcPts val="3150"/>
              </a:lnSpc>
              <a:buNone/>
            </a:pPr>
            <a:r>
              <a:rPr lang="en-US" sz="2894" b="1" spc="-60" kern="0" dirty="0">
                <a:solidFill>
                  <a:srgbClr val="141B3D"/>
                </a:solidFill>
                <a:latin typeface="Open Sans" pitchFamily="34" charset="0"/>
                <a:ea typeface="Open Sans" pitchFamily="34" charset="-122"/>
                <a:cs typeface="Open Sans" pitchFamily="34" charset="-120"/>
              </a:rPr>
              <a:t>Course timeline</a:t>
            </a:r>
            <a:endParaRPr lang="en-US" sz="2894" dirty="0"/>
          </a:p>
        </p:txBody>
      </p:sp>
      <p:sp>
        <p:nvSpPr>
          <p:cNvPr id="3" name="Text 1"/>
          <p:cNvSpPr txBox="1"/>
          <p:nvPr/>
        </p:nvSpPr>
        <p:spPr>
          <a:xfrm>
            <a:off x="5649163" y="1071677"/>
            <a:ext cx="894283" cy="200254"/>
          </a:xfrm>
          <a:prstGeom prst="rect">
            <a:avLst/>
          </a:prstGeom>
          <a:noFill/>
          <a:ln/>
        </p:spPr>
        <p:txBody>
          <a:bodyPr wrap="none" lIns="0" tIns="0" rIns="0" bIns="0" rtlCol="0" anchor="t"/>
          <a:lstStyle/>
          <a:p>
            <a:pPr algn="ctr" indent="0" marL="0">
              <a:lnSpc>
                <a:spcPts val="1575"/>
              </a:lnSpc>
              <a:buNone/>
            </a:pPr>
            <a:r>
              <a:rPr lang="en-US" sz="1449" b="1" spc="-30" kern="0" dirty="0">
                <a:solidFill>
                  <a:srgbClr val="141B3D"/>
                </a:solidFill>
                <a:latin typeface="Open Sans" pitchFamily="34" charset="0"/>
                <a:ea typeface="Open Sans" pitchFamily="34" charset="-122"/>
                <a:cs typeface="Open Sans" pitchFamily="34" charset="-120"/>
              </a:rPr>
              <a:t>Teaching</a:t>
            </a:r>
            <a:endParaRPr lang="en-US" sz="1449" dirty="0"/>
          </a:p>
        </p:txBody>
      </p:sp>
      <p:sp>
        <p:nvSpPr>
          <p:cNvPr id="4" name="Shape 2"/>
          <p:cNvSpPr/>
          <p:nvPr/>
        </p:nvSpPr>
        <p:spPr>
          <a:xfrm>
            <a:off x="784555" y="1708099"/>
            <a:ext cx="1047902" cy="1047902"/>
          </a:xfrm>
          <a:prstGeom prst="ellipse">
            <a:avLst/>
          </a:prstGeom>
          <a:solidFill>
            <a:srgbClr val="FFFFFF"/>
          </a:solidFill>
          <a:ln w="31750">
            <a:solidFill>
              <a:srgbClr val="3057B1"/>
            </a:solidFill>
            <a:prstDash val="solid"/>
          </a:ln>
        </p:spPr>
      </p:sp>
      <p:pic>
        <p:nvPicPr>
          <p:cNvPr id="5" name="slide04-icon01" descr="slide04-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5606" y="1889150"/>
            <a:ext cx="685800" cy="685800"/>
          </a:xfrm>
          <a:prstGeom prst="rect">
            <a:avLst/>
          </a:prstGeom>
        </p:spPr>
      </p:pic>
      <p:sp>
        <p:nvSpPr>
          <p:cNvPr id="6" name="Text 3"/>
          <p:cNvSpPr txBox="1"/>
          <p:nvPr/>
        </p:nvSpPr>
        <p:spPr>
          <a:xfrm>
            <a:off x="601675" y="2831897"/>
            <a:ext cx="1412748" cy="571500"/>
          </a:xfrm>
          <a:prstGeom prst="rect">
            <a:avLst/>
          </a:prstGeom>
          <a:noFill/>
          <a:ln/>
        </p:spPr>
        <p:txBody>
          <a:bodyPr wrap="none" lIns="0" tIns="0" rIns="0" bIns="0" rtlCol="0" anchor="t"/>
          <a:lstStyle/>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History of</a:t>
            </a:r>
            <a:endParaRPr lang="en-US" sz="1156" dirty="0"/>
          </a:p>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Computational</a:t>
            </a:r>
            <a:endParaRPr lang="en-US" sz="1156" dirty="0"/>
          </a:p>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Structural Design</a:t>
            </a:r>
            <a:endParaRPr lang="en-US" sz="1156" dirty="0"/>
          </a:p>
        </p:txBody>
      </p:sp>
      <p:sp>
        <p:nvSpPr>
          <p:cNvPr id="7" name="Shape 4"/>
          <p:cNvSpPr/>
          <p:nvPr/>
        </p:nvSpPr>
        <p:spPr>
          <a:xfrm>
            <a:off x="2180844" y="1708099"/>
            <a:ext cx="1047902" cy="1047902"/>
          </a:xfrm>
          <a:prstGeom prst="ellipse">
            <a:avLst/>
          </a:prstGeom>
          <a:solidFill>
            <a:srgbClr val="FFFFFF"/>
          </a:solidFill>
          <a:ln w="31750">
            <a:solidFill>
              <a:srgbClr val="5552BB"/>
            </a:solidFill>
            <a:prstDash val="solid"/>
          </a:ln>
        </p:spPr>
      </p:sp>
      <p:pic>
        <p:nvPicPr>
          <p:cNvPr id="8" name="slide04-icon02" descr="slide04-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3666" y="1880921"/>
            <a:ext cx="703174" cy="730606"/>
          </a:xfrm>
          <a:prstGeom prst="rect">
            <a:avLst/>
          </a:prstGeom>
        </p:spPr>
      </p:pic>
      <p:sp>
        <p:nvSpPr>
          <p:cNvPr id="9" name="Text 5"/>
          <p:cNvSpPr txBox="1"/>
          <p:nvPr/>
        </p:nvSpPr>
        <p:spPr>
          <a:xfrm>
            <a:off x="1998878" y="2831897"/>
            <a:ext cx="1412748" cy="381305"/>
          </a:xfrm>
          <a:prstGeom prst="rect">
            <a:avLst/>
          </a:prstGeom>
          <a:noFill/>
          <a:ln/>
        </p:spPr>
        <p:txBody>
          <a:bodyPr wrap="none" lIns="0" tIns="0" rIns="0" bIns="0" rtlCol="0" anchor="t"/>
          <a:lstStyle/>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Computational</a:t>
            </a:r>
            <a:endParaRPr lang="en-US" sz="1156" dirty="0"/>
          </a:p>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Structural Design</a:t>
            </a:r>
            <a:endParaRPr lang="en-US" sz="1156" dirty="0"/>
          </a:p>
        </p:txBody>
      </p:sp>
      <p:sp>
        <p:nvSpPr>
          <p:cNvPr id="10" name="Shape 6"/>
          <p:cNvSpPr/>
          <p:nvPr/>
        </p:nvSpPr>
        <p:spPr>
          <a:xfrm>
            <a:off x="3578047" y="1708099"/>
            <a:ext cx="1047902" cy="1047902"/>
          </a:xfrm>
          <a:prstGeom prst="ellipse">
            <a:avLst/>
          </a:prstGeom>
          <a:solidFill>
            <a:srgbClr val="FFFFFF"/>
          </a:solidFill>
          <a:ln w="31750">
            <a:solidFill>
              <a:srgbClr val="7750C1"/>
            </a:solidFill>
            <a:prstDash val="solid"/>
          </a:ln>
        </p:spPr>
      </p:sp>
      <p:pic>
        <p:nvPicPr>
          <p:cNvPr id="11" name="slide04-icon03" descr="slide04-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59098" y="1889150"/>
            <a:ext cx="685800" cy="685800"/>
          </a:xfrm>
          <a:prstGeom prst="rect">
            <a:avLst/>
          </a:prstGeom>
        </p:spPr>
      </p:pic>
      <p:sp>
        <p:nvSpPr>
          <p:cNvPr id="12" name="Text 7"/>
          <p:cNvSpPr txBox="1"/>
          <p:nvPr/>
        </p:nvSpPr>
        <p:spPr>
          <a:xfrm>
            <a:off x="3489350" y="2831897"/>
            <a:ext cx="1225296" cy="190195"/>
          </a:xfrm>
          <a:prstGeom prst="rect">
            <a:avLst/>
          </a:prstGeom>
          <a:noFill/>
          <a:ln/>
        </p:spPr>
        <p:txBody>
          <a:bodyPr wrap="none" lIns="0" tIns="0" rIns="0" bIns="0" rtlCol="0" anchor="t"/>
          <a:lstStyle/>
          <a:p>
            <a:pPr algn="ctr" indent="0" marL="0">
              <a:lnSpc>
                <a:spcPts val="1500"/>
              </a:lnSpc>
              <a:buNone/>
            </a:pPr>
            <a:r>
              <a:rPr lang="en-US" sz="1156" b="1" dirty="0">
                <a:solidFill>
                  <a:srgbClr val="141B3D"/>
                </a:solidFill>
                <a:latin typeface="Open Sans" pitchFamily="34" charset="0"/>
                <a:ea typeface="Open Sans" pitchFamily="34" charset="-122"/>
                <a:cs typeface="Open Sans" pitchFamily="34" charset="-120"/>
              </a:rPr>
              <a:t>Graphic Statics</a:t>
            </a:r>
            <a:endParaRPr lang="en-US" sz="1156" dirty="0"/>
          </a:p>
        </p:txBody>
      </p:sp>
      <p:sp>
        <p:nvSpPr>
          <p:cNvPr id="13" name="Shape 8"/>
          <p:cNvSpPr/>
          <p:nvPr/>
        </p:nvSpPr>
        <p:spPr>
          <a:xfrm>
            <a:off x="4975250" y="1708099"/>
            <a:ext cx="1047902" cy="1047902"/>
          </a:xfrm>
          <a:prstGeom prst="ellipse">
            <a:avLst/>
          </a:prstGeom>
          <a:solidFill>
            <a:srgbClr val="FFFFFF"/>
          </a:solidFill>
          <a:ln w="31750">
            <a:solidFill>
              <a:srgbClr val="934ABD"/>
            </a:solidFill>
            <a:prstDash val="solid"/>
          </a:ln>
        </p:spPr>
      </p:sp>
      <p:pic>
        <p:nvPicPr>
          <p:cNvPr id="14" name="slide04-icon04" descr="slide04-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56302" y="1889150"/>
            <a:ext cx="685800" cy="685800"/>
          </a:xfrm>
          <a:prstGeom prst="rect">
            <a:avLst/>
          </a:prstGeom>
        </p:spPr>
      </p:pic>
      <p:sp>
        <p:nvSpPr>
          <p:cNvPr id="15" name="Text 9"/>
          <p:cNvSpPr txBox="1"/>
          <p:nvPr/>
        </p:nvSpPr>
        <p:spPr>
          <a:xfrm>
            <a:off x="4959706" y="2831897"/>
            <a:ext cx="1078992" cy="190195"/>
          </a:xfrm>
          <a:prstGeom prst="rect">
            <a:avLst/>
          </a:prstGeom>
          <a:noFill/>
          <a:ln/>
        </p:spPr>
        <p:txBody>
          <a:bodyPr wrap="none" lIns="0" tIns="0" rIns="0" bIns="0" rtlCol="0" anchor="t"/>
          <a:lstStyle/>
          <a:p>
            <a:pPr algn="ctr" indent="0" marL="0">
              <a:lnSpc>
                <a:spcPts val="1500"/>
              </a:lnSpc>
              <a:buNone/>
            </a:pPr>
            <a:r>
              <a:rPr lang="en-US" sz="1162" b="1" dirty="0">
                <a:solidFill>
                  <a:srgbClr val="141B3D"/>
                </a:solidFill>
                <a:latin typeface="Open Sans" pitchFamily="34" charset="0"/>
                <a:ea typeface="Open Sans" pitchFamily="34" charset="-122"/>
                <a:cs typeface="Open Sans" pitchFamily="34" charset="-120"/>
              </a:rPr>
              <a:t>Form Finding</a:t>
            </a:r>
            <a:endParaRPr lang="en-US" sz="1162" dirty="0"/>
          </a:p>
        </p:txBody>
      </p:sp>
      <p:sp>
        <p:nvSpPr>
          <p:cNvPr id="16" name="Shape 10"/>
          <p:cNvSpPr/>
          <p:nvPr/>
        </p:nvSpPr>
        <p:spPr>
          <a:xfrm>
            <a:off x="6372454" y="1708099"/>
            <a:ext cx="1047902" cy="1047902"/>
          </a:xfrm>
          <a:prstGeom prst="ellipse">
            <a:avLst/>
          </a:prstGeom>
          <a:solidFill>
            <a:srgbClr val="FFFFFF"/>
          </a:solidFill>
          <a:ln w="31750">
            <a:solidFill>
              <a:srgbClr val="AE4BB2"/>
            </a:solidFill>
            <a:prstDash val="solid"/>
          </a:ln>
        </p:spPr>
      </p:sp>
      <p:pic>
        <p:nvPicPr>
          <p:cNvPr id="17" name="slide04-icon05" descr="slide04-icon0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7046" y="1889150"/>
            <a:ext cx="708660" cy="685800"/>
          </a:xfrm>
          <a:prstGeom prst="rect">
            <a:avLst/>
          </a:prstGeom>
        </p:spPr>
      </p:pic>
      <p:sp>
        <p:nvSpPr>
          <p:cNvPr id="18" name="Text 11"/>
          <p:cNvSpPr txBox="1"/>
          <p:nvPr/>
        </p:nvSpPr>
        <p:spPr>
          <a:xfrm>
            <a:off x="6251753" y="2831897"/>
            <a:ext cx="1288390" cy="381305"/>
          </a:xfrm>
          <a:prstGeom prst="rect">
            <a:avLst/>
          </a:prstGeom>
          <a:noFill/>
          <a:ln/>
        </p:spPr>
        <p:txBody>
          <a:bodyPr wrap="none" lIns="0" tIns="0" rIns="0" bIns="0" rtlCol="0" anchor="t"/>
          <a:lstStyle/>
          <a:p>
            <a:pPr algn="ctr" indent="0" marL="0">
              <a:lnSpc>
                <a:spcPts val="1500"/>
              </a:lnSpc>
              <a:buNone/>
            </a:pPr>
            <a:r>
              <a:rPr lang="en-US" sz="1150" b="1" dirty="0">
                <a:solidFill>
                  <a:srgbClr val="141B3D"/>
                </a:solidFill>
                <a:latin typeface="Open Sans" pitchFamily="34" charset="0"/>
                <a:ea typeface="Open Sans" pitchFamily="34" charset="-122"/>
                <a:cs typeface="Open Sans" pitchFamily="34" charset="-120"/>
              </a:rPr>
              <a:t>Thrust Network</a:t>
            </a:r>
            <a:endParaRPr lang="en-US" sz="1150" dirty="0"/>
          </a:p>
          <a:p>
            <a:pPr algn="ctr" indent="0" marL="0">
              <a:lnSpc>
                <a:spcPts val="1500"/>
              </a:lnSpc>
              <a:buNone/>
            </a:pPr>
            <a:r>
              <a:rPr lang="en-US" sz="1150" b="1" dirty="0">
                <a:solidFill>
                  <a:srgbClr val="141B3D"/>
                </a:solidFill>
                <a:latin typeface="Open Sans" pitchFamily="34" charset="0"/>
                <a:ea typeface="Open Sans" pitchFamily="34" charset="-122"/>
                <a:cs typeface="Open Sans" pitchFamily="34" charset="-120"/>
              </a:rPr>
              <a:t>Analysis</a:t>
            </a:r>
            <a:endParaRPr lang="en-US" sz="1150" dirty="0"/>
          </a:p>
        </p:txBody>
      </p:sp>
      <p:sp>
        <p:nvSpPr>
          <p:cNvPr id="19" name="Shape 12"/>
          <p:cNvSpPr/>
          <p:nvPr/>
        </p:nvSpPr>
        <p:spPr>
          <a:xfrm>
            <a:off x="7769657" y="1708099"/>
            <a:ext cx="1047902" cy="1047902"/>
          </a:xfrm>
          <a:prstGeom prst="ellipse">
            <a:avLst/>
          </a:prstGeom>
          <a:solidFill>
            <a:srgbClr val="FFFFFF"/>
          </a:solidFill>
          <a:ln w="31750">
            <a:solidFill>
              <a:srgbClr val="CA49A4"/>
            </a:solidFill>
            <a:prstDash val="solid"/>
          </a:ln>
        </p:spPr>
      </p:sp>
      <p:pic>
        <p:nvPicPr>
          <p:cNvPr id="20" name="slide04-icon06" descr="slide04-icon06.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49794" y="1889150"/>
            <a:ext cx="685800" cy="685800"/>
          </a:xfrm>
          <a:prstGeom prst="rect">
            <a:avLst/>
          </a:prstGeom>
        </p:spPr>
      </p:pic>
      <p:sp>
        <p:nvSpPr>
          <p:cNvPr id="21" name="Text 13"/>
          <p:cNvSpPr txBox="1"/>
          <p:nvPr/>
        </p:nvSpPr>
        <p:spPr>
          <a:xfrm>
            <a:off x="7619695" y="2831897"/>
            <a:ext cx="1346911" cy="381305"/>
          </a:xfrm>
          <a:prstGeom prst="rect">
            <a:avLst/>
          </a:prstGeom>
          <a:noFill/>
          <a:ln/>
        </p:spPr>
        <p:txBody>
          <a:bodyPr wrap="none" lIns="0" tIns="0" rIns="0" bIns="0" rtlCol="0" anchor="t"/>
          <a:lstStyle/>
          <a:p>
            <a:pPr algn="ctr" indent="0" marL="0">
              <a:lnSpc>
                <a:spcPts val="1500"/>
              </a:lnSpc>
              <a:buNone/>
            </a:pPr>
            <a:r>
              <a:rPr lang="en-US" sz="1146" b="1" dirty="0">
                <a:solidFill>
                  <a:srgbClr val="141B3D"/>
                </a:solidFill>
                <a:latin typeface="Open Sans" pitchFamily="34" charset="0"/>
                <a:ea typeface="Open Sans" pitchFamily="34" charset="-122"/>
                <a:cs typeface="Open Sans" pitchFamily="34" charset="-120"/>
              </a:rPr>
              <a:t>Materialization /</a:t>
            </a:r>
            <a:endParaRPr lang="en-US" sz="1146" dirty="0"/>
          </a:p>
          <a:p>
            <a:pPr algn="ctr" indent="0" marL="0">
              <a:lnSpc>
                <a:spcPts val="1500"/>
              </a:lnSpc>
              <a:buNone/>
            </a:pPr>
            <a:r>
              <a:rPr lang="en-US" sz="1146" b="1" dirty="0">
                <a:solidFill>
                  <a:srgbClr val="141B3D"/>
                </a:solidFill>
                <a:latin typeface="Open Sans" pitchFamily="34" charset="0"/>
                <a:ea typeface="Open Sans" pitchFamily="34" charset="-122"/>
                <a:cs typeface="Open Sans" pitchFamily="34" charset="-120"/>
              </a:rPr>
              <a:t>Constructability</a:t>
            </a:r>
            <a:endParaRPr lang="en-US" sz="1146" dirty="0"/>
          </a:p>
        </p:txBody>
      </p:sp>
      <p:sp>
        <p:nvSpPr>
          <p:cNvPr id="22" name="Text 14"/>
          <p:cNvSpPr txBox="1"/>
          <p:nvPr/>
        </p:nvSpPr>
        <p:spPr>
          <a:xfrm>
            <a:off x="881482" y="3445459"/>
            <a:ext cx="853135"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1–2</a:t>
            </a:r>
            <a:endParaRPr lang="en-US" sz="1200" dirty="0"/>
          </a:p>
        </p:txBody>
      </p:sp>
      <p:sp>
        <p:nvSpPr>
          <p:cNvPr id="23" name="Text 15"/>
          <p:cNvSpPr txBox="1"/>
          <p:nvPr/>
        </p:nvSpPr>
        <p:spPr>
          <a:xfrm>
            <a:off x="2278685" y="3445459"/>
            <a:ext cx="853135"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3–4</a:t>
            </a:r>
            <a:endParaRPr lang="en-US" sz="1200" dirty="0"/>
          </a:p>
        </p:txBody>
      </p:sp>
      <p:sp>
        <p:nvSpPr>
          <p:cNvPr id="24" name="Text 16"/>
          <p:cNvSpPr txBox="1"/>
          <p:nvPr/>
        </p:nvSpPr>
        <p:spPr>
          <a:xfrm>
            <a:off x="3675888" y="3445459"/>
            <a:ext cx="853135"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5–6</a:t>
            </a:r>
            <a:endParaRPr lang="en-US" sz="1200" dirty="0"/>
          </a:p>
        </p:txBody>
      </p:sp>
      <p:sp>
        <p:nvSpPr>
          <p:cNvPr id="25" name="Text 17"/>
          <p:cNvSpPr txBox="1"/>
          <p:nvPr/>
        </p:nvSpPr>
        <p:spPr>
          <a:xfrm>
            <a:off x="5072177" y="3445459"/>
            <a:ext cx="853135"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7–8</a:t>
            </a:r>
            <a:endParaRPr lang="en-US" sz="1200" dirty="0"/>
          </a:p>
        </p:txBody>
      </p:sp>
      <p:sp>
        <p:nvSpPr>
          <p:cNvPr id="26" name="Text 18"/>
          <p:cNvSpPr txBox="1"/>
          <p:nvPr/>
        </p:nvSpPr>
        <p:spPr>
          <a:xfrm>
            <a:off x="6422746" y="3445459"/>
            <a:ext cx="947318"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9–10</a:t>
            </a:r>
            <a:endParaRPr lang="en-US" sz="1200" dirty="0"/>
          </a:p>
        </p:txBody>
      </p:sp>
      <p:sp>
        <p:nvSpPr>
          <p:cNvPr id="27" name="Text 19"/>
          <p:cNvSpPr txBox="1"/>
          <p:nvPr/>
        </p:nvSpPr>
        <p:spPr>
          <a:xfrm>
            <a:off x="7772400" y="3445459"/>
            <a:ext cx="1041502"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11–12</a:t>
            </a:r>
            <a:endParaRPr lang="en-US" sz="1200" dirty="0"/>
          </a:p>
        </p:txBody>
      </p:sp>
      <p:sp>
        <p:nvSpPr>
          <p:cNvPr id="28" name="Text 20"/>
          <p:cNvSpPr txBox="1"/>
          <p:nvPr/>
        </p:nvSpPr>
        <p:spPr>
          <a:xfrm>
            <a:off x="9169603" y="3445459"/>
            <a:ext cx="1041502"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13–14</a:t>
            </a:r>
            <a:endParaRPr lang="en-US" sz="1200" dirty="0"/>
          </a:p>
        </p:txBody>
      </p:sp>
      <p:sp>
        <p:nvSpPr>
          <p:cNvPr id="29" name="Text 21"/>
          <p:cNvSpPr txBox="1"/>
          <p:nvPr/>
        </p:nvSpPr>
        <p:spPr>
          <a:xfrm>
            <a:off x="10565892" y="3445459"/>
            <a:ext cx="1041502" cy="207569"/>
          </a:xfrm>
          <a:prstGeom prst="rect">
            <a:avLst/>
          </a:prstGeom>
          <a:noFill/>
          <a:ln/>
        </p:spPr>
        <p:txBody>
          <a:bodyPr wrap="none" lIns="0" tIns="0" rIns="0" bIns="0" rtlCol="0" anchor="t"/>
          <a:lstStyle/>
          <a:p>
            <a:pPr algn="ctr"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Weeks 15–16</a:t>
            </a:r>
            <a:endParaRPr lang="en-US" sz="1200" dirty="0"/>
          </a:p>
        </p:txBody>
      </p:sp>
      <p:sp>
        <p:nvSpPr>
          <p:cNvPr id="30" name="Shape 22"/>
          <p:cNvSpPr/>
          <p:nvPr/>
        </p:nvSpPr>
        <p:spPr>
          <a:xfrm>
            <a:off x="634594" y="3711550"/>
            <a:ext cx="1345997" cy="114300"/>
          </a:xfrm>
          <a:prstGeom prst="rect">
            <a:avLst/>
          </a:prstGeom>
          <a:solidFill>
            <a:srgbClr val="3057B1"/>
          </a:solidFill>
          <a:ln/>
        </p:spPr>
      </p:sp>
      <p:sp>
        <p:nvSpPr>
          <p:cNvPr id="31" name="Shape 23"/>
          <p:cNvSpPr/>
          <p:nvPr/>
        </p:nvSpPr>
        <p:spPr>
          <a:xfrm>
            <a:off x="2031797" y="3711550"/>
            <a:ext cx="1345997" cy="114300"/>
          </a:xfrm>
          <a:prstGeom prst="rect">
            <a:avLst/>
          </a:prstGeom>
          <a:solidFill>
            <a:srgbClr val="5552BB"/>
          </a:solidFill>
          <a:ln/>
        </p:spPr>
      </p:sp>
      <p:sp>
        <p:nvSpPr>
          <p:cNvPr id="32" name="Shape 24"/>
          <p:cNvSpPr/>
          <p:nvPr/>
        </p:nvSpPr>
        <p:spPr>
          <a:xfrm>
            <a:off x="3429000" y="3711550"/>
            <a:ext cx="1345997" cy="114300"/>
          </a:xfrm>
          <a:prstGeom prst="rect">
            <a:avLst/>
          </a:prstGeom>
          <a:solidFill>
            <a:srgbClr val="7750C1"/>
          </a:solidFill>
          <a:ln/>
        </p:spPr>
      </p:sp>
      <p:sp>
        <p:nvSpPr>
          <p:cNvPr id="33" name="Shape 25"/>
          <p:cNvSpPr/>
          <p:nvPr/>
        </p:nvSpPr>
        <p:spPr>
          <a:xfrm>
            <a:off x="4826203" y="3711550"/>
            <a:ext cx="1345997" cy="114300"/>
          </a:xfrm>
          <a:prstGeom prst="rect">
            <a:avLst/>
          </a:prstGeom>
          <a:solidFill>
            <a:srgbClr val="934ABD"/>
          </a:solidFill>
          <a:ln/>
        </p:spPr>
      </p:sp>
      <p:sp>
        <p:nvSpPr>
          <p:cNvPr id="34" name="Shape 26"/>
          <p:cNvSpPr/>
          <p:nvPr/>
        </p:nvSpPr>
        <p:spPr>
          <a:xfrm>
            <a:off x="6223406" y="3711550"/>
            <a:ext cx="1345997" cy="114300"/>
          </a:xfrm>
          <a:prstGeom prst="rect">
            <a:avLst/>
          </a:prstGeom>
          <a:solidFill>
            <a:srgbClr val="AE4BB2"/>
          </a:solidFill>
          <a:ln/>
        </p:spPr>
      </p:sp>
      <p:sp>
        <p:nvSpPr>
          <p:cNvPr id="35" name="Shape 27"/>
          <p:cNvSpPr/>
          <p:nvPr/>
        </p:nvSpPr>
        <p:spPr>
          <a:xfrm>
            <a:off x="7619695" y="3711550"/>
            <a:ext cx="1345997" cy="114300"/>
          </a:xfrm>
          <a:prstGeom prst="rect">
            <a:avLst/>
          </a:prstGeom>
          <a:solidFill>
            <a:srgbClr val="CA49A4"/>
          </a:solidFill>
          <a:ln/>
        </p:spPr>
      </p:sp>
      <p:sp>
        <p:nvSpPr>
          <p:cNvPr id="36" name="Shape 28"/>
          <p:cNvSpPr/>
          <p:nvPr/>
        </p:nvSpPr>
        <p:spPr>
          <a:xfrm>
            <a:off x="634594" y="3901745"/>
            <a:ext cx="1345997" cy="114300"/>
          </a:xfrm>
          <a:prstGeom prst="rect">
            <a:avLst/>
          </a:prstGeom>
          <a:solidFill>
            <a:srgbClr val="DC4B8D"/>
          </a:solidFill>
          <a:ln/>
        </p:spPr>
      </p:sp>
      <p:sp>
        <p:nvSpPr>
          <p:cNvPr id="37" name="Shape 29"/>
          <p:cNvSpPr/>
          <p:nvPr/>
        </p:nvSpPr>
        <p:spPr>
          <a:xfrm>
            <a:off x="2031797" y="3901745"/>
            <a:ext cx="1345997" cy="114300"/>
          </a:xfrm>
          <a:prstGeom prst="rect">
            <a:avLst/>
          </a:prstGeom>
          <a:solidFill>
            <a:srgbClr val="DC4B8D"/>
          </a:solidFill>
          <a:ln/>
        </p:spPr>
      </p:sp>
      <p:sp>
        <p:nvSpPr>
          <p:cNvPr id="38" name="Shape 30"/>
          <p:cNvSpPr/>
          <p:nvPr/>
        </p:nvSpPr>
        <p:spPr>
          <a:xfrm>
            <a:off x="3429000" y="3901745"/>
            <a:ext cx="1345997" cy="114300"/>
          </a:xfrm>
          <a:prstGeom prst="rect">
            <a:avLst/>
          </a:prstGeom>
          <a:solidFill>
            <a:srgbClr val="DC4B8D"/>
          </a:solidFill>
          <a:ln/>
        </p:spPr>
      </p:sp>
      <p:sp>
        <p:nvSpPr>
          <p:cNvPr id="39" name="Shape 31"/>
          <p:cNvSpPr/>
          <p:nvPr/>
        </p:nvSpPr>
        <p:spPr>
          <a:xfrm>
            <a:off x="4826203" y="3901745"/>
            <a:ext cx="1345997" cy="114300"/>
          </a:xfrm>
          <a:prstGeom prst="rect">
            <a:avLst/>
          </a:prstGeom>
          <a:solidFill>
            <a:srgbClr val="DC4B8D"/>
          </a:solidFill>
          <a:ln/>
        </p:spPr>
      </p:sp>
      <p:sp>
        <p:nvSpPr>
          <p:cNvPr id="40" name="Shape 32"/>
          <p:cNvSpPr/>
          <p:nvPr/>
        </p:nvSpPr>
        <p:spPr>
          <a:xfrm>
            <a:off x="6223406" y="3901745"/>
            <a:ext cx="1345997" cy="114300"/>
          </a:xfrm>
          <a:prstGeom prst="rect">
            <a:avLst/>
          </a:prstGeom>
          <a:solidFill>
            <a:srgbClr val="DC4B8D"/>
          </a:solidFill>
          <a:ln/>
        </p:spPr>
      </p:sp>
      <p:sp>
        <p:nvSpPr>
          <p:cNvPr id="41" name="Shape 33"/>
          <p:cNvSpPr/>
          <p:nvPr/>
        </p:nvSpPr>
        <p:spPr>
          <a:xfrm>
            <a:off x="7619695" y="3901745"/>
            <a:ext cx="1345997" cy="114300"/>
          </a:xfrm>
          <a:prstGeom prst="rect">
            <a:avLst/>
          </a:prstGeom>
          <a:solidFill>
            <a:srgbClr val="DC4B8D"/>
          </a:solidFill>
          <a:ln/>
        </p:spPr>
      </p:sp>
      <p:sp>
        <p:nvSpPr>
          <p:cNvPr id="42" name="Shape 34"/>
          <p:cNvSpPr/>
          <p:nvPr/>
        </p:nvSpPr>
        <p:spPr>
          <a:xfrm>
            <a:off x="9016898" y="3901745"/>
            <a:ext cx="1345997" cy="114300"/>
          </a:xfrm>
          <a:prstGeom prst="rect">
            <a:avLst/>
          </a:prstGeom>
          <a:solidFill>
            <a:srgbClr val="DC4B8D"/>
          </a:solidFill>
          <a:ln/>
        </p:spPr>
      </p:sp>
      <p:sp>
        <p:nvSpPr>
          <p:cNvPr id="43" name="Shape 35"/>
          <p:cNvSpPr/>
          <p:nvPr/>
        </p:nvSpPr>
        <p:spPr>
          <a:xfrm>
            <a:off x="10414102" y="3901745"/>
            <a:ext cx="1345997" cy="114300"/>
          </a:xfrm>
          <a:prstGeom prst="rect">
            <a:avLst/>
          </a:prstGeom>
          <a:solidFill>
            <a:srgbClr val="DC4B8D"/>
          </a:solidFill>
          <a:ln/>
        </p:spPr>
      </p:sp>
      <p:sp>
        <p:nvSpPr>
          <p:cNvPr id="44" name="Shape 36"/>
          <p:cNvSpPr/>
          <p:nvPr/>
        </p:nvSpPr>
        <p:spPr>
          <a:xfrm>
            <a:off x="784555" y="4235501"/>
            <a:ext cx="1047902" cy="1047902"/>
          </a:xfrm>
          <a:prstGeom prst="ellipse">
            <a:avLst/>
          </a:prstGeom>
          <a:solidFill>
            <a:srgbClr val="FFFFFF"/>
          </a:solidFill>
          <a:ln w="31750">
            <a:solidFill>
              <a:srgbClr val="DC4B8D"/>
            </a:solidFill>
            <a:prstDash val="solid"/>
          </a:ln>
        </p:spPr>
      </p:sp>
      <p:pic>
        <p:nvPicPr>
          <p:cNvPr id="45" name="slide04-icon07" descr="slide04-icon07.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4400" y="4479646"/>
            <a:ext cx="787298" cy="558698"/>
          </a:xfrm>
          <a:prstGeom prst="rect">
            <a:avLst/>
          </a:prstGeom>
        </p:spPr>
      </p:pic>
      <p:sp>
        <p:nvSpPr>
          <p:cNvPr id="46" name="Text 37"/>
          <p:cNvSpPr txBox="1"/>
          <p:nvPr/>
        </p:nvSpPr>
        <p:spPr>
          <a:xfrm>
            <a:off x="925373" y="5331866"/>
            <a:ext cx="766267" cy="365760"/>
          </a:xfrm>
          <a:prstGeom prst="rect">
            <a:avLst/>
          </a:prstGeom>
          <a:noFill/>
          <a:ln/>
        </p:spPr>
        <p:txBody>
          <a:bodyPr wrap="none" lIns="0" tIns="0" rIns="0" bIns="0" rtlCol="0" anchor="t"/>
          <a:lstStyle/>
          <a:p>
            <a:pPr algn="ctr" indent="0" marL="0">
              <a:lnSpc>
                <a:spcPts val="1440"/>
              </a:lnSpc>
              <a:buNone/>
            </a:pPr>
            <a:r>
              <a:rPr lang="en-US" sz="1161" b="1" dirty="0">
                <a:solidFill>
                  <a:srgbClr val="141B3D"/>
                </a:solidFill>
                <a:latin typeface="Open Sans" pitchFamily="34" charset="0"/>
                <a:ea typeface="Open Sans" pitchFamily="34" charset="-122"/>
                <a:cs typeface="Open Sans" pitchFamily="34" charset="-120"/>
              </a:rPr>
              <a:t>Research</a:t>
            </a:r>
            <a:endParaRPr lang="en-US" sz="1161" dirty="0"/>
          </a:p>
          <a:p>
            <a:pPr algn="ctr" indent="0" marL="0">
              <a:lnSpc>
                <a:spcPts val="1440"/>
              </a:lnSpc>
              <a:buNone/>
            </a:pPr>
            <a:r>
              <a:rPr lang="en-US" sz="1161" b="1" dirty="0">
                <a:solidFill>
                  <a:srgbClr val="141B3D"/>
                </a:solidFill>
                <a:latin typeface="Open Sans" pitchFamily="34" charset="0"/>
                <a:ea typeface="Open Sans" pitchFamily="34" charset="-122"/>
                <a:cs typeface="Open Sans" pitchFamily="34" charset="-120"/>
              </a:rPr>
              <a:t>question</a:t>
            </a:r>
            <a:endParaRPr lang="en-US" sz="1161" dirty="0"/>
          </a:p>
        </p:txBody>
      </p:sp>
      <p:sp>
        <p:nvSpPr>
          <p:cNvPr id="47" name="Shape 38"/>
          <p:cNvSpPr/>
          <p:nvPr/>
        </p:nvSpPr>
        <p:spPr>
          <a:xfrm>
            <a:off x="2180844" y="4235501"/>
            <a:ext cx="1047902" cy="1047902"/>
          </a:xfrm>
          <a:prstGeom prst="ellipse">
            <a:avLst/>
          </a:prstGeom>
          <a:solidFill>
            <a:srgbClr val="FFFFFF"/>
          </a:solidFill>
          <a:ln w="31750">
            <a:solidFill>
              <a:srgbClr val="DC4B8D"/>
            </a:solidFill>
            <a:prstDash val="solid"/>
          </a:ln>
        </p:spPr>
      </p:sp>
      <p:pic>
        <p:nvPicPr>
          <p:cNvPr id="48" name="slide04-icon08" descr="slide04-icon08.sv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11603" y="4479646"/>
            <a:ext cx="787298" cy="558698"/>
          </a:xfrm>
          <a:prstGeom prst="rect">
            <a:avLst/>
          </a:prstGeom>
        </p:spPr>
      </p:pic>
      <p:sp>
        <p:nvSpPr>
          <p:cNvPr id="49" name="Text 39"/>
          <p:cNvSpPr txBox="1"/>
          <p:nvPr/>
        </p:nvSpPr>
        <p:spPr>
          <a:xfrm>
            <a:off x="2290572" y="5331866"/>
            <a:ext cx="828446" cy="365760"/>
          </a:xfrm>
          <a:prstGeom prst="rect">
            <a:avLst/>
          </a:prstGeom>
          <a:noFill/>
          <a:ln/>
        </p:spPr>
        <p:txBody>
          <a:bodyPr wrap="none" lIns="0" tIns="0" rIns="0" bIns="0" rtlCol="0" anchor="t"/>
          <a:lstStyle/>
          <a:p>
            <a:pPr algn="ctr" indent="0" marL="0">
              <a:lnSpc>
                <a:spcPts val="1440"/>
              </a:lnSpc>
              <a:buNone/>
            </a:pPr>
            <a:r>
              <a:rPr lang="en-US" sz="1154" b="1" dirty="0">
                <a:solidFill>
                  <a:srgbClr val="141B3D"/>
                </a:solidFill>
                <a:latin typeface="Open Sans" pitchFamily="34" charset="0"/>
                <a:ea typeface="Open Sans" pitchFamily="34" charset="-122"/>
                <a:cs typeface="Open Sans" pitchFamily="34" charset="-120"/>
              </a:rPr>
              <a:t>Physical</a:t>
            </a:r>
            <a:endParaRPr lang="en-US" sz="1154" dirty="0"/>
          </a:p>
          <a:p>
            <a:pPr algn="ctr" indent="0" marL="0">
              <a:lnSpc>
                <a:spcPts val="1440"/>
              </a:lnSpc>
              <a:buNone/>
            </a:pPr>
            <a:r>
              <a:rPr lang="en-US" sz="1154" b="1" dirty="0">
                <a:solidFill>
                  <a:srgbClr val="141B3D"/>
                </a:solidFill>
                <a:latin typeface="Open Sans" pitchFamily="34" charset="0"/>
                <a:ea typeface="Open Sans" pitchFamily="34" charset="-122"/>
                <a:cs typeface="Open Sans" pitchFamily="34" charset="-120"/>
              </a:rPr>
              <a:t>prototype</a:t>
            </a:r>
            <a:endParaRPr lang="en-US" sz="1154" dirty="0"/>
          </a:p>
        </p:txBody>
      </p:sp>
      <p:sp>
        <p:nvSpPr>
          <p:cNvPr id="50" name="Shape 40"/>
          <p:cNvSpPr/>
          <p:nvPr/>
        </p:nvSpPr>
        <p:spPr>
          <a:xfrm>
            <a:off x="4975250" y="4235501"/>
            <a:ext cx="1047902" cy="1047902"/>
          </a:xfrm>
          <a:prstGeom prst="ellipse">
            <a:avLst/>
          </a:prstGeom>
          <a:solidFill>
            <a:srgbClr val="FFFFFF"/>
          </a:solidFill>
          <a:ln w="31750">
            <a:solidFill>
              <a:srgbClr val="DC4B8D"/>
            </a:solidFill>
            <a:prstDash val="solid"/>
          </a:ln>
        </p:spPr>
      </p:sp>
      <p:pic>
        <p:nvPicPr>
          <p:cNvPr id="51" name="slide04-icon09" descr="slide04-icon09.sv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105095" y="4479646"/>
            <a:ext cx="787298" cy="558698"/>
          </a:xfrm>
          <a:prstGeom prst="rect">
            <a:avLst/>
          </a:prstGeom>
        </p:spPr>
      </p:pic>
      <p:sp>
        <p:nvSpPr>
          <p:cNvPr id="52" name="Text 41"/>
          <p:cNvSpPr txBox="1"/>
          <p:nvPr/>
        </p:nvSpPr>
        <p:spPr>
          <a:xfrm>
            <a:off x="5136185" y="5331866"/>
            <a:ext cx="726034" cy="365760"/>
          </a:xfrm>
          <a:prstGeom prst="rect">
            <a:avLst/>
          </a:prstGeom>
          <a:noFill/>
          <a:ln/>
        </p:spPr>
        <p:txBody>
          <a:bodyPr wrap="none" lIns="0" tIns="0" rIns="0" bIns="0" rtlCol="0" anchor="t"/>
          <a:lstStyle/>
          <a:p>
            <a:pPr algn="ctr" indent="0" marL="0">
              <a:lnSpc>
                <a:spcPts val="1440"/>
              </a:lnSpc>
              <a:buNone/>
            </a:pPr>
            <a:r>
              <a:rPr lang="en-US" sz="1153" b="1" dirty="0">
                <a:solidFill>
                  <a:srgbClr val="141B3D"/>
                </a:solidFill>
                <a:latin typeface="Open Sans" pitchFamily="34" charset="0"/>
                <a:ea typeface="Open Sans" pitchFamily="34" charset="-122"/>
                <a:cs typeface="Open Sans" pitchFamily="34" charset="-120"/>
              </a:rPr>
              <a:t>Midterm</a:t>
            </a:r>
            <a:endParaRPr lang="en-US" sz="1153" dirty="0"/>
          </a:p>
          <a:p>
            <a:pPr algn="ctr" indent="0" marL="0">
              <a:lnSpc>
                <a:spcPts val="1440"/>
              </a:lnSpc>
              <a:buNone/>
            </a:pPr>
            <a:r>
              <a:rPr lang="en-US" sz="1153" b="1" dirty="0">
                <a:solidFill>
                  <a:srgbClr val="141B3D"/>
                </a:solidFill>
                <a:latin typeface="Open Sans" pitchFamily="34" charset="0"/>
                <a:ea typeface="Open Sans" pitchFamily="34" charset="-122"/>
                <a:cs typeface="Open Sans" pitchFamily="34" charset="-120"/>
              </a:rPr>
              <a:t>review</a:t>
            </a:r>
            <a:endParaRPr lang="en-US" sz="1153" dirty="0"/>
          </a:p>
        </p:txBody>
      </p:sp>
      <p:sp>
        <p:nvSpPr>
          <p:cNvPr id="53" name="Shape 42"/>
          <p:cNvSpPr/>
          <p:nvPr/>
        </p:nvSpPr>
        <p:spPr>
          <a:xfrm>
            <a:off x="6372454" y="4235501"/>
            <a:ext cx="1047902" cy="1047902"/>
          </a:xfrm>
          <a:prstGeom prst="ellipse">
            <a:avLst/>
          </a:prstGeom>
          <a:solidFill>
            <a:srgbClr val="FFFFFF"/>
          </a:solidFill>
          <a:ln w="31750">
            <a:solidFill>
              <a:srgbClr val="DC4B8D"/>
            </a:solidFill>
            <a:prstDash val="solid"/>
          </a:ln>
        </p:spPr>
      </p:sp>
      <p:sp>
        <p:nvSpPr>
          <p:cNvPr id="54" name="Shape 43"/>
          <p:cNvSpPr/>
          <p:nvPr/>
        </p:nvSpPr>
        <p:spPr>
          <a:xfrm>
            <a:off x="6537046" y="4623206"/>
            <a:ext cx="273406" cy="273406"/>
          </a:xfrm>
          <a:prstGeom prst="ellipse">
            <a:avLst/>
          </a:prstGeom>
          <a:solidFill>
            <a:srgbClr val="FFFFFF"/>
          </a:solidFill>
          <a:ln w="19050">
            <a:solidFill>
              <a:srgbClr val="DC4B8D"/>
            </a:solidFill>
            <a:prstDash val="solid"/>
          </a:ln>
        </p:spPr>
      </p:sp>
      <p:pic>
        <p:nvPicPr>
          <p:cNvPr id="55" name="slide04-icon10" descr="slide04-icon10.sv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85509" y="4671670"/>
            <a:ext cx="175565" cy="181966"/>
          </a:xfrm>
          <a:prstGeom prst="rect">
            <a:avLst/>
          </a:prstGeom>
        </p:spPr>
      </p:pic>
      <p:sp>
        <p:nvSpPr>
          <p:cNvPr id="56" name="Shape 44"/>
          <p:cNvSpPr/>
          <p:nvPr/>
        </p:nvSpPr>
        <p:spPr>
          <a:xfrm>
            <a:off x="6819595" y="4746650"/>
            <a:ext cx="152705" cy="25603"/>
          </a:xfrm>
          <a:prstGeom prst="rect">
            <a:avLst/>
          </a:prstGeom>
          <a:solidFill>
            <a:srgbClr val="DC4B8D"/>
          </a:solidFill>
          <a:ln/>
        </p:spPr>
      </p:sp>
      <p:sp>
        <p:nvSpPr>
          <p:cNvPr id="57" name="Shape 45"/>
          <p:cNvSpPr/>
          <p:nvPr/>
        </p:nvSpPr>
        <p:spPr>
          <a:xfrm>
            <a:off x="6981444" y="4623206"/>
            <a:ext cx="273406" cy="273406"/>
          </a:xfrm>
          <a:prstGeom prst="ellipse">
            <a:avLst/>
          </a:prstGeom>
          <a:solidFill>
            <a:srgbClr val="FFFFFF"/>
          </a:solidFill>
          <a:ln w="19050">
            <a:solidFill>
              <a:srgbClr val="DC4B8D"/>
            </a:solidFill>
            <a:prstDash val="solid"/>
          </a:ln>
        </p:spPr>
      </p:sp>
      <p:pic>
        <p:nvPicPr>
          <p:cNvPr id="58" name="slide04-icon11" descr="slide04-icon11.sv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028993" y="4683557"/>
            <a:ext cx="177394" cy="152705"/>
          </a:xfrm>
          <a:prstGeom prst="rect">
            <a:avLst/>
          </a:prstGeom>
        </p:spPr>
      </p:pic>
      <p:sp>
        <p:nvSpPr>
          <p:cNvPr id="59" name="Text 46"/>
          <p:cNvSpPr txBox="1"/>
          <p:nvPr/>
        </p:nvSpPr>
        <p:spPr>
          <a:xfrm>
            <a:off x="6491326" y="5331866"/>
            <a:ext cx="810158" cy="182880"/>
          </a:xfrm>
          <a:prstGeom prst="rect">
            <a:avLst/>
          </a:prstGeom>
          <a:noFill/>
          <a:ln/>
        </p:spPr>
        <p:txBody>
          <a:bodyPr wrap="none" lIns="0" tIns="0" rIns="0" bIns="0" rtlCol="0" anchor="t"/>
          <a:lstStyle/>
          <a:p>
            <a:pPr algn="ctr" indent="0" marL="0">
              <a:lnSpc>
                <a:spcPts val="1440"/>
              </a:lnSpc>
              <a:buNone/>
            </a:pPr>
            <a:r>
              <a:rPr lang="en-US" sz="1158" b="1" dirty="0">
                <a:solidFill>
                  <a:srgbClr val="141B3D"/>
                </a:solidFill>
                <a:latin typeface="Open Sans" pitchFamily="34" charset="0"/>
                <a:ea typeface="Open Sans" pitchFamily="34" charset="-122"/>
                <a:cs typeface="Open Sans" pitchFamily="34" charset="-120"/>
              </a:rPr>
              <a:t>Toolchain</a:t>
            </a:r>
            <a:endParaRPr lang="en-US" sz="1158" dirty="0"/>
          </a:p>
        </p:txBody>
      </p:sp>
      <p:sp>
        <p:nvSpPr>
          <p:cNvPr id="60" name="Shape 47"/>
          <p:cNvSpPr/>
          <p:nvPr/>
        </p:nvSpPr>
        <p:spPr>
          <a:xfrm>
            <a:off x="9165946" y="4235501"/>
            <a:ext cx="1047902" cy="1047902"/>
          </a:xfrm>
          <a:prstGeom prst="ellipse">
            <a:avLst/>
          </a:prstGeom>
          <a:solidFill>
            <a:srgbClr val="FFFFFF"/>
          </a:solidFill>
          <a:ln w="31750">
            <a:solidFill>
              <a:srgbClr val="DC4B8D"/>
            </a:solidFill>
            <a:prstDash val="solid"/>
          </a:ln>
        </p:spPr>
      </p:sp>
      <p:pic>
        <p:nvPicPr>
          <p:cNvPr id="61" name="slide04-icon12" descr="slide04-icon12.sv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296705" y="4479646"/>
            <a:ext cx="787298" cy="558698"/>
          </a:xfrm>
          <a:prstGeom prst="rect">
            <a:avLst/>
          </a:prstGeom>
        </p:spPr>
      </p:pic>
      <p:sp>
        <p:nvSpPr>
          <p:cNvPr id="62" name="Text 48"/>
          <p:cNvSpPr txBox="1"/>
          <p:nvPr/>
        </p:nvSpPr>
        <p:spPr>
          <a:xfrm>
            <a:off x="9157716" y="5331866"/>
            <a:ext cx="1064362" cy="365760"/>
          </a:xfrm>
          <a:prstGeom prst="rect">
            <a:avLst/>
          </a:prstGeom>
          <a:noFill/>
          <a:ln/>
        </p:spPr>
        <p:txBody>
          <a:bodyPr wrap="none" lIns="0" tIns="0" rIns="0" bIns="0" rtlCol="0" anchor="t"/>
          <a:lstStyle/>
          <a:p>
            <a:pPr algn="ctr" indent="0" marL="0">
              <a:lnSpc>
                <a:spcPts val="1440"/>
              </a:lnSpc>
              <a:buNone/>
            </a:pPr>
            <a:r>
              <a:rPr lang="en-US" sz="1162" b="1" dirty="0">
                <a:solidFill>
                  <a:srgbClr val="141B3D"/>
                </a:solidFill>
                <a:latin typeface="Open Sans" pitchFamily="34" charset="0"/>
                <a:ea typeface="Open Sans" pitchFamily="34" charset="-122"/>
                <a:cs typeface="Open Sans" pitchFamily="34" charset="-120"/>
              </a:rPr>
              <a:t>Documented</a:t>
            </a:r>
            <a:endParaRPr lang="en-US" sz="1162" dirty="0"/>
          </a:p>
          <a:p>
            <a:pPr algn="ctr" indent="0" marL="0">
              <a:lnSpc>
                <a:spcPts val="1440"/>
              </a:lnSpc>
              <a:buNone/>
            </a:pPr>
            <a:r>
              <a:rPr lang="en-US" sz="1162" b="1" dirty="0">
                <a:solidFill>
                  <a:srgbClr val="141B3D"/>
                </a:solidFill>
                <a:latin typeface="Open Sans" pitchFamily="34" charset="0"/>
                <a:ea typeface="Open Sans" pitchFamily="34" charset="-122"/>
                <a:cs typeface="Open Sans" pitchFamily="34" charset="-120"/>
              </a:rPr>
              <a:t>project</a:t>
            </a:r>
            <a:endParaRPr lang="en-US" sz="1162" dirty="0"/>
          </a:p>
        </p:txBody>
      </p:sp>
      <p:sp>
        <p:nvSpPr>
          <p:cNvPr id="63" name="Shape 49"/>
          <p:cNvSpPr/>
          <p:nvPr/>
        </p:nvSpPr>
        <p:spPr>
          <a:xfrm>
            <a:off x="10563149" y="4235501"/>
            <a:ext cx="1047902" cy="1047902"/>
          </a:xfrm>
          <a:prstGeom prst="ellipse">
            <a:avLst/>
          </a:prstGeom>
          <a:solidFill>
            <a:srgbClr val="FFFFFF"/>
          </a:solidFill>
          <a:ln w="31750">
            <a:solidFill>
              <a:srgbClr val="DC4B8D"/>
            </a:solidFill>
            <a:prstDash val="solid"/>
          </a:ln>
        </p:spPr>
      </p:sp>
      <p:pic>
        <p:nvPicPr>
          <p:cNvPr id="64" name="slide04-icon13" descr="slide04-icon13.sv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692994" y="4479646"/>
            <a:ext cx="787298" cy="558698"/>
          </a:xfrm>
          <a:prstGeom prst="rect">
            <a:avLst/>
          </a:prstGeom>
        </p:spPr>
      </p:pic>
      <p:sp>
        <p:nvSpPr>
          <p:cNvPr id="65" name="Text 50"/>
          <p:cNvSpPr txBox="1"/>
          <p:nvPr/>
        </p:nvSpPr>
        <p:spPr>
          <a:xfrm>
            <a:off x="10592410" y="5331866"/>
            <a:ext cx="989381" cy="182880"/>
          </a:xfrm>
          <a:prstGeom prst="rect">
            <a:avLst/>
          </a:prstGeom>
          <a:noFill/>
          <a:ln/>
        </p:spPr>
        <p:txBody>
          <a:bodyPr wrap="none" lIns="0" tIns="0" rIns="0" bIns="0" rtlCol="0" anchor="t"/>
          <a:lstStyle/>
          <a:p>
            <a:pPr algn="ctr" indent="0" marL="0">
              <a:lnSpc>
                <a:spcPts val="1440"/>
              </a:lnSpc>
              <a:buNone/>
            </a:pPr>
            <a:r>
              <a:rPr lang="en-US" sz="1147" b="1" dirty="0">
                <a:solidFill>
                  <a:srgbClr val="141B3D"/>
                </a:solidFill>
                <a:latin typeface="Open Sans" pitchFamily="34" charset="0"/>
                <a:ea typeface="Open Sans" pitchFamily="34" charset="-122"/>
                <a:cs typeface="Open Sans" pitchFamily="34" charset="-120"/>
              </a:rPr>
              <a:t>Final review</a:t>
            </a:r>
            <a:endParaRPr lang="en-US" sz="1147" dirty="0"/>
          </a:p>
        </p:txBody>
      </p:sp>
      <p:sp>
        <p:nvSpPr>
          <p:cNvPr id="66" name="Text 51"/>
          <p:cNvSpPr txBox="1"/>
          <p:nvPr/>
        </p:nvSpPr>
        <p:spPr>
          <a:xfrm>
            <a:off x="5393131" y="6059729"/>
            <a:ext cx="1405433" cy="200254"/>
          </a:xfrm>
          <a:prstGeom prst="rect">
            <a:avLst/>
          </a:prstGeom>
          <a:noFill/>
          <a:ln/>
        </p:spPr>
        <p:txBody>
          <a:bodyPr wrap="none" lIns="0" tIns="0" rIns="0" bIns="0" rtlCol="0" anchor="t"/>
          <a:lstStyle/>
          <a:p>
            <a:pPr algn="ctr" indent="0" marL="0">
              <a:lnSpc>
                <a:spcPts val="1575"/>
              </a:lnSpc>
              <a:buNone/>
            </a:pPr>
            <a:r>
              <a:rPr lang="en-US" sz="1445" b="1" spc="-30" kern="0" dirty="0">
                <a:solidFill>
                  <a:srgbClr val="141B3D"/>
                </a:solidFill>
                <a:latin typeface="Open Sans" pitchFamily="34" charset="0"/>
                <a:ea typeface="Open Sans" pitchFamily="34" charset="-122"/>
                <a:cs typeface="Open Sans" pitchFamily="34" charset="-120"/>
              </a:rPr>
              <a:t>Personal work</a:t>
            </a:r>
            <a:endParaRPr lang="en-US" sz="144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DCD9E4"/>
          </a:solidFill>
          <a:ln/>
        </p:spPr>
      </p:sp>
      <p:sp>
        <p:nvSpPr>
          <p:cNvPr id="4" name="Shape 2"/>
          <p:cNvSpPr/>
          <p:nvPr/>
        </p:nvSpPr>
        <p:spPr>
          <a:xfrm>
            <a:off x="3759098" y="558698"/>
            <a:ext cx="1524305" cy="88697"/>
          </a:xfrm>
          <a:prstGeom prst="rect">
            <a:avLst/>
          </a:prstGeom>
          <a:solidFill>
            <a:srgbClr val="DCD9E4"/>
          </a:solidFill>
          <a:ln/>
        </p:spPr>
      </p:sp>
      <p:sp>
        <p:nvSpPr>
          <p:cNvPr id="5" name="Shape 3"/>
          <p:cNvSpPr/>
          <p:nvPr/>
        </p:nvSpPr>
        <p:spPr>
          <a:xfrm>
            <a:off x="5333695" y="558698"/>
            <a:ext cx="1524305" cy="88697"/>
          </a:xfrm>
          <a:prstGeom prst="rect">
            <a:avLst/>
          </a:prstGeom>
          <a:solidFill>
            <a:srgbClr val="DCD9E4"/>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Chapter 1 · 1 ECTS · 30 h</a:t>
            </a:r>
            <a:endParaRPr lang="en-US" sz="1200" dirty="0"/>
          </a:p>
        </p:txBody>
      </p:sp>
      <p:sp>
        <p:nvSpPr>
          <p:cNvPr id="10" name="Text 8"/>
          <p:cNvSpPr txBox="1"/>
          <p:nvPr/>
        </p:nvSpPr>
        <p:spPr>
          <a:xfrm>
            <a:off x="609905" y="1095451"/>
            <a:ext cx="8253374" cy="400507"/>
          </a:xfrm>
          <a:prstGeom prst="rect">
            <a:avLst/>
          </a:prstGeom>
          <a:noFill/>
          <a:ln/>
        </p:spPr>
        <p:txBody>
          <a:bodyPr wrap="none" lIns="0" tIns="0" rIns="0" bIns="0" rtlCol="0" anchor="t"/>
          <a:lstStyle/>
          <a:p>
            <a:pPr algn="l" indent="0" marL="0">
              <a:lnSpc>
                <a:spcPts val="3150"/>
              </a:lnSpc>
              <a:buNone/>
            </a:pPr>
            <a:r>
              <a:rPr lang="en-US" sz="2890" b="1" spc="-60" kern="0" dirty="0">
                <a:solidFill>
                  <a:srgbClr val="141B3D"/>
                </a:solidFill>
                <a:latin typeface="Open Sans" pitchFamily="34" charset="0"/>
                <a:ea typeface="Open Sans" pitchFamily="34" charset="-122"/>
                <a:cs typeface="Open Sans" pitchFamily="34" charset="-120"/>
              </a:rPr>
              <a:t>History of Computational Structural Design</a:t>
            </a:r>
            <a:endParaRPr lang="en-US" sz="2890" dirty="0"/>
          </a:p>
        </p:txBody>
      </p:sp>
      <p:sp>
        <p:nvSpPr>
          <p:cNvPr id="11" name="Shape 9"/>
          <p:cNvSpPr/>
          <p:nvPr/>
        </p:nvSpPr>
        <p:spPr>
          <a:xfrm>
            <a:off x="609905" y="1692554"/>
            <a:ext cx="51206" cy="51206"/>
          </a:xfrm>
          <a:prstGeom prst="rect">
            <a:avLst/>
          </a:prstGeom>
          <a:solidFill>
            <a:srgbClr val="3057B1"/>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3057B1"/>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3057B1"/>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05-icon01" descr="slide05-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0354" y="2960827"/>
            <a:ext cx="1270102" cy="609905"/>
          </a:xfrm>
          <a:prstGeom prst="rect">
            <a:avLst/>
          </a:prstGeom>
        </p:spPr>
      </p:pic>
      <p:sp>
        <p:nvSpPr>
          <p:cNvPr id="18" name="Text 15"/>
          <p:cNvSpPr txBox="1"/>
          <p:nvPr/>
        </p:nvSpPr>
        <p:spPr>
          <a:xfrm>
            <a:off x="1311250" y="3642055"/>
            <a:ext cx="648310" cy="213055"/>
          </a:xfrm>
          <a:prstGeom prst="rect">
            <a:avLst/>
          </a:prstGeom>
          <a:noFill/>
          <a:ln/>
        </p:spPr>
        <p:txBody>
          <a:bodyPr wrap="none" lIns="0" tIns="0" rIns="0" bIns="0" rtlCol="0" anchor="t"/>
          <a:lstStyle/>
          <a:p>
            <a:pPr algn="ctr" indent="0" marL="0">
              <a:lnSpc>
                <a:spcPts val="1680"/>
              </a:lnSpc>
              <a:buNone/>
            </a:pPr>
            <a:r>
              <a:rPr lang="en-US" sz="1362" b="1" dirty="0">
                <a:solidFill>
                  <a:srgbClr val="141B3D"/>
                </a:solidFill>
                <a:latin typeface="Open Sans" pitchFamily="34" charset="0"/>
                <a:ea typeface="Open Sans" pitchFamily="34" charset="-122"/>
                <a:cs typeface="Open Sans" pitchFamily="34" charset="-120"/>
              </a:rPr>
              <a:t>Cables</a:t>
            </a:r>
            <a:endParaRPr lang="en-US" sz="1362" dirty="0"/>
          </a:p>
        </p:txBody>
      </p:sp>
      <p:pic>
        <p:nvPicPr>
          <p:cNvPr id="19" name="slide05-icon02" descr="slide05-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0575" y="2960827"/>
            <a:ext cx="1270102" cy="609905"/>
          </a:xfrm>
          <a:prstGeom prst="rect">
            <a:avLst/>
          </a:prstGeom>
        </p:spPr>
      </p:pic>
      <p:sp>
        <p:nvSpPr>
          <p:cNvPr id="20" name="Text 16"/>
          <p:cNvSpPr txBox="1"/>
          <p:nvPr/>
        </p:nvSpPr>
        <p:spPr>
          <a:xfrm>
            <a:off x="3531413" y="3642055"/>
            <a:ext cx="669341" cy="213055"/>
          </a:xfrm>
          <a:prstGeom prst="rect">
            <a:avLst/>
          </a:prstGeom>
          <a:noFill/>
          <a:ln/>
        </p:spPr>
        <p:txBody>
          <a:bodyPr wrap="none" lIns="0" tIns="0" rIns="0" bIns="0" rtlCol="0" anchor="t"/>
          <a:lstStyle/>
          <a:p>
            <a:pPr algn="ctr" indent="0" marL="0">
              <a:lnSpc>
                <a:spcPts val="1680"/>
              </a:lnSpc>
              <a:buNone/>
            </a:pPr>
            <a:r>
              <a:rPr lang="en-US" sz="1352" b="1" dirty="0">
                <a:solidFill>
                  <a:srgbClr val="141B3D"/>
                </a:solidFill>
                <a:latin typeface="Open Sans" pitchFamily="34" charset="0"/>
                <a:ea typeface="Open Sans" pitchFamily="34" charset="-122"/>
                <a:cs typeface="Open Sans" pitchFamily="34" charset="-120"/>
              </a:rPr>
              <a:t>Arches</a:t>
            </a:r>
            <a:endParaRPr lang="en-US" sz="1352" dirty="0"/>
          </a:p>
        </p:txBody>
      </p:sp>
      <p:pic>
        <p:nvPicPr>
          <p:cNvPr id="21" name="slide05-icon03" descr="slide05-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60797" y="2960827"/>
            <a:ext cx="1270102" cy="609905"/>
          </a:xfrm>
          <a:prstGeom prst="rect">
            <a:avLst/>
          </a:prstGeom>
        </p:spPr>
      </p:pic>
      <p:sp>
        <p:nvSpPr>
          <p:cNvPr id="22" name="Text 17"/>
          <p:cNvSpPr txBox="1"/>
          <p:nvPr/>
        </p:nvSpPr>
        <p:spPr>
          <a:xfrm>
            <a:off x="5725058" y="3642055"/>
            <a:ext cx="742493" cy="213055"/>
          </a:xfrm>
          <a:prstGeom prst="rect">
            <a:avLst/>
          </a:prstGeom>
          <a:noFill/>
          <a:ln/>
        </p:spPr>
        <p:txBody>
          <a:bodyPr wrap="none" lIns="0" tIns="0" rIns="0" bIns="0" rtlCol="0" anchor="t"/>
          <a:lstStyle/>
          <a:p>
            <a:pPr algn="ctr" indent="0" marL="0">
              <a:lnSpc>
                <a:spcPts val="1680"/>
              </a:lnSpc>
              <a:buNone/>
            </a:pPr>
            <a:r>
              <a:rPr lang="en-US" sz="1361" b="1" dirty="0">
                <a:solidFill>
                  <a:srgbClr val="141B3D"/>
                </a:solidFill>
                <a:latin typeface="Open Sans" pitchFamily="34" charset="0"/>
                <a:ea typeface="Open Sans" pitchFamily="34" charset="-122"/>
                <a:cs typeface="Open Sans" pitchFamily="34" charset="-120"/>
              </a:rPr>
              <a:t>Trusses</a:t>
            </a:r>
            <a:endParaRPr lang="en-US" sz="1361" dirty="0"/>
          </a:p>
        </p:txBody>
      </p:sp>
      <p:pic>
        <p:nvPicPr>
          <p:cNvPr id="23" name="slide05-icon04" descr="slide05-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1018" y="2960827"/>
            <a:ext cx="1270102" cy="609905"/>
          </a:xfrm>
          <a:prstGeom prst="rect">
            <a:avLst/>
          </a:prstGeom>
        </p:spPr>
      </p:pic>
      <p:sp>
        <p:nvSpPr>
          <p:cNvPr id="24" name="Text 18"/>
          <p:cNvSpPr txBox="1"/>
          <p:nvPr/>
        </p:nvSpPr>
        <p:spPr>
          <a:xfrm>
            <a:off x="7994599" y="3642055"/>
            <a:ext cx="663854" cy="213055"/>
          </a:xfrm>
          <a:prstGeom prst="rect">
            <a:avLst/>
          </a:prstGeom>
          <a:noFill/>
          <a:ln/>
        </p:spPr>
        <p:txBody>
          <a:bodyPr wrap="none" lIns="0" tIns="0" rIns="0" bIns="0" rtlCol="0" anchor="t"/>
          <a:lstStyle/>
          <a:p>
            <a:pPr algn="ctr" indent="0" marL="0">
              <a:lnSpc>
                <a:spcPts val="1680"/>
              </a:lnSpc>
              <a:buNone/>
            </a:pPr>
            <a:r>
              <a:rPr lang="en-US" sz="1363" b="1" dirty="0">
                <a:solidFill>
                  <a:srgbClr val="141B3D"/>
                </a:solidFill>
                <a:latin typeface="Open Sans" pitchFamily="34" charset="0"/>
                <a:ea typeface="Open Sans" pitchFamily="34" charset="-122"/>
                <a:cs typeface="Open Sans" pitchFamily="34" charset="-120"/>
              </a:rPr>
              <a:t>Beams</a:t>
            </a:r>
            <a:endParaRPr lang="en-US" sz="1363" dirty="0"/>
          </a:p>
        </p:txBody>
      </p:sp>
      <p:pic>
        <p:nvPicPr>
          <p:cNvPr id="25" name="slide05-icon05" descr="slide05-icon0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21240" y="2960827"/>
            <a:ext cx="1270102" cy="609905"/>
          </a:xfrm>
          <a:prstGeom prst="rect">
            <a:avLst/>
          </a:prstGeom>
        </p:spPr>
      </p:pic>
      <p:sp>
        <p:nvSpPr>
          <p:cNvPr id="26" name="Text 19"/>
          <p:cNvSpPr txBox="1"/>
          <p:nvPr/>
        </p:nvSpPr>
        <p:spPr>
          <a:xfrm>
            <a:off x="10195560" y="3642055"/>
            <a:ext cx="722376" cy="213055"/>
          </a:xfrm>
          <a:prstGeom prst="rect">
            <a:avLst/>
          </a:prstGeom>
          <a:noFill/>
          <a:ln/>
        </p:spPr>
        <p:txBody>
          <a:bodyPr wrap="none" lIns="0" tIns="0" rIns="0" bIns="0" rtlCol="0" anchor="t"/>
          <a:lstStyle/>
          <a:p>
            <a:pPr algn="ctr" indent="0" marL="0">
              <a:lnSpc>
                <a:spcPts val="1680"/>
              </a:lnSpc>
              <a:buNone/>
            </a:pPr>
            <a:r>
              <a:rPr lang="en-US" sz="1356" b="1" dirty="0">
                <a:solidFill>
                  <a:srgbClr val="141B3D"/>
                </a:solidFill>
                <a:latin typeface="Open Sans" pitchFamily="34" charset="0"/>
                <a:ea typeface="Open Sans" pitchFamily="34" charset="-122"/>
                <a:cs typeface="Open Sans" pitchFamily="34" charset="-120"/>
              </a:rPr>
              <a:t>Frames</a:t>
            </a:r>
            <a:endParaRPr lang="en-US" sz="1356" dirty="0"/>
          </a:p>
        </p:txBody>
      </p:sp>
      <p:pic>
        <p:nvPicPr>
          <p:cNvPr id="27" name="slide05-icon06" descr="slide05-icon06.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0354" y="4289450"/>
            <a:ext cx="1270102" cy="609905"/>
          </a:xfrm>
          <a:prstGeom prst="rect">
            <a:avLst/>
          </a:prstGeom>
        </p:spPr>
      </p:pic>
      <p:sp>
        <p:nvSpPr>
          <p:cNvPr id="28" name="Text 20"/>
          <p:cNvSpPr txBox="1"/>
          <p:nvPr/>
        </p:nvSpPr>
        <p:spPr>
          <a:xfrm>
            <a:off x="873252" y="4969764"/>
            <a:ext cx="1525219" cy="213055"/>
          </a:xfrm>
          <a:prstGeom prst="rect">
            <a:avLst/>
          </a:prstGeom>
          <a:noFill/>
          <a:ln/>
        </p:spPr>
        <p:txBody>
          <a:bodyPr wrap="none" lIns="0" tIns="0" rIns="0" bIns="0" rtlCol="0" anchor="t"/>
          <a:lstStyle/>
          <a:p>
            <a:pPr algn="ctr" indent="0" marL="0">
              <a:lnSpc>
                <a:spcPts val="1680"/>
              </a:lnSpc>
              <a:buNone/>
            </a:pPr>
            <a:r>
              <a:rPr lang="en-US" sz="1354" b="1" dirty="0">
                <a:solidFill>
                  <a:srgbClr val="141B3D"/>
                </a:solidFill>
                <a:latin typeface="Open Sans" pitchFamily="34" charset="0"/>
                <a:ea typeface="Open Sans" pitchFamily="34" charset="-122"/>
                <a:cs typeface="Open Sans" pitchFamily="34" charset="-120"/>
              </a:rPr>
              <a:t>Plates and slabs</a:t>
            </a:r>
            <a:endParaRPr lang="en-US" sz="1354" dirty="0"/>
          </a:p>
        </p:txBody>
      </p:sp>
      <p:pic>
        <p:nvPicPr>
          <p:cNvPr id="29" name="slide05-icon07" descr="slide05-icon07.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30575" y="4289450"/>
            <a:ext cx="1270102" cy="609905"/>
          </a:xfrm>
          <a:prstGeom prst="rect">
            <a:avLst/>
          </a:prstGeom>
        </p:spPr>
      </p:pic>
      <p:sp>
        <p:nvSpPr>
          <p:cNvPr id="30" name="Text 21"/>
          <p:cNvSpPr txBox="1"/>
          <p:nvPr/>
        </p:nvSpPr>
        <p:spPr>
          <a:xfrm>
            <a:off x="3439973" y="4969764"/>
            <a:ext cx="851306" cy="213055"/>
          </a:xfrm>
          <a:prstGeom prst="rect">
            <a:avLst/>
          </a:prstGeom>
          <a:noFill/>
          <a:ln/>
        </p:spPr>
        <p:txBody>
          <a:bodyPr wrap="none" lIns="0" tIns="0" rIns="0" bIns="0" rtlCol="0" anchor="t"/>
          <a:lstStyle/>
          <a:p>
            <a:pPr algn="ctr" indent="0" marL="0">
              <a:lnSpc>
                <a:spcPts val="1680"/>
              </a:lnSpc>
              <a:buNone/>
            </a:pPr>
            <a:r>
              <a:rPr lang="en-US" sz="1361" b="1" dirty="0">
                <a:solidFill>
                  <a:srgbClr val="141B3D"/>
                </a:solidFill>
                <a:latin typeface="Open Sans" pitchFamily="34" charset="0"/>
                <a:ea typeface="Open Sans" pitchFamily="34" charset="-122"/>
                <a:cs typeface="Open Sans" pitchFamily="34" charset="-120"/>
              </a:rPr>
              <a:t>Columns</a:t>
            </a:r>
            <a:endParaRPr lang="en-US" sz="1361" dirty="0"/>
          </a:p>
        </p:txBody>
      </p:sp>
      <p:pic>
        <p:nvPicPr>
          <p:cNvPr id="31" name="slide05-icon08" descr="slide05-icon08.sv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60797" y="4289450"/>
            <a:ext cx="1270102" cy="609905"/>
          </a:xfrm>
          <a:prstGeom prst="rect">
            <a:avLst/>
          </a:prstGeom>
        </p:spPr>
      </p:pic>
      <p:sp>
        <p:nvSpPr>
          <p:cNvPr id="32" name="Text 22"/>
          <p:cNvSpPr txBox="1"/>
          <p:nvPr/>
        </p:nvSpPr>
        <p:spPr>
          <a:xfrm>
            <a:off x="5727802" y="4969764"/>
            <a:ext cx="736092" cy="213055"/>
          </a:xfrm>
          <a:prstGeom prst="rect">
            <a:avLst/>
          </a:prstGeom>
          <a:noFill/>
          <a:ln/>
        </p:spPr>
        <p:txBody>
          <a:bodyPr wrap="none" lIns="0" tIns="0" rIns="0" bIns="0" rtlCol="0" anchor="t"/>
          <a:lstStyle/>
          <a:p>
            <a:pPr algn="ctr" indent="0" marL="0">
              <a:lnSpc>
                <a:spcPts val="1680"/>
              </a:lnSpc>
              <a:buNone/>
            </a:pPr>
            <a:r>
              <a:rPr lang="en-US" sz="1350" b="1" dirty="0">
                <a:solidFill>
                  <a:srgbClr val="141B3D"/>
                </a:solidFill>
                <a:latin typeface="Open Sans" pitchFamily="34" charset="0"/>
                <a:ea typeface="Open Sans" pitchFamily="34" charset="-122"/>
                <a:cs typeface="Open Sans" pitchFamily="34" charset="-120"/>
              </a:rPr>
              <a:t>Bracing</a:t>
            </a:r>
            <a:endParaRPr lang="en-US" sz="1350" dirty="0"/>
          </a:p>
        </p:txBody>
      </p:sp>
      <p:pic>
        <p:nvPicPr>
          <p:cNvPr id="33" name="slide05-icon09" descr="slide05-icon09.sv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91018" y="4289450"/>
            <a:ext cx="1270102" cy="609905"/>
          </a:xfrm>
          <a:prstGeom prst="rect">
            <a:avLst/>
          </a:prstGeom>
        </p:spPr>
      </p:pic>
      <p:sp>
        <p:nvSpPr>
          <p:cNvPr id="34" name="Text 23"/>
          <p:cNvSpPr txBox="1"/>
          <p:nvPr/>
        </p:nvSpPr>
        <p:spPr>
          <a:xfrm>
            <a:off x="7244791" y="4969764"/>
            <a:ext cx="2163470" cy="213055"/>
          </a:xfrm>
          <a:prstGeom prst="rect">
            <a:avLst/>
          </a:prstGeom>
          <a:noFill/>
          <a:ln/>
        </p:spPr>
        <p:txBody>
          <a:bodyPr wrap="none" lIns="0" tIns="0" rIns="0" bIns="0" rtlCol="0" anchor="t"/>
          <a:lstStyle/>
          <a:p>
            <a:pPr algn="ctr" indent="0" marL="0">
              <a:lnSpc>
                <a:spcPts val="1680"/>
              </a:lnSpc>
              <a:buNone/>
            </a:pPr>
            <a:r>
              <a:rPr lang="en-US" sz="1346" b="1" dirty="0">
                <a:solidFill>
                  <a:srgbClr val="141B3D"/>
                </a:solidFill>
                <a:latin typeface="Open Sans" pitchFamily="34" charset="0"/>
                <a:ea typeface="Open Sans" pitchFamily="34" charset="-122"/>
                <a:cs typeface="Open Sans" pitchFamily="34" charset="-120"/>
              </a:rPr>
              <a:t>Material-specific forms</a:t>
            </a:r>
            <a:endParaRPr lang="en-US" sz="1346" dirty="0"/>
          </a:p>
        </p:txBody>
      </p:sp>
      <p:pic>
        <p:nvPicPr>
          <p:cNvPr id="35" name="slide05-icon10" descr="slide05-icon10.sv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921240" y="4289450"/>
            <a:ext cx="1270102" cy="609905"/>
          </a:xfrm>
          <a:prstGeom prst="rect">
            <a:avLst/>
          </a:prstGeom>
        </p:spPr>
      </p:pic>
      <p:sp>
        <p:nvSpPr>
          <p:cNvPr id="36" name="Text 24"/>
          <p:cNvSpPr txBox="1"/>
          <p:nvPr/>
        </p:nvSpPr>
        <p:spPr>
          <a:xfrm>
            <a:off x="9500616" y="4969764"/>
            <a:ext cx="2110435" cy="427025"/>
          </a:xfrm>
          <a:prstGeom prst="rect">
            <a:avLst/>
          </a:prstGeom>
          <a:noFill/>
          <a:ln/>
        </p:spPr>
        <p:txBody>
          <a:bodyPr wrap="none" lIns="0" tIns="0" rIns="0" bIns="0" rtlCol="0" anchor="t"/>
          <a:lstStyle/>
          <a:p>
            <a:pPr algn="ctr" indent="0" marL="0">
              <a:lnSpc>
                <a:spcPts val="1680"/>
              </a:lnSpc>
              <a:buNone/>
            </a:pPr>
            <a:r>
              <a:rPr lang="en-US" sz="1352" b="1" dirty="0">
                <a:solidFill>
                  <a:srgbClr val="141B3D"/>
                </a:solidFill>
                <a:latin typeface="Open Sans" pitchFamily="34" charset="0"/>
                <a:ea typeface="Open Sans" pitchFamily="34" charset="-122"/>
                <a:cs typeface="Open Sans" pitchFamily="34" charset="-120"/>
              </a:rPr>
              <a:t>Plastic and stress-field</a:t>
            </a:r>
            <a:endParaRPr lang="en-US" sz="1352" dirty="0"/>
          </a:p>
          <a:p>
            <a:pPr algn="ctr" indent="0" marL="0">
              <a:lnSpc>
                <a:spcPts val="1680"/>
              </a:lnSpc>
              <a:buNone/>
            </a:pPr>
            <a:r>
              <a:rPr lang="en-US" sz="1352" b="1" dirty="0">
                <a:solidFill>
                  <a:srgbClr val="141B3D"/>
                </a:solidFill>
                <a:latin typeface="Open Sans" pitchFamily="34" charset="0"/>
                <a:ea typeface="Open Sans" pitchFamily="34" charset="-122"/>
                <a:cs typeface="Open Sans" pitchFamily="34" charset="-120"/>
              </a:rPr>
              <a:t>models</a:t>
            </a:r>
            <a:endParaRPr lang="en-US" sz="13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DCD9E4"/>
          </a:solidFill>
          <a:ln/>
        </p:spPr>
      </p:sp>
      <p:sp>
        <p:nvSpPr>
          <p:cNvPr id="5" name="Shape 3"/>
          <p:cNvSpPr/>
          <p:nvPr/>
        </p:nvSpPr>
        <p:spPr>
          <a:xfrm>
            <a:off x="5333695" y="558698"/>
            <a:ext cx="1524305" cy="88697"/>
          </a:xfrm>
          <a:prstGeom prst="rect">
            <a:avLst/>
          </a:prstGeom>
          <a:solidFill>
            <a:srgbClr val="DCD9E4"/>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5552BB"/>
                </a:solidFill>
                <a:latin typeface="Open Sans" pitchFamily="34" charset="0"/>
                <a:ea typeface="Open Sans" pitchFamily="34" charset="-122"/>
                <a:cs typeface="Open Sans" pitchFamily="34" charset="-120"/>
              </a:rPr>
              <a:t>Chapter 2 · 1 ECTS · 30 h</a:t>
            </a:r>
            <a:endParaRPr lang="en-US" sz="1200" dirty="0"/>
          </a:p>
        </p:txBody>
      </p:sp>
      <p:sp>
        <p:nvSpPr>
          <p:cNvPr id="10" name="Text 8"/>
          <p:cNvSpPr txBox="1"/>
          <p:nvPr/>
        </p:nvSpPr>
        <p:spPr>
          <a:xfrm>
            <a:off x="609905" y="1095451"/>
            <a:ext cx="6294730" cy="400507"/>
          </a:xfrm>
          <a:prstGeom prst="rect">
            <a:avLst/>
          </a:prstGeom>
          <a:noFill/>
          <a:ln/>
        </p:spPr>
        <p:txBody>
          <a:bodyPr wrap="none" lIns="0" tIns="0" rIns="0" bIns="0" rtlCol="0" anchor="t"/>
          <a:lstStyle/>
          <a:p>
            <a:pPr algn="l" indent="0" marL="0">
              <a:lnSpc>
                <a:spcPts val="3150"/>
              </a:lnSpc>
              <a:buNone/>
            </a:pPr>
            <a:r>
              <a:rPr lang="en-US" sz="2889" b="1" spc="-60" kern="0" dirty="0">
                <a:solidFill>
                  <a:srgbClr val="141B3D"/>
                </a:solidFill>
                <a:latin typeface="Open Sans" pitchFamily="34" charset="0"/>
                <a:ea typeface="Open Sans" pitchFamily="34" charset="-122"/>
                <a:cs typeface="Open Sans" pitchFamily="34" charset="-120"/>
              </a:rPr>
              <a:t>Computational Structural Design</a:t>
            </a:r>
            <a:endParaRPr lang="en-US" sz="2889" dirty="0"/>
          </a:p>
        </p:txBody>
      </p:sp>
      <p:sp>
        <p:nvSpPr>
          <p:cNvPr id="11" name="Shape 9"/>
          <p:cNvSpPr/>
          <p:nvPr/>
        </p:nvSpPr>
        <p:spPr>
          <a:xfrm>
            <a:off x="609905" y="1692554"/>
            <a:ext cx="51206" cy="51206"/>
          </a:xfrm>
          <a:prstGeom prst="rect">
            <a:avLst/>
          </a:prstGeom>
          <a:solidFill>
            <a:srgbClr val="5552BB"/>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5552BB"/>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5552BB"/>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06-icon01" descr="slide06-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9401" y="3000146"/>
            <a:ext cx="1397203" cy="808330"/>
          </a:xfrm>
          <a:prstGeom prst="rect">
            <a:avLst/>
          </a:prstGeom>
        </p:spPr>
      </p:pic>
      <p:sp>
        <p:nvSpPr>
          <p:cNvPr id="18" name="Text 15"/>
          <p:cNvSpPr txBox="1"/>
          <p:nvPr/>
        </p:nvSpPr>
        <p:spPr>
          <a:xfrm>
            <a:off x="1428293" y="3866998"/>
            <a:ext cx="838505" cy="213055"/>
          </a:xfrm>
          <a:prstGeom prst="rect">
            <a:avLst/>
          </a:prstGeom>
          <a:noFill/>
          <a:ln/>
        </p:spPr>
        <p:txBody>
          <a:bodyPr wrap="none" lIns="0" tIns="0" rIns="0" bIns="0" rtlCol="0" anchor="t"/>
          <a:lstStyle/>
          <a:p>
            <a:pPr algn="ctr" indent="0" marL="0">
              <a:lnSpc>
                <a:spcPts val="1680"/>
              </a:lnSpc>
              <a:buNone/>
            </a:pPr>
            <a:r>
              <a:rPr lang="en-US" sz="1375" b="1" dirty="0">
                <a:solidFill>
                  <a:srgbClr val="141B3D"/>
                </a:solidFill>
                <a:latin typeface="Open Sans" pitchFamily="34" charset="0"/>
                <a:ea typeface="Open Sans" pitchFamily="34" charset="-122"/>
                <a:cs typeface="Open Sans" pitchFamily="34" charset="-120"/>
              </a:rPr>
              <a:t>COMPAS</a:t>
            </a:r>
            <a:endParaRPr lang="en-US" sz="1375" dirty="0"/>
          </a:p>
        </p:txBody>
      </p:sp>
      <p:sp>
        <p:nvSpPr>
          <p:cNvPr id="19" name="Text 16"/>
          <p:cNvSpPr txBox="1"/>
          <p:nvPr/>
        </p:nvSpPr>
        <p:spPr>
          <a:xfrm>
            <a:off x="1451153" y="4211726"/>
            <a:ext cx="792785"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Primitives</a:t>
            </a:r>
            <a:endParaRPr lang="en-US" sz="1200" dirty="0"/>
          </a:p>
        </p:txBody>
      </p:sp>
      <p:sp>
        <p:nvSpPr>
          <p:cNvPr id="20" name="Text 17"/>
          <p:cNvSpPr txBox="1"/>
          <p:nvPr/>
        </p:nvSpPr>
        <p:spPr>
          <a:xfrm>
            <a:off x="1648663" y="4447642"/>
            <a:ext cx="398678"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Data</a:t>
            </a:r>
            <a:endParaRPr lang="en-US" sz="1200" dirty="0"/>
          </a:p>
        </p:txBody>
      </p:sp>
      <p:sp>
        <p:nvSpPr>
          <p:cNvPr id="21" name="Text 18"/>
          <p:cNvSpPr txBox="1"/>
          <p:nvPr/>
        </p:nvSpPr>
        <p:spPr>
          <a:xfrm>
            <a:off x="1260958" y="4683557"/>
            <a:ext cx="1173175"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Data Exchange</a:t>
            </a:r>
            <a:endParaRPr lang="en-US" sz="1200" dirty="0"/>
          </a:p>
        </p:txBody>
      </p:sp>
      <p:sp>
        <p:nvSpPr>
          <p:cNvPr id="22" name="Text 19"/>
          <p:cNvSpPr txBox="1"/>
          <p:nvPr/>
        </p:nvSpPr>
        <p:spPr>
          <a:xfrm>
            <a:off x="1446581" y="4919472"/>
            <a:ext cx="802843"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Geometry</a:t>
            </a:r>
            <a:endParaRPr lang="en-US" sz="1200" dirty="0"/>
          </a:p>
        </p:txBody>
      </p:sp>
      <p:sp>
        <p:nvSpPr>
          <p:cNvPr id="23" name="Text 20"/>
          <p:cNvSpPr txBox="1"/>
          <p:nvPr/>
        </p:nvSpPr>
        <p:spPr>
          <a:xfrm>
            <a:off x="1229868" y="5156302"/>
            <a:ext cx="1235354"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Data Structures</a:t>
            </a:r>
            <a:endParaRPr lang="en-US" sz="1200" dirty="0"/>
          </a:p>
        </p:txBody>
      </p:sp>
      <p:pic>
        <p:nvPicPr>
          <p:cNvPr id="24" name="slide06-icon02" descr="slide06-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81298" y="3008376"/>
            <a:ext cx="1397203" cy="761695"/>
          </a:xfrm>
          <a:prstGeom prst="rect">
            <a:avLst/>
          </a:prstGeom>
        </p:spPr>
      </p:pic>
      <p:sp>
        <p:nvSpPr>
          <p:cNvPr id="25" name="Text 21"/>
          <p:cNvSpPr txBox="1"/>
          <p:nvPr/>
        </p:nvSpPr>
        <p:spPr>
          <a:xfrm>
            <a:off x="4074566" y="3866998"/>
            <a:ext cx="1210666" cy="213055"/>
          </a:xfrm>
          <a:prstGeom prst="rect">
            <a:avLst/>
          </a:prstGeom>
          <a:noFill/>
          <a:ln/>
        </p:spPr>
        <p:txBody>
          <a:bodyPr wrap="none" lIns="0" tIns="0" rIns="0" bIns="0" rtlCol="0" anchor="t"/>
          <a:lstStyle/>
          <a:p>
            <a:pPr algn="ctr" indent="0" marL="0">
              <a:lnSpc>
                <a:spcPts val="1680"/>
              </a:lnSpc>
              <a:buNone/>
            </a:pPr>
            <a:r>
              <a:rPr lang="en-US" sz="1359" b="1" dirty="0">
                <a:solidFill>
                  <a:srgbClr val="141B3D"/>
                </a:solidFill>
                <a:latin typeface="Open Sans" pitchFamily="34" charset="0"/>
                <a:ea typeface="Open Sans" pitchFamily="34" charset="-122"/>
                <a:cs typeface="Open Sans" pitchFamily="34" charset="-120"/>
              </a:rPr>
              <a:t>AEC Formats</a:t>
            </a:r>
            <a:endParaRPr lang="en-US" sz="1359" dirty="0"/>
          </a:p>
        </p:txBody>
      </p:sp>
      <p:sp>
        <p:nvSpPr>
          <p:cNvPr id="26" name="Text 22"/>
          <p:cNvSpPr txBox="1"/>
          <p:nvPr/>
        </p:nvSpPr>
        <p:spPr>
          <a:xfrm>
            <a:off x="4543654" y="4211726"/>
            <a:ext cx="272491"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IFC</a:t>
            </a:r>
            <a:endParaRPr lang="en-US" sz="1200" dirty="0"/>
          </a:p>
        </p:txBody>
      </p:sp>
      <p:sp>
        <p:nvSpPr>
          <p:cNvPr id="27" name="Text 23"/>
          <p:cNvSpPr txBox="1"/>
          <p:nvPr/>
        </p:nvSpPr>
        <p:spPr>
          <a:xfrm>
            <a:off x="4420210" y="4447642"/>
            <a:ext cx="520294"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Model</a:t>
            </a:r>
            <a:endParaRPr lang="en-US" sz="1200" dirty="0"/>
          </a:p>
        </p:txBody>
      </p:sp>
      <p:pic>
        <p:nvPicPr>
          <p:cNvPr id="28" name="slide06-icon03" descr="slide06-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3194" y="3008376"/>
            <a:ext cx="1397203" cy="761695"/>
          </a:xfrm>
          <a:prstGeom prst="rect">
            <a:avLst/>
          </a:prstGeom>
        </p:spPr>
      </p:pic>
      <p:sp>
        <p:nvSpPr>
          <p:cNvPr id="29" name="Text 24"/>
          <p:cNvSpPr txBox="1"/>
          <p:nvPr/>
        </p:nvSpPr>
        <p:spPr>
          <a:xfrm>
            <a:off x="7159752" y="3866998"/>
            <a:ext cx="704088" cy="213055"/>
          </a:xfrm>
          <a:prstGeom prst="rect">
            <a:avLst/>
          </a:prstGeom>
          <a:noFill/>
          <a:ln/>
        </p:spPr>
        <p:txBody>
          <a:bodyPr wrap="none" lIns="0" tIns="0" rIns="0" bIns="0" rtlCol="0" anchor="t"/>
          <a:lstStyle/>
          <a:p>
            <a:pPr algn="ctr" indent="0" marL="0">
              <a:lnSpc>
                <a:spcPts val="1680"/>
              </a:lnSpc>
              <a:buNone/>
            </a:pPr>
            <a:r>
              <a:rPr lang="en-US" sz="1354" b="1" dirty="0">
                <a:solidFill>
                  <a:srgbClr val="141B3D"/>
                </a:solidFill>
                <a:latin typeface="Open Sans" pitchFamily="34" charset="0"/>
                <a:ea typeface="Open Sans" pitchFamily="34" charset="-122"/>
                <a:cs typeface="Open Sans" pitchFamily="34" charset="-120"/>
              </a:rPr>
              <a:t>Solvers</a:t>
            </a:r>
            <a:endParaRPr lang="en-US" sz="1354" dirty="0"/>
          </a:p>
        </p:txBody>
      </p:sp>
      <p:sp>
        <p:nvSpPr>
          <p:cNvPr id="30" name="Text 25"/>
          <p:cNvSpPr txBox="1"/>
          <p:nvPr/>
        </p:nvSpPr>
        <p:spPr>
          <a:xfrm>
            <a:off x="6644030" y="4211726"/>
            <a:ext cx="1736446"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Matrix Decomposition</a:t>
            </a:r>
            <a:endParaRPr lang="en-US" sz="1200" dirty="0"/>
          </a:p>
        </p:txBody>
      </p:sp>
      <p:sp>
        <p:nvSpPr>
          <p:cNvPr id="31" name="Text 26"/>
          <p:cNvSpPr txBox="1"/>
          <p:nvPr/>
        </p:nvSpPr>
        <p:spPr>
          <a:xfrm>
            <a:off x="6699809" y="4447642"/>
            <a:ext cx="1623974"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Optimization Solvers</a:t>
            </a:r>
            <a:endParaRPr lang="en-US" sz="1200" dirty="0"/>
          </a:p>
        </p:txBody>
      </p:sp>
      <p:pic>
        <p:nvPicPr>
          <p:cNvPr id="32" name="slide06-icon04" descr="slide06-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46006" y="3008376"/>
            <a:ext cx="1397203" cy="761695"/>
          </a:xfrm>
          <a:prstGeom prst="rect">
            <a:avLst/>
          </a:prstGeom>
        </p:spPr>
      </p:pic>
      <p:sp>
        <p:nvSpPr>
          <p:cNvPr id="33" name="Text 27"/>
          <p:cNvSpPr txBox="1"/>
          <p:nvPr/>
        </p:nvSpPr>
        <p:spPr>
          <a:xfrm>
            <a:off x="9678010" y="3866998"/>
            <a:ext cx="1332281" cy="213055"/>
          </a:xfrm>
          <a:prstGeom prst="rect">
            <a:avLst/>
          </a:prstGeom>
          <a:noFill/>
          <a:ln/>
        </p:spPr>
        <p:txBody>
          <a:bodyPr wrap="none" lIns="0" tIns="0" rIns="0" bIns="0" rtlCol="0" anchor="t"/>
          <a:lstStyle/>
          <a:p>
            <a:pPr algn="ctr" indent="0" marL="0">
              <a:lnSpc>
                <a:spcPts val="1680"/>
              </a:lnSpc>
              <a:buNone/>
            </a:pPr>
            <a:r>
              <a:rPr lang="en-US" sz="1355" b="1" dirty="0">
                <a:solidFill>
                  <a:srgbClr val="141B3D"/>
                </a:solidFill>
                <a:latin typeface="Open Sans" pitchFamily="34" charset="0"/>
                <a:ea typeface="Open Sans" pitchFamily="34" charset="-122"/>
                <a:cs typeface="Open Sans" pitchFamily="34" charset="-120"/>
              </a:rPr>
              <a:t>AI Connectors</a:t>
            </a:r>
            <a:endParaRPr lang="en-US" sz="1355" dirty="0"/>
          </a:p>
        </p:txBody>
      </p:sp>
      <p:sp>
        <p:nvSpPr>
          <p:cNvPr id="34" name="Text 28"/>
          <p:cNvSpPr txBox="1"/>
          <p:nvPr/>
        </p:nvSpPr>
        <p:spPr>
          <a:xfrm>
            <a:off x="10165385" y="4211726"/>
            <a:ext cx="357530"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LLM</a:t>
            </a:r>
            <a:endParaRPr lang="en-US" sz="1200" dirty="0"/>
          </a:p>
        </p:txBody>
      </p:sp>
      <p:sp>
        <p:nvSpPr>
          <p:cNvPr id="35" name="Text 29"/>
          <p:cNvSpPr txBox="1"/>
          <p:nvPr/>
        </p:nvSpPr>
        <p:spPr>
          <a:xfrm>
            <a:off x="10062972" y="4447642"/>
            <a:ext cx="562356"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Agents</a:t>
            </a:r>
            <a:endParaRPr lang="en-US" sz="1200" dirty="0"/>
          </a:p>
        </p:txBody>
      </p:sp>
      <p:sp>
        <p:nvSpPr>
          <p:cNvPr id="36" name="Text 30"/>
          <p:cNvSpPr txBox="1"/>
          <p:nvPr/>
        </p:nvSpPr>
        <p:spPr>
          <a:xfrm>
            <a:off x="10149840" y="4683557"/>
            <a:ext cx="388620"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MCP</a:t>
            </a:r>
            <a:endParaRPr lang="en-US" sz="1200" dirty="0"/>
          </a:p>
        </p:txBody>
      </p:sp>
      <p:sp>
        <p:nvSpPr>
          <p:cNvPr id="37" name="Text 31"/>
          <p:cNvSpPr txBox="1"/>
          <p:nvPr/>
        </p:nvSpPr>
        <p:spPr>
          <a:xfrm>
            <a:off x="10135210" y="4919472"/>
            <a:ext cx="417881"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Skills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DCD9E4"/>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7750C1"/>
                </a:solidFill>
                <a:latin typeface="Open Sans" pitchFamily="34" charset="0"/>
                <a:ea typeface="Open Sans" pitchFamily="34" charset="-122"/>
                <a:cs typeface="Open Sans" pitchFamily="34" charset="-120"/>
              </a:rPr>
              <a:t>Chapter 3 · 1 ECTS · 30 h</a:t>
            </a:r>
            <a:endParaRPr lang="en-US" sz="1200" dirty="0"/>
          </a:p>
        </p:txBody>
      </p:sp>
      <p:sp>
        <p:nvSpPr>
          <p:cNvPr id="10" name="Text 8"/>
          <p:cNvSpPr txBox="1"/>
          <p:nvPr/>
        </p:nvSpPr>
        <p:spPr>
          <a:xfrm>
            <a:off x="609905" y="1095451"/>
            <a:ext cx="2883103" cy="400507"/>
          </a:xfrm>
          <a:prstGeom prst="rect">
            <a:avLst/>
          </a:prstGeom>
          <a:noFill/>
          <a:ln/>
        </p:spPr>
        <p:txBody>
          <a:bodyPr wrap="none" lIns="0" tIns="0" rIns="0" bIns="0" rtlCol="0" anchor="t"/>
          <a:lstStyle/>
          <a:p>
            <a:pPr algn="l" indent="0" marL="0">
              <a:lnSpc>
                <a:spcPts val="3150"/>
              </a:lnSpc>
              <a:buNone/>
            </a:pPr>
            <a:r>
              <a:rPr lang="en-US" sz="2889" b="1" spc="-60" kern="0" dirty="0">
                <a:solidFill>
                  <a:srgbClr val="141B3D"/>
                </a:solidFill>
                <a:latin typeface="Open Sans" pitchFamily="34" charset="0"/>
                <a:ea typeface="Open Sans" pitchFamily="34" charset="-122"/>
                <a:cs typeface="Open Sans" pitchFamily="34" charset="-120"/>
              </a:rPr>
              <a:t>Graphic Statics</a:t>
            </a:r>
            <a:endParaRPr lang="en-US" sz="2889" dirty="0"/>
          </a:p>
        </p:txBody>
      </p:sp>
      <p:sp>
        <p:nvSpPr>
          <p:cNvPr id="11" name="Shape 9"/>
          <p:cNvSpPr/>
          <p:nvPr/>
        </p:nvSpPr>
        <p:spPr>
          <a:xfrm>
            <a:off x="609905" y="1692554"/>
            <a:ext cx="51206" cy="51206"/>
          </a:xfrm>
          <a:prstGeom prst="rect">
            <a:avLst/>
          </a:prstGeom>
          <a:solidFill>
            <a:srgbClr val="7750C1"/>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7750C1"/>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7750C1"/>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07-icon01" descr="slide07-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203" y="3579876"/>
            <a:ext cx="1777594" cy="888797"/>
          </a:xfrm>
          <a:prstGeom prst="rect">
            <a:avLst/>
          </a:prstGeom>
        </p:spPr>
      </p:pic>
      <p:sp>
        <p:nvSpPr>
          <p:cNvPr id="18" name="Text 15"/>
          <p:cNvSpPr txBox="1"/>
          <p:nvPr/>
        </p:nvSpPr>
        <p:spPr>
          <a:xfrm>
            <a:off x="1427378" y="4564685"/>
            <a:ext cx="1717243" cy="213055"/>
          </a:xfrm>
          <a:prstGeom prst="rect">
            <a:avLst/>
          </a:prstGeom>
          <a:noFill/>
          <a:ln/>
        </p:spPr>
        <p:txBody>
          <a:bodyPr wrap="none" lIns="0" tIns="0" rIns="0" bIns="0" rtlCol="0" anchor="t"/>
          <a:lstStyle/>
          <a:p>
            <a:pPr algn="ctr" indent="0" marL="0">
              <a:lnSpc>
                <a:spcPts val="1680"/>
              </a:lnSpc>
              <a:buNone/>
            </a:pPr>
            <a:r>
              <a:rPr lang="en-US" sz="1360" b="1" dirty="0">
                <a:solidFill>
                  <a:srgbClr val="141B3D"/>
                </a:solidFill>
                <a:latin typeface="Open Sans" pitchFamily="34" charset="0"/>
                <a:ea typeface="Open Sans" pitchFamily="34" charset="-122"/>
                <a:cs typeface="Open Sans" pitchFamily="34" charset="-120"/>
              </a:rPr>
              <a:t>Cables and arches</a:t>
            </a:r>
            <a:endParaRPr lang="en-US" sz="1360" dirty="0"/>
          </a:p>
        </p:txBody>
      </p:sp>
      <p:pic>
        <p:nvPicPr>
          <p:cNvPr id="19" name="slide07-icon02" descr="slide07-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6594" y="3579876"/>
            <a:ext cx="1777594" cy="888797"/>
          </a:xfrm>
          <a:prstGeom prst="rect">
            <a:avLst/>
          </a:prstGeom>
        </p:spPr>
      </p:pic>
      <p:sp>
        <p:nvSpPr>
          <p:cNvPr id="20" name="Text 16"/>
          <p:cNvSpPr txBox="1"/>
          <p:nvPr/>
        </p:nvSpPr>
        <p:spPr>
          <a:xfrm>
            <a:off x="5725058" y="4564685"/>
            <a:ext cx="742493" cy="213055"/>
          </a:xfrm>
          <a:prstGeom prst="rect">
            <a:avLst/>
          </a:prstGeom>
          <a:noFill/>
          <a:ln/>
        </p:spPr>
        <p:txBody>
          <a:bodyPr wrap="none" lIns="0" tIns="0" rIns="0" bIns="0" rtlCol="0" anchor="t"/>
          <a:lstStyle/>
          <a:p>
            <a:pPr algn="ctr" indent="0" marL="0">
              <a:lnSpc>
                <a:spcPts val="1680"/>
              </a:lnSpc>
              <a:buNone/>
            </a:pPr>
            <a:r>
              <a:rPr lang="en-US" sz="1361" b="1" dirty="0">
                <a:solidFill>
                  <a:srgbClr val="141B3D"/>
                </a:solidFill>
                <a:latin typeface="Open Sans" pitchFamily="34" charset="0"/>
                <a:ea typeface="Open Sans" pitchFamily="34" charset="-122"/>
                <a:cs typeface="Open Sans" pitchFamily="34" charset="-120"/>
              </a:rPr>
              <a:t>Trusses</a:t>
            </a:r>
            <a:endParaRPr lang="en-US" sz="1361" dirty="0"/>
          </a:p>
        </p:txBody>
      </p:sp>
      <p:pic>
        <p:nvPicPr>
          <p:cNvPr id="21" name="slide07-icon03" descr="slide07-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16898" y="3579876"/>
            <a:ext cx="1777594" cy="888797"/>
          </a:xfrm>
          <a:prstGeom prst="rect">
            <a:avLst/>
          </a:prstGeom>
        </p:spPr>
      </p:pic>
      <p:sp>
        <p:nvSpPr>
          <p:cNvPr id="22" name="Text 17"/>
          <p:cNvSpPr txBox="1"/>
          <p:nvPr/>
        </p:nvSpPr>
        <p:spPr>
          <a:xfrm>
            <a:off x="9330538" y="4564685"/>
            <a:ext cx="1151230" cy="213055"/>
          </a:xfrm>
          <a:prstGeom prst="rect">
            <a:avLst/>
          </a:prstGeom>
          <a:noFill/>
          <a:ln/>
        </p:spPr>
        <p:txBody>
          <a:bodyPr wrap="none" lIns="0" tIns="0" rIns="0" bIns="0" rtlCol="0" anchor="t"/>
          <a:lstStyle/>
          <a:p>
            <a:pPr algn="ctr" indent="0" marL="0">
              <a:lnSpc>
                <a:spcPts val="1680"/>
              </a:lnSpc>
              <a:buNone/>
            </a:pPr>
            <a:r>
              <a:rPr lang="en-US" sz="1369" b="1" dirty="0">
                <a:solidFill>
                  <a:srgbClr val="141B3D"/>
                </a:solidFill>
                <a:latin typeface="Open Sans" pitchFamily="34" charset="0"/>
                <a:ea typeface="Open Sans" pitchFamily="34" charset="-122"/>
                <a:cs typeface="Open Sans" pitchFamily="34" charset="-120"/>
              </a:rPr>
              <a:t>compas_ags</a:t>
            </a:r>
            <a:endParaRPr lang="en-US" sz="136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934ABD"/>
                </a:solidFill>
                <a:latin typeface="Open Sans" pitchFamily="34" charset="0"/>
                <a:ea typeface="Open Sans" pitchFamily="34" charset="-122"/>
                <a:cs typeface="Open Sans" pitchFamily="34" charset="-120"/>
              </a:rPr>
              <a:t>Chapter 4 · 1 ECTS · 30 h</a:t>
            </a:r>
            <a:endParaRPr lang="en-US" sz="1200" dirty="0"/>
          </a:p>
        </p:txBody>
      </p:sp>
      <p:sp>
        <p:nvSpPr>
          <p:cNvPr id="10" name="Text 8"/>
          <p:cNvSpPr txBox="1"/>
          <p:nvPr/>
        </p:nvSpPr>
        <p:spPr>
          <a:xfrm>
            <a:off x="609905" y="1095451"/>
            <a:ext cx="2542032" cy="400507"/>
          </a:xfrm>
          <a:prstGeom prst="rect">
            <a:avLst/>
          </a:prstGeom>
          <a:noFill/>
          <a:ln/>
        </p:spPr>
        <p:txBody>
          <a:bodyPr wrap="none" lIns="0" tIns="0" rIns="0" bIns="0" rtlCol="0" anchor="t"/>
          <a:lstStyle/>
          <a:p>
            <a:pPr algn="l" indent="0" marL="0">
              <a:lnSpc>
                <a:spcPts val="3150"/>
              </a:lnSpc>
              <a:buNone/>
            </a:pPr>
            <a:r>
              <a:rPr lang="en-US" sz="2904" b="1" spc="-60" kern="0" dirty="0">
                <a:solidFill>
                  <a:srgbClr val="141B3D"/>
                </a:solidFill>
                <a:latin typeface="Open Sans" pitchFamily="34" charset="0"/>
                <a:ea typeface="Open Sans" pitchFamily="34" charset="-122"/>
                <a:cs typeface="Open Sans" pitchFamily="34" charset="-120"/>
              </a:rPr>
              <a:t>Form Finding</a:t>
            </a:r>
            <a:endParaRPr lang="en-US" sz="2904" dirty="0"/>
          </a:p>
        </p:txBody>
      </p:sp>
      <p:sp>
        <p:nvSpPr>
          <p:cNvPr id="11" name="Shape 9"/>
          <p:cNvSpPr/>
          <p:nvPr/>
        </p:nvSpPr>
        <p:spPr>
          <a:xfrm>
            <a:off x="609905" y="1692554"/>
            <a:ext cx="51206" cy="51206"/>
          </a:xfrm>
          <a:prstGeom prst="rect">
            <a:avLst/>
          </a:prstGeom>
          <a:solidFill>
            <a:srgbClr val="934ABD"/>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934ABD"/>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934ABD"/>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08-icon01" descr="slide08-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203" y="3579876"/>
            <a:ext cx="1777594" cy="888797"/>
          </a:xfrm>
          <a:prstGeom prst="rect">
            <a:avLst/>
          </a:prstGeom>
        </p:spPr>
      </p:pic>
      <p:sp>
        <p:nvSpPr>
          <p:cNvPr id="18" name="Text 15"/>
          <p:cNvSpPr txBox="1"/>
          <p:nvPr/>
        </p:nvSpPr>
        <p:spPr>
          <a:xfrm>
            <a:off x="1648663" y="4564685"/>
            <a:ext cx="1274674" cy="213055"/>
          </a:xfrm>
          <a:prstGeom prst="rect">
            <a:avLst/>
          </a:prstGeom>
          <a:noFill/>
          <a:ln/>
        </p:spPr>
        <p:txBody>
          <a:bodyPr wrap="none" lIns="0" tIns="0" rIns="0" bIns="0" rtlCol="0" anchor="t"/>
          <a:lstStyle/>
          <a:p>
            <a:pPr algn="ctr" indent="0" marL="0">
              <a:lnSpc>
                <a:spcPts val="1680"/>
              </a:lnSpc>
              <a:buNone/>
            </a:pPr>
            <a:r>
              <a:rPr lang="en-US" sz="1351" b="1" dirty="0">
                <a:solidFill>
                  <a:srgbClr val="141B3D"/>
                </a:solidFill>
                <a:latin typeface="Open Sans" pitchFamily="34" charset="0"/>
                <a:ea typeface="Open Sans" pitchFamily="34" charset="-122"/>
                <a:cs typeface="Open Sans" pitchFamily="34" charset="-120"/>
              </a:rPr>
              <a:t>Force density</a:t>
            </a:r>
            <a:endParaRPr lang="en-US" sz="1351" dirty="0"/>
          </a:p>
        </p:txBody>
      </p:sp>
      <p:pic>
        <p:nvPicPr>
          <p:cNvPr id="19" name="slide08-icon02" descr="slide08-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6594" y="3579876"/>
            <a:ext cx="1777594" cy="888797"/>
          </a:xfrm>
          <a:prstGeom prst="rect">
            <a:avLst/>
          </a:prstGeom>
        </p:spPr>
      </p:pic>
      <p:sp>
        <p:nvSpPr>
          <p:cNvPr id="20" name="Text 16"/>
          <p:cNvSpPr txBox="1"/>
          <p:nvPr/>
        </p:nvSpPr>
        <p:spPr>
          <a:xfrm>
            <a:off x="5175504" y="4564685"/>
            <a:ext cx="1841602" cy="213055"/>
          </a:xfrm>
          <a:prstGeom prst="rect">
            <a:avLst/>
          </a:prstGeom>
          <a:noFill/>
          <a:ln/>
        </p:spPr>
        <p:txBody>
          <a:bodyPr wrap="none" lIns="0" tIns="0" rIns="0" bIns="0" rtlCol="0" anchor="t"/>
          <a:lstStyle/>
          <a:p>
            <a:pPr algn="ctr" indent="0" marL="0">
              <a:lnSpc>
                <a:spcPts val="1680"/>
              </a:lnSpc>
              <a:buNone/>
            </a:pPr>
            <a:r>
              <a:rPr lang="en-US" sz="1344" b="1" dirty="0">
                <a:solidFill>
                  <a:srgbClr val="141B3D"/>
                </a:solidFill>
                <a:latin typeface="Open Sans" pitchFamily="34" charset="0"/>
                <a:ea typeface="Open Sans" pitchFamily="34" charset="-122"/>
                <a:cs typeface="Open Sans" pitchFamily="34" charset="-120"/>
              </a:rPr>
              <a:t>Dynamic relaxation</a:t>
            </a:r>
            <a:endParaRPr lang="en-US" sz="1344" dirty="0"/>
          </a:p>
        </p:txBody>
      </p:sp>
      <p:pic>
        <p:nvPicPr>
          <p:cNvPr id="21" name="slide08-icon03" descr="slide08-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16898" y="3579876"/>
            <a:ext cx="1777594" cy="888797"/>
          </a:xfrm>
          <a:prstGeom prst="rect">
            <a:avLst/>
          </a:prstGeom>
        </p:spPr>
      </p:pic>
      <p:sp>
        <p:nvSpPr>
          <p:cNvPr id="22" name="Text 17"/>
          <p:cNvSpPr txBox="1"/>
          <p:nvPr/>
        </p:nvSpPr>
        <p:spPr>
          <a:xfrm>
            <a:off x="9295790" y="4564685"/>
            <a:ext cx="1219810" cy="213055"/>
          </a:xfrm>
          <a:prstGeom prst="rect">
            <a:avLst/>
          </a:prstGeom>
          <a:noFill/>
          <a:ln/>
        </p:spPr>
        <p:txBody>
          <a:bodyPr wrap="none" lIns="0" tIns="0" rIns="0" bIns="0" rtlCol="0" anchor="t"/>
          <a:lstStyle/>
          <a:p>
            <a:pPr algn="ctr" indent="0" marL="0">
              <a:lnSpc>
                <a:spcPts val="1680"/>
              </a:lnSpc>
              <a:buNone/>
            </a:pPr>
            <a:r>
              <a:rPr lang="en-US" sz="1352" b="1" dirty="0">
                <a:solidFill>
                  <a:srgbClr val="141B3D"/>
                </a:solidFill>
                <a:latin typeface="Open Sans" pitchFamily="34" charset="0"/>
                <a:ea typeface="Open Sans" pitchFamily="34" charset="-122"/>
                <a:cs typeface="Open Sans" pitchFamily="34" charset="-120"/>
              </a:rPr>
              <a:t>Form finding</a:t>
            </a:r>
            <a:endParaRPr lang="en-US" sz="13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AE4BB2"/>
                </a:solidFill>
                <a:latin typeface="Open Sans" pitchFamily="34" charset="0"/>
                <a:ea typeface="Open Sans" pitchFamily="34" charset="-122"/>
                <a:cs typeface="Open Sans" pitchFamily="34" charset="-120"/>
              </a:rPr>
              <a:t>Chapter 5 · 1 ECTS · 30 h</a:t>
            </a:r>
            <a:endParaRPr lang="en-US" sz="1200" dirty="0"/>
          </a:p>
        </p:txBody>
      </p:sp>
      <p:sp>
        <p:nvSpPr>
          <p:cNvPr id="10" name="Text 8"/>
          <p:cNvSpPr txBox="1"/>
          <p:nvPr/>
        </p:nvSpPr>
        <p:spPr>
          <a:xfrm>
            <a:off x="609905" y="1095451"/>
            <a:ext cx="4702759" cy="400507"/>
          </a:xfrm>
          <a:prstGeom prst="rect">
            <a:avLst/>
          </a:prstGeom>
          <a:noFill/>
          <a:ln/>
        </p:spPr>
        <p:txBody>
          <a:bodyPr wrap="none" lIns="0" tIns="0" rIns="0" bIns="0" rtlCol="0" anchor="t"/>
          <a:lstStyle/>
          <a:p>
            <a:pPr algn="l" indent="0" marL="0">
              <a:lnSpc>
                <a:spcPts val="3150"/>
              </a:lnSpc>
              <a:buNone/>
            </a:pPr>
            <a:r>
              <a:rPr lang="en-US" sz="2875" b="1" spc="-60" kern="0" dirty="0">
                <a:solidFill>
                  <a:srgbClr val="141B3D"/>
                </a:solidFill>
                <a:latin typeface="Open Sans" pitchFamily="34" charset="0"/>
                <a:ea typeface="Open Sans" pitchFamily="34" charset="-122"/>
                <a:cs typeface="Open Sans" pitchFamily="34" charset="-120"/>
              </a:rPr>
              <a:t>Thrust Network Analysis</a:t>
            </a:r>
            <a:endParaRPr lang="en-US" sz="2875" dirty="0"/>
          </a:p>
        </p:txBody>
      </p:sp>
      <p:sp>
        <p:nvSpPr>
          <p:cNvPr id="11" name="Shape 9"/>
          <p:cNvSpPr/>
          <p:nvPr/>
        </p:nvSpPr>
        <p:spPr>
          <a:xfrm>
            <a:off x="609905" y="1692554"/>
            <a:ext cx="51206" cy="51206"/>
          </a:xfrm>
          <a:prstGeom prst="rect">
            <a:avLst/>
          </a:prstGeom>
          <a:solidFill>
            <a:srgbClr val="AE4BB2"/>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AE4BB2"/>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AE4BB2"/>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09-icon01" descr="slide09-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203" y="3579876"/>
            <a:ext cx="1777594" cy="888797"/>
          </a:xfrm>
          <a:prstGeom prst="rect">
            <a:avLst/>
          </a:prstGeom>
        </p:spPr>
      </p:pic>
      <p:sp>
        <p:nvSpPr>
          <p:cNvPr id="18" name="Text 15"/>
          <p:cNvSpPr txBox="1"/>
          <p:nvPr/>
        </p:nvSpPr>
        <p:spPr>
          <a:xfrm>
            <a:off x="1133856" y="4564685"/>
            <a:ext cx="2303374" cy="213055"/>
          </a:xfrm>
          <a:prstGeom prst="rect">
            <a:avLst/>
          </a:prstGeom>
          <a:noFill/>
          <a:ln/>
        </p:spPr>
        <p:txBody>
          <a:bodyPr wrap="none" lIns="0" tIns="0" rIns="0" bIns="0" rtlCol="0" anchor="t"/>
          <a:lstStyle/>
          <a:p>
            <a:pPr algn="ctr" indent="0" marL="0">
              <a:lnSpc>
                <a:spcPts val="1680"/>
              </a:lnSpc>
              <a:buNone/>
            </a:pPr>
            <a:r>
              <a:rPr lang="en-US" sz="1342" b="1" dirty="0">
                <a:solidFill>
                  <a:srgbClr val="141B3D"/>
                </a:solidFill>
                <a:latin typeface="Open Sans" pitchFamily="34" charset="0"/>
                <a:ea typeface="Open Sans" pitchFamily="34" charset="-122"/>
                <a:cs typeface="Open Sans" pitchFamily="34" charset="-120"/>
              </a:rPr>
              <a:t>Thrust Network Analysis</a:t>
            </a:r>
            <a:endParaRPr lang="en-US" sz="1342" dirty="0"/>
          </a:p>
        </p:txBody>
      </p:sp>
      <p:pic>
        <p:nvPicPr>
          <p:cNvPr id="19" name="slide09-icon02" descr="slide09-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6594" y="3576218"/>
            <a:ext cx="1777594" cy="892454"/>
          </a:xfrm>
          <a:prstGeom prst="rect">
            <a:avLst/>
          </a:prstGeom>
        </p:spPr>
      </p:pic>
      <p:sp>
        <p:nvSpPr>
          <p:cNvPr id="20" name="Text 16"/>
          <p:cNvSpPr txBox="1"/>
          <p:nvPr/>
        </p:nvSpPr>
        <p:spPr>
          <a:xfrm>
            <a:off x="4718304" y="4564685"/>
            <a:ext cx="2755087" cy="213055"/>
          </a:xfrm>
          <a:prstGeom prst="rect">
            <a:avLst/>
          </a:prstGeom>
          <a:noFill/>
          <a:ln/>
        </p:spPr>
        <p:txBody>
          <a:bodyPr wrap="none" lIns="0" tIns="0" rIns="0" bIns="0" rtlCol="0" anchor="t"/>
          <a:lstStyle/>
          <a:p>
            <a:pPr algn="ctr" indent="0" marL="0">
              <a:lnSpc>
                <a:spcPts val="1680"/>
              </a:lnSpc>
              <a:buNone/>
            </a:pPr>
            <a:r>
              <a:rPr lang="en-US" sz="1343" b="1" dirty="0">
                <a:solidFill>
                  <a:srgbClr val="141B3D"/>
                </a:solidFill>
                <a:latin typeface="Open Sans" pitchFamily="34" charset="0"/>
                <a:ea typeface="Open Sans" pitchFamily="34" charset="-122"/>
                <a:cs typeface="Open Sans" pitchFamily="34" charset="-120"/>
              </a:rPr>
              <a:t>Thrust Network Optimization</a:t>
            </a:r>
            <a:endParaRPr lang="en-US" sz="1343" dirty="0"/>
          </a:p>
        </p:txBody>
      </p:sp>
      <p:pic>
        <p:nvPicPr>
          <p:cNvPr id="21" name="slide09-icon03" descr="slide09-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16898" y="3579876"/>
            <a:ext cx="1777594" cy="888797"/>
          </a:xfrm>
          <a:prstGeom prst="rect">
            <a:avLst/>
          </a:prstGeom>
        </p:spPr>
      </p:pic>
      <p:sp>
        <p:nvSpPr>
          <p:cNvPr id="22" name="Text 17"/>
          <p:cNvSpPr txBox="1"/>
          <p:nvPr/>
        </p:nvSpPr>
        <p:spPr>
          <a:xfrm>
            <a:off x="8617306" y="4564685"/>
            <a:ext cx="2577694" cy="213055"/>
          </a:xfrm>
          <a:prstGeom prst="rect">
            <a:avLst/>
          </a:prstGeom>
          <a:noFill/>
          <a:ln/>
        </p:spPr>
        <p:txBody>
          <a:bodyPr wrap="none" lIns="0" tIns="0" rIns="0" bIns="0" rtlCol="0" anchor="t"/>
          <a:lstStyle/>
          <a:p>
            <a:pPr algn="ctr" indent="0" marL="0">
              <a:lnSpc>
                <a:spcPts val="1680"/>
              </a:lnSpc>
              <a:buNone/>
            </a:pPr>
            <a:r>
              <a:rPr lang="en-US" sz="1352" b="1" dirty="0">
                <a:solidFill>
                  <a:srgbClr val="141B3D"/>
                </a:solidFill>
                <a:latin typeface="Open Sans" pitchFamily="34" charset="0"/>
                <a:ea typeface="Open Sans" pitchFamily="34" charset="-122"/>
                <a:cs typeface="Open Sans" pitchFamily="34" charset="-120"/>
              </a:rPr>
              <a:t>Discrete Element Modelling</a:t>
            </a:r>
            <a:endParaRPr lang="en-US" sz="13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CA49A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Chapter 6 · 1 ECTS · 30 h</a:t>
            </a:r>
            <a:endParaRPr lang="en-US" sz="1200" dirty="0"/>
          </a:p>
        </p:txBody>
      </p:sp>
      <p:sp>
        <p:nvSpPr>
          <p:cNvPr id="10" name="Text 8"/>
          <p:cNvSpPr txBox="1"/>
          <p:nvPr/>
        </p:nvSpPr>
        <p:spPr>
          <a:xfrm>
            <a:off x="609905" y="1095451"/>
            <a:ext cx="6301130" cy="400507"/>
          </a:xfrm>
          <a:prstGeom prst="rect">
            <a:avLst/>
          </a:prstGeom>
          <a:noFill/>
          <a:ln/>
        </p:spPr>
        <p:txBody>
          <a:bodyPr wrap="none" lIns="0" tIns="0" rIns="0" bIns="0" rtlCol="0" anchor="t"/>
          <a:lstStyle/>
          <a:p>
            <a:pPr algn="l" indent="0" marL="0">
              <a:lnSpc>
                <a:spcPts val="3150"/>
              </a:lnSpc>
              <a:buNone/>
            </a:pPr>
            <a:r>
              <a:rPr lang="en-US" sz="2866" b="1" spc="-60" kern="0" dirty="0">
                <a:solidFill>
                  <a:srgbClr val="141B3D"/>
                </a:solidFill>
                <a:latin typeface="Open Sans" pitchFamily="34" charset="0"/>
                <a:ea typeface="Open Sans" pitchFamily="34" charset="-122"/>
                <a:cs typeface="Open Sans" pitchFamily="34" charset="-120"/>
              </a:rPr>
              <a:t>Materialization / Constructability</a:t>
            </a:r>
            <a:endParaRPr lang="en-US" sz="2866" dirty="0"/>
          </a:p>
        </p:txBody>
      </p:sp>
      <p:sp>
        <p:nvSpPr>
          <p:cNvPr id="11" name="Shape 9"/>
          <p:cNvSpPr/>
          <p:nvPr/>
        </p:nvSpPr>
        <p:spPr>
          <a:xfrm>
            <a:off x="609905" y="1692554"/>
            <a:ext cx="51206" cy="51206"/>
          </a:xfrm>
          <a:prstGeom prst="rect">
            <a:avLst/>
          </a:prstGeom>
          <a:solidFill>
            <a:srgbClr val="CA49A4"/>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CA49A4"/>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CA49A4"/>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10-icon01" descr="slide10-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33195" y="3483864"/>
            <a:ext cx="1904695" cy="1079906"/>
          </a:xfrm>
          <a:prstGeom prst="rect">
            <a:avLst/>
          </a:prstGeom>
        </p:spPr>
      </p:pic>
      <p:sp>
        <p:nvSpPr>
          <p:cNvPr id="18" name="Text 15"/>
          <p:cNvSpPr txBox="1"/>
          <p:nvPr/>
        </p:nvSpPr>
        <p:spPr>
          <a:xfrm>
            <a:off x="1566367" y="4660697"/>
            <a:ext cx="1440180" cy="213055"/>
          </a:xfrm>
          <a:prstGeom prst="rect">
            <a:avLst/>
          </a:prstGeom>
          <a:noFill/>
          <a:ln/>
        </p:spPr>
        <p:txBody>
          <a:bodyPr wrap="none" lIns="0" tIns="0" rIns="0" bIns="0" rtlCol="0" anchor="t"/>
          <a:lstStyle/>
          <a:p>
            <a:pPr algn="ctr" indent="0" marL="0">
              <a:lnSpc>
                <a:spcPts val="1680"/>
              </a:lnSpc>
              <a:buNone/>
            </a:pPr>
            <a:r>
              <a:rPr lang="en-US" sz="1336" b="1" dirty="0">
                <a:solidFill>
                  <a:srgbClr val="141B3D"/>
                </a:solidFill>
                <a:latin typeface="Open Sans" pitchFamily="34" charset="0"/>
                <a:ea typeface="Open Sans" pitchFamily="34" charset="-122"/>
                <a:cs typeface="Open Sans" pitchFamily="34" charset="-120"/>
              </a:rPr>
              <a:t>Materialization</a:t>
            </a:r>
            <a:endParaRPr lang="en-US" sz="1336" dirty="0"/>
          </a:p>
        </p:txBody>
      </p:sp>
      <p:pic>
        <p:nvPicPr>
          <p:cNvPr id="19" name="slide10-icon02" descr="slide10-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6594" y="3674974"/>
            <a:ext cx="1777594" cy="888797"/>
          </a:xfrm>
          <a:prstGeom prst="rect">
            <a:avLst/>
          </a:prstGeom>
        </p:spPr>
      </p:pic>
      <p:sp>
        <p:nvSpPr>
          <p:cNvPr id="20" name="Text 16"/>
          <p:cNvSpPr txBox="1"/>
          <p:nvPr/>
        </p:nvSpPr>
        <p:spPr>
          <a:xfrm>
            <a:off x="5788152" y="4660697"/>
            <a:ext cx="616306" cy="213055"/>
          </a:xfrm>
          <a:prstGeom prst="rect">
            <a:avLst/>
          </a:prstGeom>
          <a:noFill/>
          <a:ln/>
        </p:spPr>
        <p:txBody>
          <a:bodyPr wrap="none" lIns="0" tIns="0" rIns="0" bIns="0" rtlCol="0" anchor="t"/>
          <a:lstStyle/>
          <a:p>
            <a:pPr algn="ctr" indent="0" marL="0">
              <a:lnSpc>
                <a:spcPts val="1680"/>
              </a:lnSpc>
              <a:buNone/>
            </a:pPr>
            <a:r>
              <a:rPr lang="en-US" sz="1363" b="1" dirty="0">
                <a:solidFill>
                  <a:srgbClr val="141B3D"/>
                </a:solidFill>
                <a:latin typeface="Open Sans" pitchFamily="34" charset="0"/>
                <a:ea typeface="Open Sans" pitchFamily="34" charset="-122"/>
                <a:cs typeface="Open Sans" pitchFamily="34" charset="-120"/>
              </a:rPr>
              <a:t>Model</a:t>
            </a:r>
            <a:endParaRPr lang="en-US" sz="1363" dirty="0"/>
          </a:p>
        </p:txBody>
      </p:sp>
      <p:pic>
        <p:nvPicPr>
          <p:cNvPr id="21" name="slide10-icon03" descr="slide10-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305" y="3674974"/>
            <a:ext cx="948233" cy="888797"/>
          </a:xfrm>
          <a:prstGeom prst="rect">
            <a:avLst/>
          </a:prstGeom>
        </p:spPr>
      </p:pic>
      <p:pic>
        <p:nvPicPr>
          <p:cNvPr id="22" name="slide10-icon04" descr="slide10-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32036" y="3674974"/>
            <a:ext cx="948233" cy="888797"/>
          </a:xfrm>
          <a:prstGeom prst="rect">
            <a:avLst/>
          </a:prstGeom>
        </p:spPr>
      </p:pic>
      <p:pic>
        <p:nvPicPr>
          <p:cNvPr id="23" name="slide10-icon05" descr="slide10-icon0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81767" y="3674974"/>
            <a:ext cx="948233" cy="888797"/>
          </a:xfrm>
          <a:prstGeom prst="rect">
            <a:avLst/>
          </a:prstGeom>
        </p:spPr>
      </p:pic>
      <p:sp>
        <p:nvSpPr>
          <p:cNvPr id="24" name="Text 17"/>
          <p:cNvSpPr txBox="1"/>
          <p:nvPr/>
        </p:nvSpPr>
        <p:spPr>
          <a:xfrm>
            <a:off x="9327794" y="4660697"/>
            <a:ext cx="1156716" cy="213055"/>
          </a:xfrm>
          <a:prstGeom prst="rect">
            <a:avLst/>
          </a:prstGeom>
          <a:noFill/>
          <a:ln/>
        </p:spPr>
        <p:txBody>
          <a:bodyPr wrap="none" lIns="0" tIns="0" rIns="0" bIns="0" rtlCol="0" anchor="t"/>
          <a:lstStyle/>
          <a:p>
            <a:pPr algn="ctr" indent="0" marL="0">
              <a:lnSpc>
                <a:spcPts val="1680"/>
              </a:lnSpc>
              <a:buNone/>
            </a:pPr>
            <a:r>
              <a:rPr lang="en-US" sz="1338" b="1" dirty="0">
                <a:solidFill>
                  <a:srgbClr val="141B3D"/>
                </a:solidFill>
                <a:latin typeface="Open Sans" pitchFamily="34" charset="0"/>
                <a:ea typeface="Open Sans" pitchFamily="34" charset="-122"/>
                <a:cs typeface="Open Sans" pitchFamily="34" charset="-120"/>
              </a:rPr>
              <a:t>Interactions</a:t>
            </a:r>
            <a:endParaRPr lang="en-US" sz="13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CA49A4"/>
          </a:solidFill>
          <a:ln/>
        </p:spPr>
      </p:sp>
      <p:sp>
        <p:nvSpPr>
          <p:cNvPr id="8" name="Shape 6"/>
          <p:cNvSpPr/>
          <p:nvPr/>
        </p:nvSpPr>
        <p:spPr>
          <a:xfrm>
            <a:off x="10058400" y="558698"/>
            <a:ext cx="1524305" cy="88697"/>
          </a:xfrm>
          <a:prstGeom prst="rect">
            <a:avLst/>
          </a:prstGeom>
          <a:solidFill>
            <a:srgbClr val="DC4B8D"/>
          </a:solidFill>
          <a:ln/>
        </p:spPr>
      </p:sp>
      <p:sp>
        <p:nvSpPr>
          <p:cNvPr id="9" name="Text 7"/>
          <p:cNvSpPr txBox="1"/>
          <p:nvPr/>
        </p:nvSpPr>
        <p:spPr>
          <a:xfrm>
            <a:off x="609905" y="788213"/>
            <a:ext cx="4135831" cy="207569"/>
          </a:xfrm>
          <a:prstGeom prst="rect">
            <a:avLst/>
          </a:prstGeom>
          <a:noFill/>
          <a:ln/>
        </p:spPr>
        <p:txBody>
          <a:bodyPr wrap="none" lIns="0" tIns="0" rIns="0" bIns="0" rtlCol="0" anchor="t"/>
          <a:lstStyle/>
          <a:p>
            <a:pPr algn="l" indent="0" marL="0">
              <a:lnSpc>
                <a:spcPts val="1634"/>
              </a:lnSpc>
              <a:buNone/>
            </a:pPr>
            <a:r>
              <a:rPr lang="en-US" sz="1200" dirty="0">
                <a:solidFill>
                  <a:srgbClr val="DC4B8D"/>
                </a:solidFill>
                <a:latin typeface="Open Sans" pitchFamily="34" charset="0"/>
                <a:ea typeface="Open Sans" pitchFamily="34" charset="-122"/>
                <a:cs typeface="Open Sans" pitchFamily="34" charset="-120"/>
              </a:rPr>
              <a:t>Chapter 7 · 4 ECTS · 120 h · runs across the full course</a:t>
            </a:r>
            <a:endParaRPr lang="en-US" sz="1200" dirty="0"/>
          </a:p>
        </p:txBody>
      </p:sp>
      <p:sp>
        <p:nvSpPr>
          <p:cNvPr id="10" name="Text 8"/>
          <p:cNvSpPr txBox="1"/>
          <p:nvPr/>
        </p:nvSpPr>
        <p:spPr>
          <a:xfrm>
            <a:off x="609905" y="1095451"/>
            <a:ext cx="3361334" cy="400507"/>
          </a:xfrm>
          <a:prstGeom prst="rect">
            <a:avLst/>
          </a:prstGeom>
          <a:noFill/>
          <a:ln/>
        </p:spPr>
        <p:txBody>
          <a:bodyPr wrap="none" lIns="0" tIns="0" rIns="0" bIns="0" rtlCol="0" anchor="t"/>
          <a:lstStyle/>
          <a:p>
            <a:pPr algn="l" indent="0" marL="0">
              <a:lnSpc>
                <a:spcPts val="3150"/>
              </a:lnSpc>
              <a:buNone/>
            </a:pPr>
            <a:r>
              <a:rPr lang="en-US" sz="2874" b="1" spc="-60" kern="0" dirty="0">
                <a:solidFill>
                  <a:srgbClr val="141B3D"/>
                </a:solidFill>
                <a:latin typeface="Open Sans" pitchFamily="34" charset="0"/>
                <a:ea typeface="Open Sans" pitchFamily="34" charset="-122"/>
                <a:cs typeface="Open Sans" pitchFamily="34" charset="-120"/>
              </a:rPr>
              <a:t>Individual Project</a:t>
            </a:r>
            <a:endParaRPr lang="en-US" sz="2874" dirty="0"/>
          </a:p>
        </p:txBody>
      </p:sp>
      <p:sp>
        <p:nvSpPr>
          <p:cNvPr id="11" name="Shape 9"/>
          <p:cNvSpPr/>
          <p:nvPr/>
        </p:nvSpPr>
        <p:spPr>
          <a:xfrm>
            <a:off x="609905" y="1692554"/>
            <a:ext cx="51206" cy="51206"/>
          </a:xfrm>
          <a:prstGeom prst="rect">
            <a:avLst/>
          </a:prstGeom>
          <a:solidFill>
            <a:srgbClr val="DC4B8D"/>
          </a:solidFill>
          <a:ln/>
        </p:spPr>
      </p:sp>
      <p:sp>
        <p:nvSpPr>
          <p:cNvPr id="12" name="Text 10"/>
          <p:cNvSpPr txBox="1"/>
          <p:nvPr/>
        </p:nvSpPr>
        <p:spPr>
          <a:xfrm>
            <a:off x="724205" y="1613916"/>
            <a:ext cx="990295"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Introduction</a:t>
            </a:r>
            <a:endParaRPr lang="en-US" sz="1200" dirty="0"/>
          </a:p>
        </p:txBody>
      </p:sp>
      <p:sp>
        <p:nvSpPr>
          <p:cNvPr id="13" name="Shape 11"/>
          <p:cNvSpPr/>
          <p:nvPr/>
        </p:nvSpPr>
        <p:spPr>
          <a:xfrm>
            <a:off x="1783994" y="1692554"/>
            <a:ext cx="51206" cy="51206"/>
          </a:xfrm>
          <a:prstGeom prst="rect">
            <a:avLst/>
          </a:prstGeom>
          <a:solidFill>
            <a:srgbClr val="DC4B8D"/>
          </a:solidFill>
          <a:ln/>
        </p:spPr>
      </p:sp>
      <p:sp>
        <p:nvSpPr>
          <p:cNvPr id="14" name="Text 12"/>
          <p:cNvSpPr txBox="1"/>
          <p:nvPr/>
        </p:nvSpPr>
        <p:spPr>
          <a:xfrm>
            <a:off x="1898294" y="1613916"/>
            <a:ext cx="70774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Tutorials</a:t>
            </a:r>
            <a:endParaRPr lang="en-US" sz="1200" dirty="0"/>
          </a:p>
        </p:txBody>
      </p:sp>
      <p:sp>
        <p:nvSpPr>
          <p:cNvPr id="15" name="Shape 13"/>
          <p:cNvSpPr/>
          <p:nvPr/>
        </p:nvSpPr>
        <p:spPr>
          <a:xfrm>
            <a:off x="2695651" y="1692554"/>
            <a:ext cx="51206" cy="51206"/>
          </a:xfrm>
          <a:prstGeom prst="rect">
            <a:avLst/>
          </a:prstGeom>
          <a:solidFill>
            <a:srgbClr val="DC4B8D"/>
          </a:solidFill>
          <a:ln/>
        </p:spPr>
      </p:sp>
      <p:sp>
        <p:nvSpPr>
          <p:cNvPr id="16" name="Text 14"/>
          <p:cNvSpPr txBox="1"/>
          <p:nvPr/>
        </p:nvSpPr>
        <p:spPr>
          <a:xfrm>
            <a:off x="2809951" y="1613916"/>
            <a:ext cx="74523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Exercises</a:t>
            </a:r>
            <a:endParaRPr lang="en-US" sz="1200" dirty="0"/>
          </a:p>
        </p:txBody>
      </p:sp>
      <p:pic>
        <p:nvPicPr>
          <p:cNvPr id="17" name="slide11-icon01" descr="slide11-icon0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6539" y="3186684"/>
            <a:ext cx="1524305" cy="901598"/>
          </a:xfrm>
          <a:prstGeom prst="rect">
            <a:avLst/>
          </a:prstGeom>
        </p:spPr>
      </p:pic>
      <p:sp>
        <p:nvSpPr>
          <p:cNvPr id="18" name="Text 15"/>
          <p:cNvSpPr txBox="1"/>
          <p:nvPr/>
        </p:nvSpPr>
        <p:spPr>
          <a:xfrm>
            <a:off x="1304849"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01</a:t>
            </a:r>
            <a:endParaRPr lang="en-US" sz="1200" dirty="0"/>
          </a:p>
        </p:txBody>
      </p:sp>
      <p:sp>
        <p:nvSpPr>
          <p:cNvPr id="19" name="Text 16"/>
          <p:cNvSpPr txBox="1"/>
          <p:nvPr/>
        </p:nvSpPr>
        <p:spPr>
          <a:xfrm>
            <a:off x="542239" y="4457700"/>
            <a:ext cx="1751076" cy="213055"/>
          </a:xfrm>
          <a:prstGeom prst="rect">
            <a:avLst/>
          </a:prstGeom>
          <a:noFill/>
          <a:ln/>
        </p:spPr>
        <p:txBody>
          <a:bodyPr wrap="none" lIns="0" tIns="0" rIns="0" bIns="0" rtlCol="0" anchor="t"/>
          <a:lstStyle/>
          <a:p>
            <a:pPr algn="ctr" indent="0" marL="0">
              <a:lnSpc>
                <a:spcPts val="1680"/>
              </a:lnSpc>
              <a:buNone/>
            </a:pPr>
            <a:r>
              <a:rPr lang="en-US" sz="1355" b="1" dirty="0">
                <a:solidFill>
                  <a:srgbClr val="141B3D"/>
                </a:solidFill>
                <a:latin typeface="Open Sans" pitchFamily="34" charset="0"/>
                <a:ea typeface="Open Sans" pitchFamily="34" charset="-122"/>
                <a:cs typeface="Open Sans" pitchFamily="34" charset="-120"/>
              </a:rPr>
              <a:t>Research question</a:t>
            </a:r>
            <a:endParaRPr lang="en-US" sz="1355" dirty="0"/>
          </a:p>
        </p:txBody>
      </p:sp>
      <p:sp>
        <p:nvSpPr>
          <p:cNvPr id="20" name="Text 17"/>
          <p:cNvSpPr txBox="1"/>
          <p:nvPr/>
        </p:nvSpPr>
        <p:spPr>
          <a:xfrm>
            <a:off x="727862" y="4764024"/>
            <a:ext cx="1379830" cy="39593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Structural system</a:t>
            </a:r>
            <a:endParaRPr lang="en-US" sz="1200" dirty="0"/>
          </a:p>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 sustainability</a:t>
            </a:r>
            <a:endParaRPr lang="en-US" sz="1200" dirty="0"/>
          </a:p>
        </p:txBody>
      </p:sp>
      <p:pic>
        <p:nvPicPr>
          <p:cNvPr id="21" name="slide11-icon02" descr="slide11-icon0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27402" y="3186684"/>
            <a:ext cx="1524305" cy="888797"/>
          </a:xfrm>
          <a:prstGeom prst="rect">
            <a:avLst/>
          </a:prstGeom>
        </p:spPr>
      </p:pic>
      <p:sp>
        <p:nvSpPr>
          <p:cNvPr id="22" name="Text 18"/>
          <p:cNvSpPr txBox="1"/>
          <p:nvPr/>
        </p:nvSpPr>
        <p:spPr>
          <a:xfrm>
            <a:off x="3175711"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02</a:t>
            </a:r>
            <a:endParaRPr lang="en-US" sz="1200" dirty="0"/>
          </a:p>
        </p:txBody>
      </p:sp>
      <p:sp>
        <p:nvSpPr>
          <p:cNvPr id="23" name="Text 19"/>
          <p:cNvSpPr txBox="1"/>
          <p:nvPr/>
        </p:nvSpPr>
        <p:spPr>
          <a:xfrm>
            <a:off x="2409444" y="4457700"/>
            <a:ext cx="1760220" cy="213055"/>
          </a:xfrm>
          <a:prstGeom prst="rect">
            <a:avLst/>
          </a:prstGeom>
          <a:noFill/>
          <a:ln/>
        </p:spPr>
        <p:txBody>
          <a:bodyPr wrap="none" lIns="0" tIns="0" rIns="0" bIns="0" rtlCol="0" anchor="t"/>
          <a:lstStyle/>
          <a:p>
            <a:pPr algn="ctr" indent="0" marL="0">
              <a:lnSpc>
                <a:spcPts val="1680"/>
              </a:lnSpc>
              <a:buNone/>
            </a:pPr>
            <a:r>
              <a:rPr lang="en-US" sz="1346" b="1" dirty="0">
                <a:solidFill>
                  <a:srgbClr val="141B3D"/>
                </a:solidFill>
                <a:latin typeface="Open Sans" pitchFamily="34" charset="0"/>
                <a:ea typeface="Open Sans" pitchFamily="34" charset="-122"/>
                <a:cs typeface="Open Sans" pitchFamily="34" charset="-120"/>
              </a:rPr>
              <a:t>Physical prototype</a:t>
            </a:r>
            <a:endParaRPr lang="en-US" sz="1346" dirty="0"/>
          </a:p>
        </p:txBody>
      </p:sp>
      <p:pic>
        <p:nvPicPr>
          <p:cNvPr id="24" name="slide11-icon03" descr="slide11-icon0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98264" y="3186684"/>
            <a:ext cx="1524305" cy="888797"/>
          </a:xfrm>
          <a:prstGeom prst="rect">
            <a:avLst/>
          </a:prstGeom>
        </p:spPr>
      </p:pic>
      <p:sp>
        <p:nvSpPr>
          <p:cNvPr id="25" name="Text 20"/>
          <p:cNvSpPr txBox="1"/>
          <p:nvPr/>
        </p:nvSpPr>
        <p:spPr>
          <a:xfrm>
            <a:off x="5047488"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03</a:t>
            </a:r>
            <a:endParaRPr lang="en-US" sz="1200" dirty="0"/>
          </a:p>
        </p:txBody>
      </p:sp>
      <p:sp>
        <p:nvSpPr>
          <p:cNvPr id="26" name="Text 21"/>
          <p:cNvSpPr txBox="1"/>
          <p:nvPr/>
        </p:nvSpPr>
        <p:spPr>
          <a:xfrm>
            <a:off x="4406494" y="4457700"/>
            <a:ext cx="1507846" cy="213055"/>
          </a:xfrm>
          <a:prstGeom prst="rect">
            <a:avLst/>
          </a:prstGeom>
          <a:noFill/>
          <a:ln/>
        </p:spPr>
        <p:txBody>
          <a:bodyPr wrap="none" lIns="0" tIns="0" rIns="0" bIns="0" rtlCol="0" anchor="t"/>
          <a:lstStyle/>
          <a:p>
            <a:pPr algn="ctr" indent="0" marL="0">
              <a:lnSpc>
                <a:spcPts val="1680"/>
              </a:lnSpc>
              <a:buNone/>
            </a:pPr>
            <a:r>
              <a:rPr lang="en-US" sz="1345" b="1" dirty="0">
                <a:solidFill>
                  <a:srgbClr val="141B3D"/>
                </a:solidFill>
                <a:latin typeface="Open Sans" pitchFamily="34" charset="0"/>
                <a:ea typeface="Open Sans" pitchFamily="34" charset="-122"/>
                <a:cs typeface="Open Sans" pitchFamily="34" charset="-120"/>
              </a:rPr>
              <a:t>Midterm review</a:t>
            </a:r>
            <a:endParaRPr lang="en-US" sz="1345" dirty="0"/>
          </a:p>
        </p:txBody>
      </p:sp>
      <p:sp>
        <p:nvSpPr>
          <p:cNvPr id="27" name="Text 22"/>
          <p:cNvSpPr txBox="1"/>
          <p:nvPr/>
        </p:nvSpPr>
        <p:spPr>
          <a:xfrm>
            <a:off x="4573829" y="4764024"/>
            <a:ext cx="1173175" cy="39593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Presentation</a:t>
            </a:r>
            <a:endParaRPr lang="en-US" sz="1200" dirty="0"/>
          </a:p>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to an audience</a:t>
            </a:r>
            <a:endParaRPr lang="en-US" sz="1200" dirty="0"/>
          </a:p>
        </p:txBody>
      </p:sp>
      <p:sp>
        <p:nvSpPr>
          <p:cNvPr id="28" name="Shape 23"/>
          <p:cNvSpPr/>
          <p:nvPr/>
        </p:nvSpPr>
        <p:spPr>
          <a:xfrm>
            <a:off x="6307531" y="3313786"/>
            <a:ext cx="634594" cy="634594"/>
          </a:xfrm>
          <a:prstGeom prst="ellipse">
            <a:avLst/>
          </a:prstGeom>
          <a:solidFill>
            <a:srgbClr val="FFFFFF"/>
          </a:solidFill>
          <a:ln w="25400">
            <a:solidFill>
              <a:srgbClr val="DC4B8D"/>
            </a:solidFill>
            <a:prstDash val="solid"/>
          </a:ln>
        </p:spPr>
      </p:sp>
      <p:pic>
        <p:nvPicPr>
          <p:cNvPr id="29" name="slide11-icon04" descr="slide11-icon0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36462" y="3442716"/>
            <a:ext cx="376733" cy="390449"/>
          </a:xfrm>
          <a:prstGeom prst="rect">
            <a:avLst/>
          </a:prstGeom>
        </p:spPr>
      </p:pic>
      <p:sp>
        <p:nvSpPr>
          <p:cNvPr id="30" name="Shape 24"/>
          <p:cNvSpPr/>
          <p:nvPr/>
        </p:nvSpPr>
        <p:spPr>
          <a:xfrm>
            <a:off x="6954926" y="3618281"/>
            <a:ext cx="152705" cy="25603"/>
          </a:xfrm>
          <a:prstGeom prst="rect">
            <a:avLst/>
          </a:prstGeom>
          <a:solidFill>
            <a:srgbClr val="DC4B8D"/>
          </a:solidFill>
          <a:ln/>
        </p:spPr>
      </p:sp>
      <p:sp>
        <p:nvSpPr>
          <p:cNvPr id="31" name="Shape 25"/>
          <p:cNvSpPr/>
          <p:nvPr/>
        </p:nvSpPr>
        <p:spPr>
          <a:xfrm>
            <a:off x="7120433" y="3313786"/>
            <a:ext cx="634594" cy="634594"/>
          </a:xfrm>
          <a:prstGeom prst="ellipse">
            <a:avLst/>
          </a:prstGeom>
          <a:solidFill>
            <a:srgbClr val="FFFFFF"/>
          </a:solidFill>
          <a:ln w="25400">
            <a:solidFill>
              <a:srgbClr val="DC4B8D"/>
            </a:solidFill>
            <a:prstDash val="solid"/>
          </a:ln>
        </p:spPr>
      </p:sp>
      <p:pic>
        <p:nvPicPr>
          <p:cNvPr id="32" name="slide11-icon05" descr="slide11-icon0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45706" y="3452774"/>
            <a:ext cx="379476" cy="355702"/>
          </a:xfrm>
          <a:prstGeom prst="rect">
            <a:avLst/>
          </a:prstGeom>
        </p:spPr>
      </p:pic>
      <p:sp>
        <p:nvSpPr>
          <p:cNvPr id="33" name="Text 26"/>
          <p:cNvSpPr txBox="1"/>
          <p:nvPr/>
        </p:nvSpPr>
        <p:spPr>
          <a:xfrm>
            <a:off x="6918350"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04</a:t>
            </a:r>
            <a:endParaRPr lang="en-US" sz="1200" dirty="0"/>
          </a:p>
        </p:txBody>
      </p:sp>
      <p:sp>
        <p:nvSpPr>
          <p:cNvPr id="34" name="Text 27"/>
          <p:cNvSpPr txBox="1"/>
          <p:nvPr/>
        </p:nvSpPr>
        <p:spPr>
          <a:xfrm>
            <a:off x="6561734" y="4457700"/>
            <a:ext cx="939089" cy="213055"/>
          </a:xfrm>
          <a:prstGeom prst="rect">
            <a:avLst/>
          </a:prstGeom>
          <a:noFill/>
          <a:ln/>
        </p:spPr>
        <p:txBody>
          <a:bodyPr wrap="none" lIns="0" tIns="0" rIns="0" bIns="0" rtlCol="0" anchor="t"/>
          <a:lstStyle/>
          <a:p>
            <a:pPr algn="ctr" indent="0" marL="0">
              <a:lnSpc>
                <a:spcPts val="1680"/>
              </a:lnSpc>
              <a:buNone/>
            </a:pPr>
            <a:r>
              <a:rPr lang="en-US" sz="1351" b="1" dirty="0">
                <a:solidFill>
                  <a:srgbClr val="141B3D"/>
                </a:solidFill>
                <a:latin typeface="Open Sans" pitchFamily="34" charset="0"/>
                <a:ea typeface="Open Sans" pitchFamily="34" charset="-122"/>
                <a:cs typeface="Open Sans" pitchFamily="34" charset="-120"/>
              </a:rPr>
              <a:t>Toolchain</a:t>
            </a:r>
            <a:endParaRPr lang="en-US" sz="1351" dirty="0"/>
          </a:p>
        </p:txBody>
      </p:sp>
      <p:sp>
        <p:nvSpPr>
          <p:cNvPr id="35" name="Text 28"/>
          <p:cNvSpPr txBox="1"/>
          <p:nvPr/>
        </p:nvSpPr>
        <p:spPr>
          <a:xfrm>
            <a:off x="6146597" y="4764024"/>
            <a:ext cx="1770278" cy="39593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At least two tools from</a:t>
            </a:r>
            <a:endParaRPr lang="en-US" sz="1200" dirty="0"/>
          </a:p>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the previous chapters</a:t>
            </a:r>
            <a:endParaRPr lang="en-US" sz="1200" dirty="0"/>
          </a:p>
        </p:txBody>
      </p:sp>
      <p:pic>
        <p:nvPicPr>
          <p:cNvPr id="36" name="slide11-icon06" descr="slide11-icon06.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40903" y="3186684"/>
            <a:ext cx="1524305" cy="888797"/>
          </a:xfrm>
          <a:prstGeom prst="rect">
            <a:avLst/>
          </a:prstGeom>
        </p:spPr>
      </p:pic>
      <p:sp>
        <p:nvSpPr>
          <p:cNvPr id="37" name="Text 29"/>
          <p:cNvSpPr txBox="1"/>
          <p:nvPr/>
        </p:nvSpPr>
        <p:spPr>
          <a:xfrm>
            <a:off x="8789213"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05</a:t>
            </a:r>
            <a:endParaRPr lang="en-US" sz="1200" dirty="0"/>
          </a:p>
        </p:txBody>
      </p:sp>
      <p:sp>
        <p:nvSpPr>
          <p:cNvPr id="38" name="Text 30"/>
          <p:cNvSpPr txBox="1"/>
          <p:nvPr/>
        </p:nvSpPr>
        <p:spPr>
          <a:xfrm>
            <a:off x="8285378" y="4457700"/>
            <a:ext cx="1235354" cy="427025"/>
          </a:xfrm>
          <a:prstGeom prst="rect">
            <a:avLst/>
          </a:prstGeom>
          <a:noFill/>
          <a:ln/>
        </p:spPr>
        <p:txBody>
          <a:bodyPr wrap="none" lIns="0" tIns="0" rIns="0" bIns="0" rtlCol="0" anchor="t"/>
          <a:lstStyle/>
          <a:p>
            <a:pPr algn="ctr" indent="0" marL="0">
              <a:lnSpc>
                <a:spcPts val="1680"/>
              </a:lnSpc>
              <a:buNone/>
            </a:pPr>
            <a:r>
              <a:rPr lang="en-US" sz="1356" b="1" dirty="0">
                <a:solidFill>
                  <a:srgbClr val="141B3D"/>
                </a:solidFill>
                <a:latin typeface="Open Sans" pitchFamily="34" charset="0"/>
                <a:ea typeface="Open Sans" pitchFamily="34" charset="-122"/>
                <a:cs typeface="Open Sans" pitchFamily="34" charset="-120"/>
              </a:rPr>
              <a:t>Documented</a:t>
            </a:r>
            <a:endParaRPr lang="en-US" sz="1356" dirty="0"/>
          </a:p>
          <a:p>
            <a:pPr algn="ctr" indent="0" marL="0">
              <a:lnSpc>
                <a:spcPts val="1680"/>
              </a:lnSpc>
              <a:buNone/>
            </a:pPr>
            <a:r>
              <a:rPr lang="en-US" sz="1356" b="1" dirty="0">
                <a:solidFill>
                  <a:srgbClr val="141B3D"/>
                </a:solidFill>
                <a:latin typeface="Open Sans" pitchFamily="34" charset="0"/>
                <a:ea typeface="Open Sans" pitchFamily="34" charset="-122"/>
                <a:cs typeface="Open Sans" pitchFamily="34" charset="-120"/>
              </a:rPr>
              <a:t>project</a:t>
            </a:r>
            <a:endParaRPr lang="en-US" sz="1356" dirty="0"/>
          </a:p>
        </p:txBody>
      </p:sp>
      <p:sp>
        <p:nvSpPr>
          <p:cNvPr id="39" name="Text 31"/>
          <p:cNvSpPr txBox="1"/>
          <p:nvPr/>
        </p:nvSpPr>
        <p:spPr>
          <a:xfrm>
            <a:off x="8035747" y="4977994"/>
            <a:ext cx="1734617" cy="19842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In a GitHub repository</a:t>
            </a:r>
            <a:endParaRPr lang="en-US" sz="1200" dirty="0"/>
          </a:p>
        </p:txBody>
      </p:sp>
      <p:pic>
        <p:nvPicPr>
          <p:cNvPr id="40" name="slide11-icon07" descr="slide11-icon07.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011766" y="3186684"/>
            <a:ext cx="1524305" cy="888797"/>
          </a:xfrm>
          <a:prstGeom prst="rect">
            <a:avLst/>
          </a:prstGeom>
        </p:spPr>
      </p:pic>
      <p:sp>
        <p:nvSpPr>
          <p:cNvPr id="41" name="Text 32"/>
          <p:cNvSpPr txBox="1"/>
          <p:nvPr/>
        </p:nvSpPr>
        <p:spPr>
          <a:xfrm>
            <a:off x="10660990" y="4165092"/>
            <a:ext cx="226771" cy="207569"/>
          </a:xfrm>
          <a:prstGeom prst="rect">
            <a:avLst/>
          </a:prstGeom>
          <a:noFill/>
          <a:ln/>
        </p:spPr>
        <p:txBody>
          <a:bodyPr wrap="none" lIns="0" tIns="0" rIns="0" bIns="0" rtlCol="0" anchor="t"/>
          <a:lstStyle/>
          <a:p>
            <a:pPr algn="ctr" indent="0" marL="0">
              <a:lnSpc>
                <a:spcPts val="1634"/>
              </a:lnSpc>
              <a:buNone/>
            </a:pPr>
            <a:r>
              <a:rPr lang="en-US" sz="1200" dirty="0">
                <a:solidFill>
                  <a:srgbClr val="DC4B8D"/>
                </a:solidFill>
                <a:latin typeface="Open Sans" pitchFamily="34" charset="0"/>
                <a:ea typeface="Open Sans" pitchFamily="34" charset="-122"/>
                <a:cs typeface="Open Sans" pitchFamily="34" charset="-120"/>
              </a:rPr>
              <a:t>06</a:t>
            </a:r>
            <a:endParaRPr lang="en-US" sz="1200" dirty="0"/>
          </a:p>
        </p:txBody>
      </p:sp>
      <p:sp>
        <p:nvSpPr>
          <p:cNvPr id="42" name="Text 33"/>
          <p:cNvSpPr txBox="1"/>
          <p:nvPr/>
        </p:nvSpPr>
        <p:spPr>
          <a:xfrm>
            <a:off x="10200132" y="4457700"/>
            <a:ext cx="1147572" cy="213055"/>
          </a:xfrm>
          <a:prstGeom prst="rect">
            <a:avLst/>
          </a:prstGeom>
          <a:noFill/>
          <a:ln/>
        </p:spPr>
        <p:txBody>
          <a:bodyPr wrap="none" lIns="0" tIns="0" rIns="0" bIns="0" rtlCol="0" anchor="t"/>
          <a:lstStyle/>
          <a:p>
            <a:pPr algn="ctr" indent="0" marL="0">
              <a:lnSpc>
                <a:spcPts val="1680"/>
              </a:lnSpc>
              <a:buNone/>
            </a:pPr>
            <a:r>
              <a:rPr lang="en-US" sz="1338" b="1" dirty="0">
                <a:solidFill>
                  <a:srgbClr val="141B3D"/>
                </a:solidFill>
                <a:latin typeface="Open Sans" pitchFamily="34" charset="0"/>
                <a:ea typeface="Open Sans" pitchFamily="34" charset="-122"/>
                <a:cs typeface="Open Sans" pitchFamily="34" charset="-120"/>
              </a:rPr>
              <a:t>Final review</a:t>
            </a:r>
            <a:endParaRPr lang="en-US" sz="1338" dirty="0"/>
          </a:p>
        </p:txBody>
      </p:sp>
      <p:sp>
        <p:nvSpPr>
          <p:cNvPr id="43" name="Text 34"/>
          <p:cNvSpPr txBox="1"/>
          <p:nvPr/>
        </p:nvSpPr>
        <p:spPr>
          <a:xfrm>
            <a:off x="10187330" y="4764024"/>
            <a:ext cx="1173175" cy="395935"/>
          </a:xfrm>
          <a:prstGeom prst="rect">
            <a:avLst/>
          </a:prstGeom>
          <a:noFill/>
          <a:ln/>
        </p:spPr>
        <p:txBody>
          <a:bodyPr wrap="none" lIns="0" tIns="0" rIns="0" bIns="0" rtlCol="0" anchor="t"/>
          <a:lstStyle/>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Presentation</a:t>
            </a:r>
            <a:endParaRPr lang="en-US" sz="1200" dirty="0"/>
          </a:p>
          <a:p>
            <a:pPr algn="ctr" indent="0" marL="0">
              <a:lnSpc>
                <a:spcPts val="1560"/>
              </a:lnSpc>
              <a:buNone/>
            </a:pPr>
            <a:r>
              <a:rPr lang="en-US" sz="1200" dirty="0">
                <a:solidFill>
                  <a:srgbClr val="6F7290"/>
                </a:solidFill>
                <a:latin typeface="Open Sans" pitchFamily="34" charset="0"/>
                <a:ea typeface="Open Sans" pitchFamily="34" charset="-122"/>
                <a:cs typeface="Open Sans" pitchFamily="34" charset="-120"/>
              </a:rPr>
              <a:t>to an audience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3D"/>
        </a:solidFill>
      </p:bgPr>
    </p:bg>
    <p:spTree>
      <p:nvGrpSpPr>
        <p:cNvPr id="1" name=""/>
        <p:cNvGrpSpPr/>
        <p:nvPr/>
      </p:nvGrpSpPr>
      <p:grpSpPr>
        <a:xfrm>
          <a:off x="0" y="0"/>
          <a:ext cx="0" cy="0"/>
          <a:chOff x="0" y="0"/>
          <a:chExt cx="0" cy="0"/>
        </a:xfrm>
      </p:grpSpPr>
      <p:pic>
        <p:nvPicPr>
          <p:cNvPr id="2" name="Image 0" descr="image.imageformat.1286.dpr2.207728301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B3D">
              <a:alpha val="72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image.imageformat.1286.dpr2.120364917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30000"/>
            </a:srgbClr>
          </a:solidFill>
          <a:ln/>
        </p:spPr>
      </p:sp>
      <p:sp>
        <p:nvSpPr>
          <p:cNvPr id="4" name="Shape 1"/>
          <p:cNvSpPr/>
          <p:nvPr/>
        </p:nvSpPr>
        <p:spPr>
          <a:xfrm>
            <a:off x="609905" y="558698"/>
            <a:ext cx="1524305" cy="88697"/>
          </a:xfrm>
          <a:prstGeom prst="rect">
            <a:avLst/>
          </a:prstGeom>
          <a:solidFill>
            <a:srgbClr val="3057B1"/>
          </a:solidFill>
          <a:ln/>
        </p:spPr>
      </p:sp>
      <p:sp>
        <p:nvSpPr>
          <p:cNvPr id="5" name="Shape 2"/>
          <p:cNvSpPr/>
          <p:nvPr/>
        </p:nvSpPr>
        <p:spPr>
          <a:xfrm>
            <a:off x="2184502" y="558698"/>
            <a:ext cx="1524305" cy="88697"/>
          </a:xfrm>
          <a:prstGeom prst="rect">
            <a:avLst/>
          </a:prstGeom>
          <a:solidFill>
            <a:srgbClr val="DCD9E4"/>
          </a:solidFill>
          <a:ln/>
        </p:spPr>
      </p:sp>
      <p:sp>
        <p:nvSpPr>
          <p:cNvPr id="6" name="Shape 3"/>
          <p:cNvSpPr/>
          <p:nvPr/>
        </p:nvSpPr>
        <p:spPr>
          <a:xfrm>
            <a:off x="3759098" y="558698"/>
            <a:ext cx="1524305" cy="88697"/>
          </a:xfrm>
          <a:prstGeom prst="rect">
            <a:avLst/>
          </a:prstGeom>
          <a:solidFill>
            <a:srgbClr val="DCD9E4"/>
          </a:solidFill>
          <a:ln/>
        </p:spPr>
      </p:sp>
      <p:sp>
        <p:nvSpPr>
          <p:cNvPr id="7" name="Shape 4"/>
          <p:cNvSpPr/>
          <p:nvPr/>
        </p:nvSpPr>
        <p:spPr>
          <a:xfrm>
            <a:off x="5333695" y="558698"/>
            <a:ext cx="1524305" cy="88697"/>
          </a:xfrm>
          <a:prstGeom prst="rect">
            <a:avLst/>
          </a:prstGeom>
          <a:solidFill>
            <a:srgbClr val="DCD9E4"/>
          </a:solidFill>
          <a:ln/>
        </p:spPr>
      </p:sp>
      <p:sp>
        <p:nvSpPr>
          <p:cNvPr id="8" name="Shape 5"/>
          <p:cNvSpPr/>
          <p:nvPr/>
        </p:nvSpPr>
        <p:spPr>
          <a:xfrm>
            <a:off x="6909206" y="558698"/>
            <a:ext cx="1524305" cy="88697"/>
          </a:xfrm>
          <a:prstGeom prst="rect">
            <a:avLst/>
          </a:prstGeom>
          <a:solidFill>
            <a:srgbClr val="DCD9E4"/>
          </a:solidFill>
          <a:ln/>
        </p:spPr>
      </p:sp>
      <p:sp>
        <p:nvSpPr>
          <p:cNvPr id="9" name="Shape 6"/>
          <p:cNvSpPr/>
          <p:nvPr/>
        </p:nvSpPr>
        <p:spPr>
          <a:xfrm>
            <a:off x="8483803" y="558698"/>
            <a:ext cx="1524305" cy="88697"/>
          </a:xfrm>
          <a:prstGeom prst="rect">
            <a:avLst/>
          </a:prstGeom>
          <a:solidFill>
            <a:srgbClr val="DCD9E4"/>
          </a:solidFill>
          <a:ln/>
        </p:spPr>
      </p:sp>
      <p:sp>
        <p:nvSpPr>
          <p:cNvPr id="10" name="Shape 7"/>
          <p:cNvSpPr/>
          <p:nvPr/>
        </p:nvSpPr>
        <p:spPr>
          <a:xfrm>
            <a:off x="10058400" y="558698"/>
            <a:ext cx="1524305" cy="88697"/>
          </a:xfrm>
          <a:prstGeom prst="rect">
            <a:avLst/>
          </a:prstGeom>
          <a:solidFill>
            <a:srgbClr val="DCD9E4"/>
          </a:solidFill>
          <a:ln/>
        </p:spPr>
      </p:sp>
      <p:sp>
        <p:nvSpPr>
          <p:cNvPr id="11" name="Shape 8"/>
          <p:cNvSpPr/>
          <p:nvPr/>
        </p:nvSpPr>
        <p:spPr>
          <a:xfrm>
            <a:off x="609905" y="787298"/>
            <a:ext cx="1894637" cy="286207"/>
          </a:xfrm>
          <a:prstGeom prst="rect">
            <a:avLst/>
          </a:prstGeom>
          <a:solidFill>
            <a:srgbClr val="FFFFFF">
              <a:alpha val="70000"/>
            </a:srgbClr>
          </a:solidFill>
          <a:ln/>
        </p:spPr>
      </p:sp>
      <p:sp>
        <p:nvSpPr>
          <p:cNvPr id="12" name="Text 9"/>
          <p:cNvSpPr txBox="1"/>
          <p:nvPr/>
        </p:nvSpPr>
        <p:spPr>
          <a:xfrm>
            <a:off x="698602" y="826618"/>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Chapter 1 · 1 ECTS · 30 h</a:t>
            </a:r>
            <a:endParaRPr lang="en-US" sz="1200" dirty="0"/>
          </a:p>
        </p:txBody>
      </p:sp>
      <p:sp>
        <p:nvSpPr>
          <p:cNvPr id="13" name="Shape 10"/>
          <p:cNvSpPr/>
          <p:nvPr/>
        </p:nvSpPr>
        <p:spPr>
          <a:xfrm>
            <a:off x="609905" y="1175004"/>
            <a:ext cx="7835494" cy="552298"/>
          </a:xfrm>
          <a:prstGeom prst="rect">
            <a:avLst/>
          </a:prstGeom>
          <a:solidFill>
            <a:srgbClr val="FFFFFF">
              <a:alpha val="70000"/>
            </a:srgbClr>
          </a:solidFill>
          <a:ln/>
        </p:spPr>
      </p:sp>
      <p:sp>
        <p:nvSpPr>
          <p:cNvPr id="14" name="Text 11"/>
          <p:cNvSpPr txBox="1"/>
          <p:nvPr/>
        </p:nvSpPr>
        <p:spPr>
          <a:xfrm>
            <a:off x="724205" y="1248156"/>
            <a:ext cx="8253374" cy="400507"/>
          </a:xfrm>
          <a:prstGeom prst="rect">
            <a:avLst/>
          </a:prstGeom>
          <a:noFill/>
          <a:ln/>
        </p:spPr>
        <p:txBody>
          <a:bodyPr wrap="none" lIns="0" tIns="0" rIns="0" bIns="0" rtlCol="0" anchor="t"/>
          <a:lstStyle/>
          <a:p>
            <a:pPr algn="l" indent="0" marL="0">
              <a:lnSpc>
                <a:spcPts val="3150"/>
              </a:lnSpc>
              <a:buNone/>
            </a:pPr>
            <a:r>
              <a:rPr lang="en-US" sz="2890" b="1" spc="-60" kern="0" dirty="0">
                <a:solidFill>
                  <a:srgbClr val="141B3D"/>
                </a:solidFill>
                <a:latin typeface="Open Sans" pitchFamily="34" charset="0"/>
                <a:ea typeface="Open Sans" pitchFamily="34" charset="-122"/>
                <a:cs typeface="Open Sans" pitchFamily="34" charset="-120"/>
              </a:rPr>
              <a:t>History of Computational Structural Design</a:t>
            </a:r>
            <a:endParaRPr lang="en-US" sz="2890" dirty="0"/>
          </a:p>
        </p:txBody>
      </p:sp>
      <p:sp>
        <p:nvSpPr>
          <p:cNvPr id="15" name="Shape 12"/>
          <p:cNvSpPr/>
          <p:nvPr/>
        </p:nvSpPr>
        <p:spPr>
          <a:xfrm>
            <a:off x="609905" y="2190902"/>
            <a:ext cx="3699662" cy="4184294"/>
          </a:xfrm>
          <a:prstGeom prst="rect">
            <a:avLst/>
          </a:prstGeom>
          <a:solidFill>
            <a:srgbClr val="EDF1FA"/>
          </a:solidFill>
          <a:ln/>
        </p:spPr>
      </p:sp>
      <p:sp>
        <p:nvSpPr>
          <p:cNvPr id="16" name="Shape 13"/>
          <p:cNvSpPr/>
          <p:nvPr/>
        </p:nvSpPr>
        <p:spPr>
          <a:xfrm>
            <a:off x="609905" y="2190902"/>
            <a:ext cx="3699662" cy="437998"/>
          </a:xfrm>
          <a:prstGeom prst="rect">
            <a:avLst/>
          </a:prstGeom>
          <a:solidFill>
            <a:srgbClr val="3057B1"/>
          </a:solidFill>
          <a:ln/>
        </p:spPr>
      </p:sp>
      <p:sp>
        <p:nvSpPr>
          <p:cNvPr id="17" name="Text 14"/>
          <p:cNvSpPr txBox="1"/>
          <p:nvPr/>
        </p:nvSpPr>
        <p:spPr>
          <a:xfrm>
            <a:off x="774497" y="2280514"/>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8" name="Text 15"/>
          <p:cNvSpPr txBox="1"/>
          <p:nvPr/>
        </p:nvSpPr>
        <p:spPr>
          <a:xfrm>
            <a:off x="774497" y="2754173"/>
            <a:ext cx="3480206" cy="462686"/>
          </a:xfrm>
          <a:prstGeom prst="rect">
            <a:avLst/>
          </a:prstGeom>
          <a:noFill/>
          <a:ln/>
        </p:spPr>
        <p:txBody>
          <a:bodyPr wrap="none" lIns="0" tIns="0" rIns="0" bIns="0" rtlCol="0" anchor="t"/>
          <a:lstStyle/>
          <a:p>
            <a:pPr algn="l" indent="0" marL="0">
              <a:lnSpc>
                <a:spcPts val="1820"/>
              </a:lnSpc>
              <a:buNone/>
            </a:pPr>
            <a:r>
              <a:rPr lang="en-US" sz="1347" b="1" dirty="0">
                <a:solidFill>
                  <a:srgbClr val="141B3D"/>
                </a:solidFill>
                <a:latin typeface="Open Sans" pitchFamily="34" charset="0"/>
                <a:ea typeface="Open Sans" pitchFamily="34" charset="-122"/>
                <a:cs typeface="Open Sans" pitchFamily="34" charset="-120"/>
              </a:rPr>
              <a:t>Structural typologies, taught through</a:t>
            </a:r>
            <a:endParaRPr lang="en-US" sz="1347" dirty="0"/>
          </a:p>
          <a:p>
            <a:pPr algn="l" indent="0" marL="0">
              <a:lnSpc>
                <a:spcPts val="1820"/>
              </a:lnSpc>
              <a:buNone/>
            </a:pPr>
            <a:r>
              <a:rPr lang="en-US" sz="1347" b="1" dirty="0">
                <a:solidFill>
                  <a:srgbClr val="141B3D"/>
                </a:solidFill>
                <a:latin typeface="Open Sans" pitchFamily="34" charset="0"/>
                <a:ea typeface="Open Sans" pitchFamily="34" charset="-122"/>
                <a:cs typeface="Open Sans" pitchFamily="34" charset="-120"/>
              </a:rPr>
              <a:t>classic drawing techniques.</a:t>
            </a:r>
            <a:endParaRPr lang="en-US" sz="1347" dirty="0"/>
          </a:p>
        </p:txBody>
      </p:sp>
      <p:sp>
        <p:nvSpPr>
          <p:cNvPr id="19" name="Shape 16"/>
          <p:cNvSpPr/>
          <p:nvPr/>
        </p:nvSpPr>
        <p:spPr>
          <a:xfrm>
            <a:off x="774497" y="3376879"/>
            <a:ext cx="51206" cy="51206"/>
          </a:xfrm>
          <a:prstGeom prst="rect">
            <a:avLst/>
          </a:prstGeom>
          <a:solidFill>
            <a:srgbClr val="3057B1"/>
          </a:solidFill>
          <a:ln/>
        </p:spPr>
      </p:sp>
      <p:sp>
        <p:nvSpPr>
          <p:cNvPr id="20" name="Text 17"/>
          <p:cNvSpPr txBox="1"/>
          <p:nvPr/>
        </p:nvSpPr>
        <p:spPr>
          <a:xfrm>
            <a:off x="914400" y="3315614"/>
            <a:ext cx="334121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Equilibrium &amp; graphic-statics fundamentals</a:t>
            </a:r>
            <a:endParaRPr lang="en-US" sz="1200" dirty="0"/>
          </a:p>
        </p:txBody>
      </p:sp>
      <p:sp>
        <p:nvSpPr>
          <p:cNvPr id="21" name="Shape 18"/>
          <p:cNvSpPr/>
          <p:nvPr/>
        </p:nvSpPr>
        <p:spPr>
          <a:xfrm>
            <a:off x="774497" y="3645713"/>
            <a:ext cx="51206" cy="51206"/>
          </a:xfrm>
          <a:prstGeom prst="rect">
            <a:avLst/>
          </a:prstGeom>
          <a:solidFill>
            <a:srgbClr val="3057B1"/>
          </a:solidFill>
          <a:ln/>
        </p:spPr>
      </p:sp>
      <p:sp>
        <p:nvSpPr>
          <p:cNvPr id="22" name="Text 19"/>
          <p:cNvSpPr txBox="1"/>
          <p:nvPr/>
        </p:nvSpPr>
        <p:spPr>
          <a:xfrm>
            <a:off x="914400" y="3584448"/>
            <a:ext cx="313273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Cables: funicular lines, distributed loads,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prestress</a:t>
            </a:r>
            <a:endParaRPr lang="en-US" sz="1200" dirty="0"/>
          </a:p>
        </p:txBody>
      </p:sp>
      <p:sp>
        <p:nvSpPr>
          <p:cNvPr id="23" name="Shape 20"/>
          <p:cNvSpPr/>
          <p:nvPr/>
        </p:nvSpPr>
        <p:spPr>
          <a:xfrm>
            <a:off x="774497" y="4121201"/>
            <a:ext cx="51206" cy="51206"/>
          </a:xfrm>
          <a:prstGeom prst="rect">
            <a:avLst/>
          </a:prstGeom>
          <a:solidFill>
            <a:srgbClr val="3057B1"/>
          </a:solidFill>
          <a:ln/>
        </p:spPr>
      </p:sp>
      <p:sp>
        <p:nvSpPr>
          <p:cNvPr id="24" name="Text 21"/>
          <p:cNvSpPr txBox="1"/>
          <p:nvPr/>
        </p:nvSpPr>
        <p:spPr>
          <a:xfrm>
            <a:off x="914400" y="4059022"/>
            <a:ext cx="3314700"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Arches: thrust lines, masonry on spreading</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supports</a:t>
            </a:r>
            <a:endParaRPr lang="en-US" sz="1200" dirty="0"/>
          </a:p>
        </p:txBody>
      </p:sp>
      <p:sp>
        <p:nvSpPr>
          <p:cNvPr id="25" name="Shape 22"/>
          <p:cNvSpPr/>
          <p:nvPr/>
        </p:nvSpPr>
        <p:spPr>
          <a:xfrm>
            <a:off x="774497" y="4595774"/>
            <a:ext cx="51206" cy="51206"/>
          </a:xfrm>
          <a:prstGeom prst="rect">
            <a:avLst/>
          </a:prstGeom>
          <a:solidFill>
            <a:srgbClr val="3057B1"/>
          </a:solidFill>
          <a:ln/>
        </p:spPr>
      </p:sp>
      <p:sp>
        <p:nvSpPr>
          <p:cNvPr id="26" name="Text 23"/>
          <p:cNvSpPr txBox="1"/>
          <p:nvPr/>
        </p:nvSpPr>
        <p:spPr>
          <a:xfrm>
            <a:off x="914400" y="4534510"/>
            <a:ext cx="291327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Arch-cable hybrids; span vs cantilever</a:t>
            </a:r>
            <a:endParaRPr lang="en-US" sz="1200" dirty="0"/>
          </a:p>
        </p:txBody>
      </p:sp>
      <p:sp>
        <p:nvSpPr>
          <p:cNvPr id="27" name="Shape 24"/>
          <p:cNvSpPr/>
          <p:nvPr/>
        </p:nvSpPr>
        <p:spPr>
          <a:xfrm>
            <a:off x="774497" y="4864608"/>
            <a:ext cx="51206" cy="51206"/>
          </a:xfrm>
          <a:prstGeom prst="rect">
            <a:avLst/>
          </a:prstGeom>
          <a:solidFill>
            <a:srgbClr val="3057B1"/>
          </a:solidFill>
          <a:ln/>
        </p:spPr>
      </p:sp>
      <p:sp>
        <p:nvSpPr>
          <p:cNvPr id="28" name="Text 25"/>
          <p:cNvSpPr txBox="1"/>
          <p:nvPr/>
        </p:nvSpPr>
        <p:spPr>
          <a:xfrm>
            <a:off x="914400" y="4803343"/>
            <a:ext cx="3192170"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Trusses: Pratt/Howe, lenticular, constant-</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force</a:t>
            </a:r>
            <a:endParaRPr lang="en-US" sz="1200" dirty="0"/>
          </a:p>
        </p:txBody>
      </p:sp>
      <p:sp>
        <p:nvSpPr>
          <p:cNvPr id="29" name="Shape 26"/>
          <p:cNvSpPr/>
          <p:nvPr/>
        </p:nvSpPr>
        <p:spPr>
          <a:xfrm>
            <a:off x="774497" y="5340096"/>
            <a:ext cx="51206" cy="51206"/>
          </a:xfrm>
          <a:prstGeom prst="rect">
            <a:avLst/>
          </a:prstGeom>
          <a:solidFill>
            <a:srgbClr val="3057B1"/>
          </a:solidFill>
          <a:ln/>
        </p:spPr>
      </p:sp>
      <p:sp>
        <p:nvSpPr>
          <p:cNvPr id="30" name="Text 27"/>
          <p:cNvSpPr txBox="1"/>
          <p:nvPr/>
        </p:nvSpPr>
        <p:spPr>
          <a:xfrm>
            <a:off x="914400" y="5277917"/>
            <a:ext cx="2539289"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Beams &amp; frames: internal forces,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superposition</a:t>
            </a:r>
            <a:endParaRPr lang="en-US" sz="1200" dirty="0"/>
          </a:p>
        </p:txBody>
      </p:sp>
      <p:sp>
        <p:nvSpPr>
          <p:cNvPr id="31" name="Shape 28"/>
          <p:cNvSpPr/>
          <p:nvPr/>
        </p:nvSpPr>
        <p:spPr>
          <a:xfrm>
            <a:off x="774497" y="5814670"/>
            <a:ext cx="51206" cy="51206"/>
          </a:xfrm>
          <a:prstGeom prst="rect">
            <a:avLst/>
          </a:prstGeom>
          <a:solidFill>
            <a:srgbClr val="3057B1"/>
          </a:solidFill>
          <a:ln/>
        </p:spPr>
      </p:sp>
      <p:sp>
        <p:nvSpPr>
          <p:cNvPr id="32" name="Text 29"/>
          <p:cNvSpPr txBox="1"/>
          <p:nvPr/>
        </p:nvSpPr>
        <p:spPr>
          <a:xfrm>
            <a:off x="914400" y="5753405"/>
            <a:ext cx="3348533"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Techniques: form/force diagrams, funicular</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polygon, trial funiculars, dividing systems</a:t>
            </a:r>
            <a:endParaRPr lang="en-US" sz="1200" dirty="0"/>
          </a:p>
        </p:txBody>
      </p:sp>
      <p:sp>
        <p:nvSpPr>
          <p:cNvPr id="33" name="Shape 30"/>
          <p:cNvSpPr/>
          <p:nvPr/>
        </p:nvSpPr>
        <p:spPr>
          <a:xfrm>
            <a:off x="4486961" y="2190902"/>
            <a:ext cx="3699662" cy="4184294"/>
          </a:xfrm>
          <a:prstGeom prst="rect">
            <a:avLst/>
          </a:prstGeom>
          <a:solidFill>
            <a:srgbClr val="D3DDF1"/>
          </a:solidFill>
          <a:ln/>
        </p:spPr>
      </p:sp>
      <p:sp>
        <p:nvSpPr>
          <p:cNvPr id="34" name="Shape 31"/>
          <p:cNvSpPr/>
          <p:nvPr/>
        </p:nvSpPr>
        <p:spPr>
          <a:xfrm>
            <a:off x="4486961" y="2190902"/>
            <a:ext cx="3699662" cy="437998"/>
          </a:xfrm>
          <a:prstGeom prst="rect">
            <a:avLst/>
          </a:prstGeom>
          <a:solidFill>
            <a:srgbClr val="3057B1"/>
          </a:solidFill>
          <a:ln/>
        </p:spPr>
      </p:sp>
      <p:sp>
        <p:nvSpPr>
          <p:cNvPr id="35" name="Text 32"/>
          <p:cNvSpPr txBox="1"/>
          <p:nvPr/>
        </p:nvSpPr>
        <p:spPr>
          <a:xfrm>
            <a:off x="4652467" y="2280514"/>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36" name="Text 33"/>
          <p:cNvSpPr txBox="1"/>
          <p:nvPr/>
        </p:nvSpPr>
        <p:spPr>
          <a:xfrm>
            <a:off x="4652467" y="2754173"/>
            <a:ext cx="1901038" cy="231343"/>
          </a:xfrm>
          <a:prstGeom prst="rect">
            <a:avLst/>
          </a:prstGeom>
          <a:noFill/>
          <a:ln/>
        </p:spPr>
        <p:txBody>
          <a:bodyPr wrap="none" lIns="0" tIns="0" rIns="0" bIns="0" rtlCol="0" anchor="t"/>
          <a:lstStyle/>
          <a:p>
            <a:pPr algn="l" indent="0" marL="0">
              <a:lnSpc>
                <a:spcPts val="1820"/>
              </a:lnSpc>
              <a:buNone/>
            </a:pPr>
            <a:r>
              <a:rPr lang="en-US" sz="1336" b="1" dirty="0">
                <a:solidFill>
                  <a:srgbClr val="141B3D"/>
                </a:solidFill>
                <a:latin typeface="Open Sans" pitchFamily="34" charset="0"/>
                <a:ea typeface="Open Sans" pitchFamily="34" charset="-122"/>
                <a:cs typeface="Open Sans" pitchFamily="34" charset="-120"/>
              </a:rPr>
              <a:t>Interactive platform</a:t>
            </a:r>
            <a:endParaRPr lang="en-US" sz="1336" dirty="0"/>
          </a:p>
        </p:txBody>
      </p:sp>
      <p:sp>
        <p:nvSpPr>
          <p:cNvPr id="37" name="Shape 34"/>
          <p:cNvSpPr/>
          <p:nvPr/>
        </p:nvSpPr>
        <p:spPr>
          <a:xfrm>
            <a:off x="4652467" y="3145536"/>
            <a:ext cx="51206" cy="51206"/>
          </a:xfrm>
          <a:prstGeom prst="rect">
            <a:avLst/>
          </a:prstGeom>
          <a:solidFill>
            <a:srgbClr val="3057B1"/>
          </a:solidFill>
          <a:ln/>
        </p:spPr>
      </p:sp>
      <p:sp>
        <p:nvSpPr>
          <p:cNvPr id="38" name="Text 35"/>
          <p:cNvSpPr txBox="1"/>
          <p:nvPr/>
        </p:nvSpPr>
        <p:spPr>
          <a:xfrm>
            <a:off x="4792370" y="3084271"/>
            <a:ext cx="3293669"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eQUILIBRIUM platform: drawings, courses,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exams</a:t>
            </a:r>
            <a:endParaRPr lang="en-US" sz="1200" dirty="0"/>
          </a:p>
        </p:txBody>
      </p:sp>
      <p:sp>
        <p:nvSpPr>
          <p:cNvPr id="39" name="Shape 36"/>
          <p:cNvSpPr/>
          <p:nvPr/>
        </p:nvSpPr>
        <p:spPr>
          <a:xfrm>
            <a:off x="4652467" y="3621024"/>
            <a:ext cx="51206" cy="51206"/>
          </a:xfrm>
          <a:prstGeom prst="rect">
            <a:avLst/>
          </a:prstGeom>
          <a:solidFill>
            <a:srgbClr val="3057B1"/>
          </a:solidFill>
          <a:ln/>
        </p:spPr>
      </p:sp>
      <p:sp>
        <p:nvSpPr>
          <p:cNvPr id="40" name="Text 37"/>
          <p:cNvSpPr txBox="1"/>
          <p:nvPr/>
        </p:nvSpPr>
        <p:spPr>
          <a:xfrm>
            <a:off x="4792370" y="3558845"/>
            <a:ext cx="305318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Gitbook: Computational Graphic Statics</a:t>
            </a:r>
            <a:endParaRPr lang="en-US" sz="1200" dirty="0"/>
          </a:p>
        </p:txBody>
      </p:sp>
      <p:sp>
        <p:nvSpPr>
          <p:cNvPr id="41" name="Shape 38"/>
          <p:cNvSpPr/>
          <p:nvPr/>
        </p:nvSpPr>
        <p:spPr>
          <a:xfrm>
            <a:off x="4652467" y="3952951"/>
            <a:ext cx="51206" cy="51206"/>
          </a:xfrm>
          <a:prstGeom prst="rect">
            <a:avLst/>
          </a:prstGeom>
          <a:solidFill>
            <a:srgbClr val="3057B1"/>
          </a:solidFill>
          <a:ln/>
        </p:spPr>
      </p:sp>
      <p:sp>
        <p:nvSpPr>
          <p:cNvPr id="42" name="Text 39"/>
          <p:cNvSpPr txBox="1"/>
          <p:nvPr/>
        </p:nvSpPr>
        <p:spPr>
          <a:xfrm>
            <a:off x="4792370" y="3891686"/>
            <a:ext cx="2804465"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compas-IGS: graphic statics in Rhino</a:t>
            </a:r>
            <a:endParaRPr lang="en-US" sz="1200" dirty="0"/>
          </a:p>
        </p:txBody>
      </p:sp>
      <p:sp>
        <p:nvSpPr>
          <p:cNvPr id="43" name="Shape 40"/>
          <p:cNvSpPr/>
          <p:nvPr/>
        </p:nvSpPr>
        <p:spPr>
          <a:xfrm>
            <a:off x="4652467" y="4222699"/>
            <a:ext cx="51206" cy="51206"/>
          </a:xfrm>
          <a:prstGeom prst="rect">
            <a:avLst/>
          </a:prstGeom>
          <a:solidFill>
            <a:srgbClr val="3057B1"/>
          </a:solidFill>
          <a:ln/>
        </p:spPr>
      </p:sp>
      <p:sp>
        <p:nvSpPr>
          <p:cNvPr id="44" name="Text 41"/>
          <p:cNvSpPr txBox="1"/>
          <p:nvPr/>
        </p:nvSpPr>
        <p:spPr>
          <a:xfrm>
            <a:off x="4792370" y="4160520"/>
            <a:ext cx="297271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Course PDF archive: slides, exercises +</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solutions</a:t>
            </a:r>
            <a:endParaRPr lang="en-US" sz="1200" dirty="0"/>
          </a:p>
        </p:txBody>
      </p:sp>
      <p:sp>
        <p:nvSpPr>
          <p:cNvPr id="45" name="Shape 42"/>
          <p:cNvSpPr/>
          <p:nvPr/>
        </p:nvSpPr>
        <p:spPr>
          <a:xfrm>
            <a:off x="8364931" y="2190902"/>
            <a:ext cx="3217774" cy="4184294"/>
          </a:xfrm>
          <a:prstGeom prst="rect">
            <a:avLst/>
          </a:prstGeom>
          <a:solidFill>
            <a:srgbClr val="B4C6E7"/>
          </a:solidFill>
          <a:ln/>
        </p:spPr>
      </p:sp>
      <p:sp>
        <p:nvSpPr>
          <p:cNvPr id="46" name="Shape 43"/>
          <p:cNvSpPr/>
          <p:nvPr/>
        </p:nvSpPr>
        <p:spPr>
          <a:xfrm>
            <a:off x="8364931" y="2190902"/>
            <a:ext cx="3217774" cy="437998"/>
          </a:xfrm>
          <a:prstGeom prst="rect">
            <a:avLst/>
          </a:prstGeom>
          <a:solidFill>
            <a:srgbClr val="3057B1"/>
          </a:solidFill>
          <a:ln/>
        </p:spPr>
      </p:sp>
      <p:sp>
        <p:nvSpPr>
          <p:cNvPr id="47" name="Text 44"/>
          <p:cNvSpPr txBox="1"/>
          <p:nvPr/>
        </p:nvSpPr>
        <p:spPr>
          <a:xfrm>
            <a:off x="8530438" y="2280514"/>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48" name="Text 45"/>
          <p:cNvSpPr txBox="1"/>
          <p:nvPr/>
        </p:nvSpPr>
        <p:spPr>
          <a:xfrm>
            <a:off x="8530438" y="2754173"/>
            <a:ext cx="2591410" cy="462686"/>
          </a:xfrm>
          <a:prstGeom prst="rect">
            <a:avLst/>
          </a:prstGeom>
          <a:noFill/>
          <a:ln/>
        </p:spPr>
        <p:txBody>
          <a:bodyPr wrap="none" lIns="0" tIns="0" rIns="0" bIns="0" rtlCol="0" anchor="t"/>
          <a:lstStyle/>
          <a:p>
            <a:pPr algn="l" indent="0" marL="0">
              <a:lnSpc>
                <a:spcPts val="1820"/>
              </a:lnSpc>
              <a:buNone/>
            </a:pPr>
            <a:r>
              <a:rPr lang="en-US" sz="1350" b="1" dirty="0">
                <a:solidFill>
                  <a:srgbClr val="141B3D"/>
                </a:solidFill>
                <a:latin typeface="Open Sans" pitchFamily="34" charset="0"/>
                <a:ea typeface="Open Sans" pitchFamily="34" charset="-122"/>
                <a:cs typeface="Open Sans" pitchFamily="34" charset="-120"/>
              </a:rPr>
              <a:t>Hand-drawn graphic-statics</a:t>
            </a:r>
            <a:endParaRPr lang="en-US" sz="1350" dirty="0"/>
          </a:p>
          <a:p>
            <a:pPr algn="l" indent="0" marL="0">
              <a:lnSpc>
                <a:spcPts val="1820"/>
              </a:lnSpc>
              <a:buNone/>
            </a:pPr>
            <a:r>
              <a:rPr lang="en-US" sz="1350" b="1" dirty="0">
                <a:solidFill>
                  <a:srgbClr val="141B3D"/>
                </a:solidFill>
                <a:latin typeface="Open Sans" pitchFamily="34" charset="0"/>
                <a:ea typeface="Open Sans" pitchFamily="34" charset="-122"/>
                <a:cs typeface="Open Sans" pitchFamily="34" charset="-120"/>
              </a:rPr>
              <a:t>exercises and calculations.</a:t>
            </a:r>
            <a:endParaRPr lang="en-US" sz="1350" dirty="0"/>
          </a:p>
        </p:txBody>
      </p:sp>
      <p:sp>
        <p:nvSpPr>
          <p:cNvPr id="49" name="Shape 46"/>
          <p:cNvSpPr/>
          <p:nvPr/>
        </p:nvSpPr>
        <p:spPr>
          <a:xfrm>
            <a:off x="8530438" y="3376879"/>
            <a:ext cx="51206" cy="51206"/>
          </a:xfrm>
          <a:prstGeom prst="rect">
            <a:avLst/>
          </a:prstGeom>
          <a:solidFill>
            <a:srgbClr val="3057B1"/>
          </a:solidFill>
          <a:ln/>
        </p:spPr>
      </p:sp>
      <p:sp>
        <p:nvSpPr>
          <p:cNvPr id="50" name="Text 47"/>
          <p:cNvSpPr txBox="1"/>
          <p:nvPr/>
        </p:nvSpPr>
        <p:spPr>
          <a:xfrm>
            <a:off x="8669426" y="3315614"/>
            <a:ext cx="2981858"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Funicular constructions: cable through</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2–3 points, parabola vs catenary</a:t>
            </a:r>
            <a:endParaRPr lang="en-US" sz="1200" dirty="0"/>
          </a:p>
        </p:txBody>
      </p:sp>
      <p:sp>
        <p:nvSpPr>
          <p:cNvPr id="51" name="Shape 48"/>
          <p:cNvSpPr/>
          <p:nvPr/>
        </p:nvSpPr>
        <p:spPr>
          <a:xfrm>
            <a:off x="8530438" y="3851453"/>
            <a:ext cx="51206" cy="51206"/>
          </a:xfrm>
          <a:prstGeom prst="rect">
            <a:avLst/>
          </a:prstGeom>
          <a:solidFill>
            <a:srgbClr val="3057B1"/>
          </a:solidFill>
          <a:ln/>
        </p:spPr>
      </p:sp>
      <p:sp>
        <p:nvSpPr>
          <p:cNvPr id="52" name="Text 49"/>
          <p:cNvSpPr txBox="1"/>
          <p:nvPr/>
        </p:nvSpPr>
        <p:spPr>
          <a:xfrm>
            <a:off x="8669426" y="3790188"/>
            <a:ext cx="2479853"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Masonry arch check: thrust line,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min/max thrust</a:t>
            </a:r>
            <a:endParaRPr lang="en-US" sz="1200" dirty="0"/>
          </a:p>
        </p:txBody>
      </p:sp>
      <p:sp>
        <p:nvSpPr>
          <p:cNvPr id="53" name="Shape 50"/>
          <p:cNvSpPr/>
          <p:nvPr/>
        </p:nvSpPr>
        <p:spPr>
          <a:xfrm>
            <a:off x="8530438" y="4326941"/>
            <a:ext cx="51206" cy="51206"/>
          </a:xfrm>
          <a:prstGeom prst="rect">
            <a:avLst/>
          </a:prstGeom>
          <a:solidFill>
            <a:srgbClr val="3057B1"/>
          </a:solidFill>
          <a:ln/>
        </p:spPr>
      </p:sp>
      <p:sp>
        <p:nvSpPr>
          <p:cNvPr id="54" name="Text 51"/>
          <p:cNvSpPr txBox="1"/>
          <p:nvPr/>
        </p:nvSpPr>
        <p:spPr>
          <a:xfrm>
            <a:off x="8669426" y="4264762"/>
            <a:ext cx="2361895"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Truss member forces via force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diagram</a:t>
            </a:r>
            <a:endParaRPr lang="en-US" sz="1200" dirty="0"/>
          </a:p>
        </p:txBody>
      </p:sp>
      <p:sp>
        <p:nvSpPr>
          <p:cNvPr id="55" name="Shape 52"/>
          <p:cNvSpPr/>
          <p:nvPr/>
        </p:nvSpPr>
        <p:spPr>
          <a:xfrm>
            <a:off x="8530438" y="4801514"/>
            <a:ext cx="51206" cy="51206"/>
          </a:xfrm>
          <a:prstGeom prst="rect">
            <a:avLst/>
          </a:prstGeom>
          <a:solidFill>
            <a:srgbClr val="3057B1"/>
          </a:solidFill>
          <a:ln/>
        </p:spPr>
      </p:sp>
      <p:sp>
        <p:nvSpPr>
          <p:cNvPr id="56" name="Text 53"/>
          <p:cNvSpPr txBox="1"/>
          <p:nvPr/>
        </p:nvSpPr>
        <p:spPr>
          <a:xfrm>
            <a:off x="8669426" y="4740250"/>
            <a:ext cx="2151583"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Beam/frame internal forces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(superposition)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06_MycoTree_Exhibition_Carlina-Teteris_16x9-2_1504424827.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FFFFFF">
              <a:alpha val="85000"/>
            </a:srgbClr>
          </a:solidFill>
          <a:ln/>
        </p:spPr>
      </p:sp>
      <p:sp>
        <p:nvSpPr>
          <p:cNvPr id="5" name="Shape 2"/>
          <p:cNvSpPr/>
          <p:nvPr/>
        </p:nvSpPr>
        <p:spPr>
          <a:xfrm>
            <a:off x="3759098" y="558698"/>
            <a:ext cx="1524305" cy="88697"/>
          </a:xfrm>
          <a:prstGeom prst="rect">
            <a:avLst/>
          </a:prstGeom>
          <a:solidFill>
            <a:srgbClr val="FFFFFF">
              <a:alpha val="85000"/>
            </a:srgbClr>
          </a:solidFill>
          <a:ln/>
        </p:spPr>
      </p:sp>
      <p:sp>
        <p:nvSpPr>
          <p:cNvPr id="6" name="Shape 3"/>
          <p:cNvSpPr/>
          <p:nvPr/>
        </p:nvSpPr>
        <p:spPr>
          <a:xfrm>
            <a:off x="5333695" y="558698"/>
            <a:ext cx="1524305" cy="88697"/>
          </a:xfrm>
          <a:prstGeom prst="rect">
            <a:avLst/>
          </a:prstGeom>
          <a:solidFill>
            <a:srgbClr val="FFFFFF">
              <a:alpha val="85000"/>
            </a:srgbClr>
          </a:solidFill>
          <a:ln/>
        </p:spPr>
      </p:sp>
      <p:sp>
        <p:nvSpPr>
          <p:cNvPr id="7" name="Shape 4"/>
          <p:cNvSpPr/>
          <p:nvPr/>
        </p:nvSpPr>
        <p:spPr>
          <a:xfrm>
            <a:off x="6909206" y="558698"/>
            <a:ext cx="1524305" cy="88697"/>
          </a:xfrm>
          <a:prstGeom prst="rect">
            <a:avLst/>
          </a:prstGeom>
          <a:solidFill>
            <a:srgbClr val="FFFFFF">
              <a:alpha val="85000"/>
            </a:srgbClr>
          </a:solidFill>
          <a:ln/>
        </p:spPr>
      </p:sp>
      <p:sp>
        <p:nvSpPr>
          <p:cNvPr id="8" name="Shape 5"/>
          <p:cNvSpPr/>
          <p:nvPr/>
        </p:nvSpPr>
        <p:spPr>
          <a:xfrm>
            <a:off x="8483803" y="558698"/>
            <a:ext cx="1524305" cy="88697"/>
          </a:xfrm>
          <a:prstGeom prst="rect">
            <a:avLst/>
          </a:prstGeom>
          <a:solidFill>
            <a:srgbClr val="FFFFFF">
              <a:alpha val="85000"/>
            </a:srgbClr>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1 · 1 ECTS · 30 h</a:t>
            </a:r>
            <a:endParaRPr lang="en-US" sz="1200" dirty="0"/>
          </a:p>
        </p:txBody>
      </p:sp>
      <p:sp>
        <p:nvSpPr>
          <p:cNvPr id="12" name="Shape 9"/>
          <p:cNvSpPr/>
          <p:nvPr/>
        </p:nvSpPr>
        <p:spPr>
          <a:xfrm>
            <a:off x="609905" y="1200607"/>
            <a:ext cx="9627718" cy="552298"/>
          </a:xfrm>
          <a:prstGeom prst="rect">
            <a:avLst/>
          </a:prstGeom>
          <a:solidFill>
            <a:srgbClr val="FFFFFF">
              <a:alpha val="70000"/>
            </a:srgbClr>
          </a:solidFill>
          <a:ln/>
        </p:spPr>
      </p:sp>
      <p:sp>
        <p:nvSpPr>
          <p:cNvPr id="13" name="Text 10"/>
          <p:cNvSpPr txBox="1"/>
          <p:nvPr/>
        </p:nvSpPr>
        <p:spPr>
          <a:xfrm>
            <a:off x="724205" y="1272845"/>
            <a:ext cx="10189159" cy="400507"/>
          </a:xfrm>
          <a:prstGeom prst="rect">
            <a:avLst/>
          </a:prstGeom>
          <a:noFill/>
          <a:ln/>
        </p:spPr>
        <p:txBody>
          <a:bodyPr wrap="none" lIns="0" tIns="0" rIns="0" bIns="0" rtlCol="0" anchor="t"/>
          <a:lstStyle/>
          <a:p>
            <a:pPr algn="l" indent="0" marL="0">
              <a:lnSpc>
                <a:spcPts val="3150"/>
              </a:lnSpc>
              <a:buNone/>
            </a:pPr>
            <a:r>
              <a:rPr lang="en-US" sz="2895" b="1" spc="-60" kern="0" dirty="0">
                <a:solidFill>
                  <a:srgbClr val="141B3D"/>
                </a:solidFill>
                <a:latin typeface="Open Sans" pitchFamily="34" charset="0"/>
                <a:ea typeface="Open Sans" pitchFamily="34" charset="-122"/>
                <a:cs typeface="Open Sans" pitchFamily="34" charset="-120"/>
              </a:rPr>
              <a:t>Schedule: History of Computational Structural Design</a:t>
            </a:r>
            <a:endParaRPr lang="en-US" sz="2895"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3057B1"/>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3057B1"/>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3057B1"/>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3057B1"/>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3057B1"/>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DCD9E4"/>
          </a:solidFill>
          <a:ln/>
        </p:spPr>
      </p:sp>
      <p:sp>
        <p:nvSpPr>
          <p:cNvPr id="5" name="Shape 3"/>
          <p:cNvSpPr/>
          <p:nvPr/>
        </p:nvSpPr>
        <p:spPr>
          <a:xfrm>
            <a:off x="5333695" y="558698"/>
            <a:ext cx="1524305" cy="88697"/>
          </a:xfrm>
          <a:prstGeom prst="rect">
            <a:avLst/>
          </a:prstGeom>
          <a:solidFill>
            <a:srgbClr val="DCD9E4"/>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5552BB"/>
                </a:solidFill>
                <a:latin typeface="Open Sans" pitchFamily="34" charset="0"/>
                <a:ea typeface="Open Sans" pitchFamily="34" charset="-122"/>
                <a:cs typeface="Open Sans" pitchFamily="34" charset="-120"/>
              </a:rPr>
              <a:t>Chapter 2 · 1 ECTS · 30 h</a:t>
            </a:r>
            <a:endParaRPr lang="en-US" sz="1200" dirty="0"/>
          </a:p>
        </p:txBody>
      </p:sp>
      <p:sp>
        <p:nvSpPr>
          <p:cNvPr id="10" name="Text 8"/>
          <p:cNvSpPr txBox="1"/>
          <p:nvPr/>
        </p:nvSpPr>
        <p:spPr>
          <a:xfrm>
            <a:off x="609905" y="1095451"/>
            <a:ext cx="8998610" cy="400507"/>
          </a:xfrm>
          <a:prstGeom prst="rect">
            <a:avLst/>
          </a:prstGeom>
          <a:noFill/>
          <a:ln/>
        </p:spPr>
        <p:txBody>
          <a:bodyPr wrap="none" lIns="0" tIns="0" rIns="0" bIns="0" rtlCol="0" anchor="t"/>
          <a:lstStyle/>
          <a:p>
            <a:pPr algn="l" indent="0" marL="0">
              <a:lnSpc>
                <a:spcPts val="3150"/>
              </a:lnSpc>
              <a:buNone/>
            </a:pPr>
            <a:r>
              <a:rPr lang="en-US" sz="2896" b="1" spc="-60" kern="0" dirty="0">
                <a:solidFill>
                  <a:srgbClr val="141B3D"/>
                </a:solidFill>
                <a:latin typeface="Open Sans" pitchFamily="34" charset="0"/>
                <a:ea typeface="Open Sans" pitchFamily="34" charset="-122"/>
                <a:cs typeface="Open Sans" pitchFamily="34" charset="-120"/>
              </a:rPr>
              <a:t>Computational Structural Design with COMPAS</a:t>
            </a:r>
            <a:endParaRPr lang="en-US" sz="2896" dirty="0"/>
          </a:p>
        </p:txBody>
      </p:sp>
      <p:sp>
        <p:nvSpPr>
          <p:cNvPr id="11" name="Shape 9"/>
          <p:cNvSpPr/>
          <p:nvPr/>
        </p:nvSpPr>
        <p:spPr>
          <a:xfrm>
            <a:off x="609905" y="1651406"/>
            <a:ext cx="10972800" cy="0"/>
          </a:xfrm>
          <a:prstGeom prst="rect">
            <a:avLst/>
          </a:prstGeom>
          <a:solidFill>
            <a:srgbClr val="DCD9E4"/>
          </a:solidFill>
          <a:ln/>
        </p:spPr>
      </p:sp>
      <p:sp>
        <p:nvSpPr>
          <p:cNvPr id="12" name="Shape 10"/>
          <p:cNvSpPr/>
          <p:nvPr/>
        </p:nvSpPr>
        <p:spPr>
          <a:xfrm>
            <a:off x="609905" y="1790395"/>
            <a:ext cx="3699662" cy="4643323"/>
          </a:xfrm>
          <a:prstGeom prst="rect">
            <a:avLst/>
          </a:prstGeom>
          <a:solidFill>
            <a:srgbClr val="F0F1FB"/>
          </a:solidFill>
          <a:ln/>
        </p:spPr>
      </p:sp>
      <p:sp>
        <p:nvSpPr>
          <p:cNvPr id="13" name="Shape 11"/>
          <p:cNvSpPr/>
          <p:nvPr/>
        </p:nvSpPr>
        <p:spPr>
          <a:xfrm>
            <a:off x="609905" y="1790395"/>
            <a:ext cx="3699662" cy="437998"/>
          </a:xfrm>
          <a:prstGeom prst="rect">
            <a:avLst/>
          </a:prstGeom>
          <a:solidFill>
            <a:srgbClr val="5552BB"/>
          </a:solidFill>
          <a:ln/>
        </p:spPr>
      </p:sp>
      <p:sp>
        <p:nvSpPr>
          <p:cNvPr id="14" name="Text 12"/>
          <p:cNvSpPr txBox="1"/>
          <p:nvPr/>
        </p:nvSpPr>
        <p:spPr>
          <a:xfrm>
            <a:off x="774497" y="1880006"/>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5" name="Text 13"/>
          <p:cNvSpPr txBox="1"/>
          <p:nvPr/>
        </p:nvSpPr>
        <p:spPr>
          <a:xfrm>
            <a:off x="774497" y="2354580"/>
            <a:ext cx="3133649" cy="693115"/>
          </a:xfrm>
          <a:prstGeom prst="rect">
            <a:avLst/>
          </a:prstGeom>
          <a:noFill/>
          <a:ln/>
        </p:spPr>
        <p:txBody>
          <a:bodyPr wrap="none" lIns="0" tIns="0" rIns="0" bIns="0" rtlCol="0" anchor="t"/>
          <a:lstStyle/>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Mathematical and geometrical</a:t>
            </a:r>
            <a:endParaRPr lang="en-US" sz="1353" dirty="0"/>
          </a:p>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foundations, and why each one is</a:t>
            </a:r>
            <a:endParaRPr lang="en-US" sz="1353" dirty="0"/>
          </a:p>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needed.</a:t>
            </a:r>
            <a:endParaRPr lang="en-US" sz="1353" dirty="0"/>
          </a:p>
        </p:txBody>
      </p:sp>
      <p:sp>
        <p:nvSpPr>
          <p:cNvPr id="16" name="Shape 14"/>
          <p:cNvSpPr/>
          <p:nvPr/>
        </p:nvSpPr>
        <p:spPr>
          <a:xfrm>
            <a:off x="774497" y="3207715"/>
            <a:ext cx="51206" cy="51206"/>
          </a:xfrm>
          <a:prstGeom prst="rect">
            <a:avLst/>
          </a:prstGeom>
          <a:solidFill>
            <a:srgbClr val="5552BB"/>
          </a:solidFill>
          <a:ln/>
        </p:spPr>
      </p:sp>
      <p:sp>
        <p:nvSpPr>
          <p:cNvPr id="17" name="Text 15"/>
          <p:cNvSpPr txBox="1"/>
          <p:nvPr/>
        </p:nvSpPr>
        <p:spPr>
          <a:xfrm>
            <a:off x="914400" y="3146450"/>
            <a:ext cx="3339389"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Mathematical and geometrical foundations</a:t>
            </a:r>
            <a:endParaRPr lang="en-US" sz="1200" dirty="0"/>
          </a:p>
        </p:txBody>
      </p:sp>
      <p:sp>
        <p:nvSpPr>
          <p:cNvPr id="18" name="Shape 16"/>
          <p:cNvSpPr/>
          <p:nvPr/>
        </p:nvSpPr>
        <p:spPr>
          <a:xfrm>
            <a:off x="774497" y="3477463"/>
            <a:ext cx="51206" cy="51206"/>
          </a:xfrm>
          <a:prstGeom prst="rect">
            <a:avLst/>
          </a:prstGeom>
          <a:solidFill>
            <a:srgbClr val="5552BB"/>
          </a:solidFill>
          <a:ln/>
        </p:spPr>
      </p:sp>
      <p:sp>
        <p:nvSpPr>
          <p:cNvPr id="19" name="Text 17"/>
          <p:cNvSpPr txBox="1"/>
          <p:nvPr/>
        </p:nvSpPr>
        <p:spPr>
          <a:xfrm>
            <a:off x="914400" y="3415284"/>
            <a:ext cx="2651760"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Math versus freeform geometrical</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descriptions</a:t>
            </a:r>
            <a:endParaRPr lang="en-US" sz="1200" dirty="0"/>
          </a:p>
        </p:txBody>
      </p:sp>
      <p:sp>
        <p:nvSpPr>
          <p:cNvPr id="20" name="Shape 18"/>
          <p:cNvSpPr/>
          <p:nvPr/>
        </p:nvSpPr>
        <p:spPr>
          <a:xfrm>
            <a:off x="774497" y="3952037"/>
            <a:ext cx="51206" cy="51206"/>
          </a:xfrm>
          <a:prstGeom prst="rect">
            <a:avLst/>
          </a:prstGeom>
          <a:solidFill>
            <a:srgbClr val="5552BB"/>
          </a:solidFill>
          <a:ln/>
        </p:spPr>
      </p:sp>
      <p:sp>
        <p:nvSpPr>
          <p:cNvPr id="21" name="Text 19"/>
          <p:cNvSpPr txBox="1"/>
          <p:nvPr/>
        </p:nvSpPr>
        <p:spPr>
          <a:xfrm>
            <a:off x="914400" y="3889858"/>
            <a:ext cx="333207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Algorithms: how a design intent becomes a</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procedure</a:t>
            </a:r>
            <a:endParaRPr lang="en-US" sz="1200" dirty="0"/>
          </a:p>
        </p:txBody>
      </p:sp>
      <p:sp>
        <p:nvSpPr>
          <p:cNvPr id="22" name="Shape 20"/>
          <p:cNvSpPr/>
          <p:nvPr/>
        </p:nvSpPr>
        <p:spPr>
          <a:xfrm>
            <a:off x="774497" y="4426610"/>
            <a:ext cx="51206" cy="51206"/>
          </a:xfrm>
          <a:prstGeom prst="rect">
            <a:avLst/>
          </a:prstGeom>
          <a:solidFill>
            <a:srgbClr val="5552BB"/>
          </a:solidFill>
          <a:ln/>
        </p:spPr>
      </p:sp>
      <p:sp>
        <p:nvSpPr>
          <p:cNvPr id="23" name="Text 21"/>
          <p:cNvSpPr txBox="1"/>
          <p:nvPr/>
        </p:nvSpPr>
        <p:spPr>
          <a:xfrm>
            <a:off x="914400" y="4365346"/>
            <a:ext cx="309158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Mesh with connectivity, and its matrices</a:t>
            </a:r>
            <a:endParaRPr lang="en-US" sz="1200" dirty="0"/>
          </a:p>
        </p:txBody>
      </p:sp>
      <p:sp>
        <p:nvSpPr>
          <p:cNvPr id="24" name="Shape 22"/>
          <p:cNvSpPr/>
          <p:nvPr/>
        </p:nvSpPr>
        <p:spPr>
          <a:xfrm>
            <a:off x="774497" y="4696358"/>
            <a:ext cx="51206" cy="51206"/>
          </a:xfrm>
          <a:prstGeom prst="rect">
            <a:avLst/>
          </a:prstGeom>
          <a:solidFill>
            <a:srgbClr val="5552BB"/>
          </a:solidFill>
          <a:ln/>
        </p:spPr>
      </p:sp>
      <p:sp>
        <p:nvSpPr>
          <p:cNvPr id="25" name="Text 23"/>
          <p:cNvSpPr txBox="1"/>
          <p:nvPr/>
        </p:nvSpPr>
        <p:spPr>
          <a:xfrm>
            <a:off x="914400" y="4634179"/>
            <a:ext cx="339608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Dot and cross products, and where they are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used</a:t>
            </a:r>
            <a:endParaRPr lang="en-US" sz="1200" dirty="0"/>
          </a:p>
        </p:txBody>
      </p:sp>
      <p:sp>
        <p:nvSpPr>
          <p:cNvPr id="26" name="Shape 24"/>
          <p:cNvSpPr/>
          <p:nvPr/>
        </p:nvSpPr>
        <p:spPr>
          <a:xfrm>
            <a:off x="774497" y="5170932"/>
            <a:ext cx="51206" cy="51206"/>
          </a:xfrm>
          <a:prstGeom prst="rect">
            <a:avLst/>
          </a:prstGeom>
          <a:solidFill>
            <a:srgbClr val="5552BB"/>
          </a:solidFill>
          <a:ln/>
        </p:spPr>
      </p:sp>
      <p:sp>
        <p:nvSpPr>
          <p:cNvPr id="27" name="Text 25"/>
          <p:cNvSpPr txBox="1"/>
          <p:nvPr/>
        </p:nvSpPr>
        <p:spPr>
          <a:xfrm>
            <a:off x="914400" y="5108753"/>
            <a:ext cx="279806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Matrix decomposition inside solvers</a:t>
            </a:r>
            <a:endParaRPr lang="en-US" sz="1200" dirty="0"/>
          </a:p>
        </p:txBody>
      </p:sp>
      <p:sp>
        <p:nvSpPr>
          <p:cNvPr id="28" name="Shape 26"/>
          <p:cNvSpPr/>
          <p:nvPr/>
        </p:nvSpPr>
        <p:spPr>
          <a:xfrm>
            <a:off x="774497" y="5439766"/>
            <a:ext cx="51206" cy="51206"/>
          </a:xfrm>
          <a:prstGeom prst="rect">
            <a:avLst/>
          </a:prstGeom>
          <a:solidFill>
            <a:srgbClr val="5552BB"/>
          </a:solidFill>
          <a:ln/>
        </p:spPr>
      </p:sp>
      <p:sp>
        <p:nvSpPr>
          <p:cNvPr id="29" name="Text 27"/>
          <p:cNvSpPr txBox="1"/>
          <p:nvPr/>
        </p:nvSpPr>
        <p:spPr>
          <a:xfrm>
            <a:off x="914400" y="5378501"/>
            <a:ext cx="3009290"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Graphs: when to use one, and how it is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formulated</a:t>
            </a:r>
            <a:endParaRPr lang="en-US" sz="1200" dirty="0"/>
          </a:p>
        </p:txBody>
      </p:sp>
      <p:sp>
        <p:nvSpPr>
          <p:cNvPr id="30" name="Shape 28"/>
          <p:cNvSpPr/>
          <p:nvPr/>
        </p:nvSpPr>
        <p:spPr>
          <a:xfrm>
            <a:off x="774497" y="5915254"/>
            <a:ext cx="51206" cy="51206"/>
          </a:xfrm>
          <a:prstGeom prst="rect">
            <a:avLst/>
          </a:prstGeom>
          <a:solidFill>
            <a:srgbClr val="5552BB"/>
          </a:solidFill>
          <a:ln/>
        </p:spPr>
      </p:sp>
      <p:sp>
        <p:nvSpPr>
          <p:cNvPr id="31" name="Text 29"/>
          <p:cNvSpPr txBox="1"/>
          <p:nvPr/>
        </p:nvSpPr>
        <p:spPr>
          <a:xfrm>
            <a:off x="914400" y="5853074"/>
            <a:ext cx="2765146"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Optimisation solvers and automatic</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differentiation</a:t>
            </a:r>
            <a:endParaRPr lang="en-US" sz="1200" dirty="0"/>
          </a:p>
        </p:txBody>
      </p:sp>
      <p:sp>
        <p:nvSpPr>
          <p:cNvPr id="32" name="Shape 30"/>
          <p:cNvSpPr/>
          <p:nvPr/>
        </p:nvSpPr>
        <p:spPr>
          <a:xfrm>
            <a:off x="4486961" y="1790395"/>
            <a:ext cx="3699662" cy="4643323"/>
          </a:xfrm>
          <a:prstGeom prst="rect">
            <a:avLst/>
          </a:prstGeom>
          <a:solidFill>
            <a:srgbClr val="D9DCF4"/>
          </a:solidFill>
          <a:ln/>
        </p:spPr>
      </p:sp>
      <p:sp>
        <p:nvSpPr>
          <p:cNvPr id="33" name="Shape 31"/>
          <p:cNvSpPr/>
          <p:nvPr/>
        </p:nvSpPr>
        <p:spPr>
          <a:xfrm>
            <a:off x="4486961" y="1790395"/>
            <a:ext cx="3699662" cy="437998"/>
          </a:xfrm>
          <a:prstGeom prst="rect">
            <a:avLst/>
          </a:prstGeom>
          <a:solidFill>
            <a:srgbClr val="5552BB"/>
          </a:solidFill>
          <a:ln/>
        </p:spPr>
      </p:sp>
      <p:sp>
        <p:nvSpPr>
          <p:cNvPr id="34" name="Text 32"/>
          <p:cNvSpPr txBox="1"/>
          <p:nvPr/>
        </p:nvSpPr>
        <p:spPr>
          <a:xfrm>
            <a:off x="4652467" y="1880006"/>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35" name="Text 33"/>
          <p:cNvSpPr txBox="1"/>
          <p:nvPr/>
        </p:nvSpPr>
        <p:spPr>
          <a:xfrm>
            <a:off x="4652467" y="2354580"/>
            <a:ext cx="3551530" cy="462686"/>
          </a:xfrm>
          <a:prstGeom prst="rect">
            <a:avLst/>
          </a:prstGeom>
          <a:noFill/>
          <a:ln/>
        </p:spPr>
        <p:txBody>
          <a:bodyPr wrap="none" lIns="0" tIns="0" rIns="0" bIns="0" rtlCol="0" anchor="t"/>
          <a:lstStyle/>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One course repo, one framework, one</a:t>
            </a:r>
            <a:endParaRPr lang="en-US" sz="1353" dirty="0"/>
          </a:p>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installation guide.</a:t>
            </a:r>
            <a:endParaRPr lang="en-US" sz="1353" dirty="0"/>
          </a:p>
        </p:txBody>
      </p:sp>
      <p:sp>
        <p:nvSpPr>
          <p:cNvPr id="36" name="Shape 34"/>
          <p:cNvSpPr/>
          <p:nvPr/>
        </p:nvSpPr>
        <p:spPr>
          <a:xfrm>
            <a:off x="4652467" y="2976372"/>
            <a:ext cx="51206" cy="51206"/>
          </a:xfrm>
          <a:prstGeom prst="rect">
            <a:avLst/>
          </a:prstGeom>
          <a:solidFill>
            <a:srgbClr val="5552BB"/>
          </a:solidFill>
          <a:ln/>
        </p:spPr>
      </p:sp>
      <p:sp>
        <p:nvSpPr>
          <p:cNvPr id="37" name="Text 35"/>
          <p:cNvSpPr txBox="1"/>
          <p:nvPr/>
        </p:nvSpPr>
        <p:spPr>
          <a:xfrm>
            <a:off x="4792370" y="2915107"/>
            <a:ext cx="310987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GKR course repo: lectures, assignments,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roadmap</a:t>
            </a:r>
            <a:endParaRPr lang="en-US" sz="1200" dirty="0"/>
          </a:p>
        </p:txBody>
      </p:sp>
      <p:sp>
        <p:nvSpPr>
          <p:cNvPr id="38" name="Shape 36"/>
          <p:cNvSpPr/>
          <p:nvPr/>
        </p:nvSpPr>
        <p:spPr>
          <a:xfrm>
            <a:off x="4652467" y="3451860"/>
            <a:ext cx="51206" cy="51206"/>
          </a:xfrm>
          <a:prstGeom prst="rect">
            <a:avLst/>
          </a:prstGeom>
          <a:solidFill>
            <a:srgbClr val="5552BB"/>
          </a:solidFill>
          <a:ln/>
        </p:spPr>
      </p:sp>
      <p:sp>
        <p:nvSpPr>
          <p:cNvPr id="39" name="Text 37"/>
          <p:cNvSpPr txBox="1"/>
          <p:nvPr/>
        </p:nvSpPr>
        <p:spPr>
          <a:xfrm>
            <a:off x="4792370" y="3389681"/>
            <a:ext cx="3375965"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compas.dev: getting started + API reference</a:t>
            </a:r>
            <a:endParaRPr lang="en-US" sz="1200" dirty="0"/>
          </a:p>
        </p:txBody>
      </p:sp>
      <p:sp>
        <p:nvSpPr>
          <p:cNvPr id="40" name="Shape 38"/>
          <p:cNvSpPr/>
          <p:nvPr/>
        </p:nvSpPr>
        <p:spPr>
          <a:xfrm>
            <a:off x="4652467" y="3720694"/>
            <a:ext cx="51206" cy="51206"/>
          </a:xfrm>
          <a:prstGeom prst="rect">
            <a:avLst/>
          </a:prstGeom>
          <a:solidFill>
            <a:srgbClr val="5552BB"/>
          </a:solidFill>
          <a:ln/>
        </p:spPr>
      </p:sp>
      <p:sp>
        <p:nvSpPr>
          <p:cNvPr id="41" name="Text 39"/>
          <p:cNvSpPr txBox="1"/>
          <p:nvPr/>
        </p:nvSpPr>
        <p:spPr>
          <a:xfrm>
            <a:off x="4792370" y="3659429"/>
            <a:ext cx="2123237"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Installation guide, this repo</a:t>
            </a:r>
            <a:endParaRPr lang="en-US" sz="1200" dirty="0"/>
          </a:p>
        </p:txBody>
      </p:sp>
      <p:sp>
        <p:nvSpPr>
          <p:cNvPr id="42" name="Shape 40"/>
          <p:cNvSpPr/>
          <p:nvPr/>
        </p:nvSpPr>
        <p:spPr>
          <a:xfrm>
            <a:off x="4652467" y="3989527"/>
            <a:ext cx="51206" cy="51206"/>
          </a:xfrm>
          <a:prstGeom prst="rect">
            <a:avLst/>
          </a:prstGeom>
          <a:solidFill>
            <a:srgbClr val="5552BB"/>
          </a:solidFill>
          <a:ln/>
        </p:spPr>
      </p:sp>
      <p:sp>
        <p:nvSpPr>
          <p:cNvPr id="43" name="Text 41"/>
          <p:cNvSpPr txBox="1"/>
          <p:nvPr/>
        </p:nvSpPr>
        <p:spPr>
          <a:xfrm>
            <a:off x="4792370" y="3928262"/>
            <a:ext cx="2454250"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Python cheat sheet &amp; reference</a:t>
            </a:r>
            <a:endParaRPr lang="en-US" sz="1200" dirty="0"/>
          </a:p>
        </p:txBody>
      </p:sp>
      <p:sp>
        <p:nvSpPr>
          <p:cNvPr id="44" name="Shape 42"/>
          <p:cNvSpPr/>
          <p:nvPr/>
        </p:nvSpPr>
        <p:spPr>
          <a:xfrm>
            <a:off x="4652467" y="4259275"/>
            <a:ext cx="51206" cy="51206"/>
          </a:xfrm>
          <a:prstGeom prst="rect">
            <a:avLst/>
          </a:prstGeom>
          <a:solidFill>
            <a:srgbClr val="5552BB"/>
          </a:solidFill>
          <a:ln/>
        </p:spPr>
      </p:sp>
      <p:sp>
        <p:nvSpPr>
          <p:cNvPr id="45" name="Text 43"/>
          <p:cNvSpPr txBox="1"/>
          <p:nvPr/>
        </p:nvSpPr>
        <p:spPr>
          <a:xfrm>
            <a:off x="4792370" y="4198010"/>
            <a:ext cx="236738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Book: Geometric Computation</a:t>
            </a:r>
            <a:endParaRPr lang="en-US" sz="1200" dirty="0"/>
          </a:p>
        </p:txBody>
      </p:sp>
      <p:sp>
        <p:nvSpPr>
          <p:cNvPr id="46" name="Shape 44"/>
          <p:cNvSpPr/>
          <p:nvPr/>
        </p:nvSpPr>
        <p:spPr>
          <a:xfrm>
            <a:off x="4652467" y="4528109"/>
            <a:ext cx="51206" cy="51206"/>
          </a:xfrm>
          <a:prstGeom prst="rect">
            <a:avLst/>
          </a:prstGeom>
          <a:solidFill>
            <a:srgbClr val="5552BB"/>
          </a:solidFill>
          <a:ln/>
        </p:spPr>
      </p:sp>
      <p:sp>
        <p:nvSpPr>
          <p:cNvPr id="47" name="Text 45"/>
          <p:cNvSpPr txBox="1"/>
          <p:nvPr/>
        </p:nvSpPr>
        <p:spPr>
          <a:xfrm>
            <a:off x="4792370" y="4466844"/>
            <a:ext cx="312267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Rhino Python guide / RhinoCommon API</a:t>
            </a:r>
            <a:endParaRPr lang="en-US" sz="1200" dirty="0"/>
          </a:p>
        </p:txBody>
      </p:sp>
      <p:sp>
        <p:nvSpPr>
          <p:cNvPr id="48" name="Shape 46"/>
          <p:cNvSpPr/>
          <p:nvPr/>
        </p:nvSpPr>
        <p:spPr>
          <a:xfrm>
            <a:off x="4652467" y="4797857"/>
            <a:ext cx="51206" cy="51206"/>
          </a:xfrm>
          <a:prstGeom prst="rect">
            <a:avLst/>
          </a:prstGeom>
          <a:solidFill>
            <a:srgbClr val="5552BB"/>
          </a:solidFill>
          <a:ln/>
        </p:spPr>
      </p:sp>
      <p:sp>
        <p:nvSpPr>
          <p:cNvPr id="49" name="Text 47"/>
          <p:cNvSpPr txBox="1"/>
          <p:nvPr/>
        </p:nvSpPr>
        <p:spPr>
          <a:xfrm>
            <a:off x="4792370" y="4735678"/>
            <a:ext cx="195315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BRG-teaching workshops</a:t>
            </a:r>
            <a:endParaRPr lang="en-US" sz="1200" dirty="0"/>
          </a:p>
        </p:txBody>
      </p:sp>
      <p:sp>
        <p:nvSpPr>
          <p:cNvPr id="50" name="Shape 48"/>
          <p:cNvSpPr/>
          <p:nvPr/>
        </p:nvSpPr>
        <p:spPr>
          <a:xfrm>
            <a:off x="8364931" y="1790395"/>
            <a:ext cx="3217774" cy="4643323"/>
          </a:xfrm>
          <a:prstGeom prst="rect">
            <a:avLst/>
          </a:prstGeom>
          <a:solidFill>
            <a:srgbClr val="C0C4EB"/>
          </a:solidFill>
          <a:ln/>
        </p:spPr>
      </p:sp>
      <p:sp>
        <p:nvSpPr>
          <p:cNvPr id="51" name="Shape 49"/>
          <p:cNvSpPr/>
          <p:nvPr/>
        </p:nvSpPr>
        <p:spPr>
          <a:xfrm>
            <a:off x="8364931" y="1790395"/>
            <a:ext cx="3217774" cy="437998"/>
          </a:xfrm>
          <a:prstGeom prst="rect">
            <a:avLst/>
          </a:prstGeom>
          <a:solidFill>
            <a:srgbClr val="5552BB"/>
          </a:solidFill>
          <a:ln/>
        </p:spPr>
      </p:sp>
      <p:sp>
        <p:nvSpPr>
          <p:cNvPr id="52" name="Text 50"/>
          <p:cNvSpPr txBox="1"/>
          <p:nvPr/>
        </p:nvSpPr>
        <p:spPr>
          <a:xfrm>
            <a:off x="8530438" y="1880006"/>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53" name="Text 51"/>
          <p:cNvSpPr txBox="1"/>
          <p:nvPr/>
        </p:nvSpPr>
        <p:spPr>
          <a:xfrm>
            <a:off x="8530438" y="2354580"/>
            <a:ext cx="2961742" cy="462686"/>
          </a:xfrm>
          <a:prstGeom prst="rect">
            <a:avLst/>
          </a:prstGeom>
          <a:noFill/>
          <a:ln/>
        </p:spPr>
        <p:txBody>
          <a:bodyPr wrap="none" lIns="0" tIns="0" rIns="0" bIns="0" rtlCol="0" anchor="t"/>
          <a:lstStyle/>
          <a:p>
            <a:pPr algn="l" indent="0" marL="0">
              <a:lnSpc>
                <a:spcPts val="1820"/>
              </a:lnSpc>
              <a:buNone/>
            </a:pPr>
            <a:r>
              <a:rPr lang="en-US" sz="1362" b="1" dirty="0">
                <a:solidFill>
                  <a:srgbClr val="141B3D"/>
                </a:solidFill>
                <a:latin typeface="Open Sans" pitchFamily="34" charset="0"/>
                <a:ea typeface="Open Sans" pitchFamily="34" charset="-122"/>
                <a:cs typeface="Open Sans" pitchFamily="34" charset="-120"/>
              </a:rPr>
              <a:t>The hand-drawn 2D topics, now</a:t>
            </a:r>
            <a:endParaRPr lang="en-US" sz="1362" dirty="0"/>
          </a:p>
          <a:p>
            <a:pPr algn="l" indent="0" marL="0">
              <a:lnSpc>
                <a:spcPts val="1820"/>
              </a:lnSpc>
              <a:buNone/>
            </a:pPr>
            <a:r>
              <a:rPr lang="en-US" sz="1362" b="1" dirty="0">
                <a:solidFill>
                  <a:srgbClr val="141B3D"/>
                </a:solidFill>
                <a:latin typeface="Open Sans" pitchFamily="34" charset="0"/>
                <a:ea typeface="Open Sans" pitchFamily="34" charset="-122"/>
                <a:cs typeface="Open Sans" pitchFamily="34" charset="-120"/>
              </a:rPr>
              <a:t>coded.</a:t>
            </a:r>
            <a:endParaRPr lang="en-US" sz="1362" dirty="0"/>
          </a:p>
        </p:txBody>
      </p:sp>
      <p:sp>
        <p:nvSpPr>
          <p:cNvPr id="54" name="Shape 52"/>
          <p:cNvSpPr/>
          <p:nvPr/>
        </p:nvSpPr>
        <p:spPr>
          <a:xfrm>
            <a:off x="8530438" y="2976372"/>
            <a:ext cx="51206" cy="51206"/>
          </a:xfrm>
          <a:prstGeom prst="rect">
            <a:avLst/>
          </a:prstGeom>
          <a:solidFill>
            <a:srgbClr val="5552BB"/>
          </a:solidFill>
          <a:ln/>
        </p:spPr>
      </p:sp>
      <p:sp>
        <p:nvSpPr>
          <p:cNvPr id="55" name="Text 53"/>
          <p:cNvSpPr txBox="1"/>
          <p:nvPr/>
        </p:nvSpPr>
        <p:spPr>
          <a:xfrm>
            <a:off x="8669426" y="2915107"/>
            <a:ext cx="246796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Warm-ups: brick wall, point grid</a:t>
            </a:r>
            <a:endParaRPr lang="en-US" sz="1200" dirty="0"/>
          </a:p>
        </p:txBody>
      </p:sp>
      <p:sp>
        <p:nvSpPr>
          <p:cNvPr id="56" name="Shape 54"/>
          <p:cNvSpPr/>
          <p:nvPr/>
        </p:nvSpPr>
        <p:spPr>
          <a:xfrm>
            <a:off x="8530438" y="3246120"/>
            <a:ext cx="51206" cy="51206"/>
          </a:xfrm>
          <a:prstGeom prst="rect">
            <a:avLst/>
          </a:prstGeom>
          <a:solidFill>
            <a:srgbClr val="5552BB"/>
          </a:solidFill>
          <a:ln/>
        </p:spPr>
      </p:sp>
      <p:sp>
        <p:nvSpPr>
          <p:cNvPr id="57" name="Text 55"/>
          <p:cNvSpPr txBox="1"/>
          <p:nvPr/>
        </p:nvSpPr>
        <p:spPr>
          <a:xfrm>
            <a:off x="8669426" y="3183941"/>
            <a:ext cx="256123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Funicular line through 2–3 points</a:t>
            </a:r>
            <a:endParaRPr lang="en-US" sz="1200" dirty="0"/>
          </a:p>
        </p:txBody>
      </p:sp>
      <p:sp>
        <p:nvSpPr>
          <p:cNvPr id="58" name="Shape 56"/>
          <p:cNvSpPr/>
          <p:nvPr/>
        </p:nvSpPr>
        <p:spPr>
          <a:xfrm>
            <a:off x="8530438" y="3514954"/>
            <a:ext cx="51206" cy="51206"/>
          </a:xfrm>
          <a:prstGeom prst="rect">
            <a:avLst/>
          </a:prstGeom>
          <a:solidFill>
            <a:srgbClr val="5552BB"/>
          </a:solidFill>
          <a:ln/>
        </p:spPr>
      </p:sp>
      <p:sp>
        <p:nvSpPr>
          <p:cNvPr id="59" name="Text 57"/>
          <p:cNvSpPr txBox="1"/>
          <p:nvPr/>
        </p:nvSpPr>
        <p:spPr>
          <a:xfrm>
            <a:off x="8669426" y="3453689"/>
            <a:ext cx="2934310"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Truss builder with member force data</a:t>
            </a:r>
            <a:endParaRPr lang="en-US" sz="1200" dirty="0"/>
          </a:p>
        </p:txBody>
      </p:sp>
      <p:sp>
        <p:nvSpPr>
          <p:cNvPr id="60" name="Shape 58"/>
          <p:cNvSpPr/>
          <p:nvPr/>
        </p:nvSpPr>
        <p:spPr>
          <a:xfrm>
            <a:off x="8530438" y="3784702"/>
            <a:ext cx="51206" cy="51206"/>
          </a:xfrm>
          <a:prstGeom prst="rect">
            <a:avLst/>
          </a:prstGeom>
          <a:solidFill>
            <a:srgbClr val="5552BB"/>
          </a:solidFill>
          <a:ln/>
        </p:spPr>
      </p:sp>
      <p:sp>
        <p:nvSpPr>
          <p:cNvPr id="61" name="Text 59"/>
          <p:cNvSpPr txBox="1"/>
          <p:nvPr/>
        </p:nvSpPr>
        <p:spPr>
          <a:xfrm>
            <a:off x="8669426" y="3722522"/>
            <a:ext cx="2895905"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Final project: one classic construction</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as a parametric script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block_research_group_eth_zurich_cover.jpe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FFFFFF">
              <a:alpha val="85000"/>
            </a:srgbClr>
          </a:solidFill>
          <a:ln/>
        </p:spPr>
      </p:sp>
      <p:sp>
        <p:nvSpPr>
          <p:cNvPr id="6" name="Shape 3"/>
          <p:cNvSpPr/>
          <p:nvPr/>
        </p:nvSpPr>
        <p:spPr>
          <a:xfrm>
            <a:off x="5333695" y="558698"/>
            <a:ext cx="1524305" cy="88697"/>
          </a:xfrm>
          <a:prstGeom prst="rect">
            <a:avLst/>
          </a:prstGeom>
          <a:solidFill>
            <a:srgbClr val="FFFFFF">
              <a:alpha val="85000"/>
            </a:srgbClr>
          </a:solidFill>
          <a:ln/>
        </p:spPr>
      </p:sp>
      <p:sp>
        <p:nvSpPr>
          <p:cNvPr id="7" name="Shape 4"/>
          <p:cNvSpPr/>
          <p:nvPr/>
        </p:nvSpPr>
        <p:spPr>
          <a:xfrm>
            <a:off x="6909206" y="558698"/>
            <a:ext cx="1524305" cy="88697"/>
          </a:xfrm>
          <a:prstGeom prst="rect">
            <a:avLst/>
          </a:prstGeom>
          <a:solidFill>
            <a:srgbClr val="FFFFFF">
              <a:alpha val="85000"/>
            </a:srgbClr>
          </a:solidFill>
          <a:ln/>
        </p:spPr>
      </p:sp>
      <p:sp>
        <p:nvSpPr>
          <p:cNvPr id="8" name="Shape 5"/>
          <p:cNvSpPr/>
          <p:nvPr/>
        </p:nvSpPr>
        <p:spPr>
          <a:xfrm>
            <a:off x="8483803" y="558698"/>
            <a:ext cx="1524305" cy="88697"/>
          </a:xfrm>
          <a:prstGeom prst="rect">
            <a:avLst/>
          </a:prstGeom>
          <a:solidFill>
            <a:srgbClr val="FFFFFF">
              <a:alpha val="85000"/>
            </a:srgbClr>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2 · 1 ECTS · 30 h</a:t>
            </a:r>
            <a:endParaRPr lang="en-US" sz="1200" dirty="0"/>
          </a:p>
        </p:txBody>
      </p:sp>
      <p:sp>
        <p:nvSpPr>
          <p:cNvPr id="12" name="Shape 9"/>
          <p:cNvSpPr/>
          <p:nvPr/>
        </p:nvSpPr>
        <p:spPr>
          <a:xfrm>
            <a:off x="609905" y="1200607"/>
            <a:ext cx="10318090" cy="552298"/>
          </a:xfrm>
          <a:prstGeom prst="rect">
            <a:avLst/>
          </a:prstGeom>
          <a:solidFill>
            <a:srgbClr val="FFFFFF">
              <a:alpha val="70000"/>
            </a:srgbClr>
          </a:solidFill>
          <a:ln/>
        </p:spPr>
      </p:sp>
      <p:sp>
        <p:nvSpPr>
          <p:cNvPr id="13" name="Text 10"/>
          <p:cNvSpPr txBox="1"/>
          <p:nvPr/>
        </p:nvSpPr>
        <p:spPr>
          <a:xfrm>
            <a:off x="724205" y="1272845"/>
            <a:ext cx="10934395" cy="400507"/>
          </a:xfrm>
          <a:prstGeom prst="rect">
            <a:avLst/>
          </a:prstGeom>
          <a:noFill/>
          <a:ln/>
        </p:spPr>
        <p:txBody>
          <a:bodyPr wrap="none" lIns="0" tIns="0" rIns="0" bIns="0" rtlCol="0" anchor="t"/>
          <a:lstStyle/>
          <a:p>
            <a:pPr algn="l" indent="0" marL="0">
              <a:lnSpc>
                <a:spcPts val="3150"/>
              </a:lnSpc>
              <a:buNone/>
            </a:pPr>
            <a:r>
              <a:rPr lang="en-US" sz="2900" b="1" spc="-60" kern="0" dirty="0">
                <a:solidFill>
                  <a:srgbClr val="141B3D"/>
                </a:solidFill>
                <a:latin typeface="Open Sans" pitchFamily="34" charset="0"/>
                <a:ea typeface="Open Sans" pitchFamily="34" charset="-122"/>
                <a:cs typeface="Open Sans" pitchFamily="34" charset="-120"/>
              </a:rPr>
              <a:t>Schedule: Computational Structural Design with COMPAS</a:t>
            </a:r>
            <a:endParaRPr lang="en-US" sz="2900"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5552BB"/>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5552BB"/>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5552BB"/>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5552BB"/>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5552BB"/>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DCD9E4"/>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7750C1"/>
                </a:solidFill>
                <a:latin typeface="Open Sans" pitchFamily="34" charset="0"/>
                <a:ea typeface="Open Sans" pitchFamily="34" charset="-122"/>
                <a:cs typeface="Open Sans" pitchFamily="34" charset="-120"/>
              </a:rPr>
              <a:t>Chapter 3 · 1 ECTS · 30 h</a:t>
            </a:r>
            <a:endParaRPr lang="en-US" sz="1200" dirty="0"/>
          </a:p>
        </p:txBody>
      </p:sp>
      <p:sp>
        <p:nvSpPr>
          <p:cNvPr id="10" name="Text 8"/>
          <p:cNvSpPr txBox="1"/>
          <p:nvPr/>
        </p:nvSpPr>
        <p:spPr>
          <a:xfrm>
            <a:off x="609905" y="1095451"/>
            <a:ext cx="2883103" cy="400507"/>
          </a:xfrm>
          <a:prstGeom prst="rect">
            <a:avLst/>
          </a:prstGeom>
          <a:noFill/>
          <a:ln/>
        </p:spPr>
        <p:txBody>
          <a:bodyPr wrap="none" lIns="0" tIns="0" rIns="0" bIns="0" rtlCol="0" anchor="t"/>
          <a:lstStyle/>
          <a:p>
            <a:pPr algn="l" indent="0" marL="0">
              <a:lnSpc>
                <a:spcPts val="3150"/>
              </a:lnSpc>
              <a:buNone/>
            </a:pPr>
            <a:r>
              <a:rPr lang="en-US" sz="2889" b="1" spc="-60" kern="0" dirty="0">
                <a:solidFill>
                  <a:srgbClr val="141B3D"/>
                </a:solidFill>
                <a:latin typeface="Open Sans" pitchFamily="34" charset="0"/>
                <a:ea typeface="Open Sans" pitchFamily="34" charset="-122"/>
                <a:cs typeface="Open Sans" pitchFamily="34" charset="-120"/>
              </a:rPr>
              <a:t>Graphic Statics</a:t>
            </a:r>
            <a:endParaRPr lang="en-US" sz="2889" dirty="0"/>
          </a:p>
        </p:txBody>
      </p:sp>
      <p:sp>
        <p:nvSpPr>
          <p:cNvPr id="11" name="Shape 9"/>
          <p:cNvSpPr/>
          <p:nvPr/>
        </p:nvSpPr>
        <p:spPr>
          <a:xfrm>
            <a:off x="609905" y="1714500"/>
            <a:ext cx="10972800" cy="6401"/>
          </a:xfrm>
          <a:prstGeom prst="rect">
            <a:avLst/>
          </a:prstGeom>
          <a:solidFill>
            <a:srgbClr val="DCD9E4"/>
          </a:solidFill>
          <a:ln/>
        </p:spPr>
      </p:sp>
      <p:sp>
        <p:nvSpPr>
          <p:cNvPr id="12" name="Shape 10"/>
          <p:cNvSpPr/>
          <p:nvPr/>
        </p:nvSpPr>
        <p:spPr>
          <a:xfrm>
            <a:off x="609905" y="1962302"/>
            <a:ext cx="3699662" cy="4412894"/>
          </a:xfrm>
          <a:prstGeom prst="rect">
            <a:avLst/>
          </a:prstGeom>
          <a:solidFill>
            <a:srgbClr val="F3F1FB"/>
          </a:solidFill>
          <a:ln/>
        </p:spPr>
      </p:sp>
      <p:sp>
        <p:nvSpPr>
          <p:cNvPr id="13" name="Shape 11"/>
          <p:cNvSpPr/>
          <p:nvPr/>
        </p:nvSpPr>
        <p:spPr>
          <a:xfrm>
            <a:off x="609905" y="1962302"/>
            <a:ext cx="3699662" cy="437998"/>
          </a:xfrm>
          <a:prstGeom prst="rect">
            <a:avLst/>
          </a:prstGeom>
          <a:solidFill>
            <a:srgbClr val="7750C1"/>
          </a:solidFill>
          <a:ln/>
        </p:spPr>
      </p:sp>
      <p:sp>
        <p:nvSpPr>
          <p:cNvPr id="14" name="Text 12"/>
          <p:cNvSpPr txBox="1"/>
          <p:nvPr/>
        </p:nvSpPr>
        <p:spPr>
          <a:xfrm>
            <a:off x="774497" y="2051914"/>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5" name="Text 13"/>
          <p:cNvSpPr txBox="1"/>
          <p:nvPr/>
        </p:nvSpPr>
        <p:spPr>
          <a:xfrm>
            <a:off x="774497" y="2525573"/>
            <a:ext cx="3142793" cy="462686"/>
          </a:xfrm>
          <a:prstGeom prst="rect">
            <a:avLst/>
          </a:prstGeom>
          <a:noFill/>
          <a:ln/>
        </p:spPr>
        <p:txBody>
          <a:bodyPr wrap="none" lIns="0" tIns="0" rIns="0" bIns="0" rtlCol="0" anchor="t"/>
          <a:lstStyle/>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The hand constructions rebuilt as</a:t>
            </a:r>
            <a:endParaRPr lang="en-US" sz="1354" dirty="0"/>
          </a:p>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code.</a:t>
            </a:r>
            <a:endParaRPr lang="en-US" sz="1354" dirty="0"/>
          </a:p>
        </p:txBody>
      </p:sp>
      <p:sp>
        <p:nvSpPr>
          <p:cNvPr id="16" name="Shape 14"/>
          <p:cNvSpPr/>
          <p:nvPr/>
        </p:nvSpPr>
        <p:spPr>
          <a:xfrm>
            <a:off x="774497" y="3148279"/>
            <a:ext cx="51206" cy="51206"/>
          </a:xfrm>
          <a:prstGeom prst="rect">
            <a:avLst/>
          </a:prstGeom>
          <a:solidFill>
            <a:srgbClr val="7750C1"/>
          </a:solidFill>
          <a:ln/>
        </p:spPr>
      </p:sp>
      <p:sp>
        <p:nvSpPr>
          <p:cNvPr id="17" name="Text 15"/>
          <p:cNvSpPr txBox="1"/>
          <p:nvPr/>
        </p:nvSpPr>
        <p:spPr>
          <a:xfrm>
            <a:off x="914400" y="3087014"/>
            <a:ext cx="346191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Form and force diagrams, reciprocity in code</a:t>
            </a:r>
            <a:endParaRPr lang="en-US" sz="1200" dirty="0"/>
          </a:p>
        </p:txBody>
      </p:sp>
      <p:sp>
        <p:nvSpPr>
          <p:cNvPr id="18" name="Shape 16"/>
          <p:cNvSpPr/>
          <p:nvPr/>
        </p:nvSpPr>
        <p:spPr>
          <a:xfrm>
            <a:off x="774497" y="3417113"/>
            <a:ext cx="51206" cy="51206"/>
          </a:xfrm>
          <a:prstGeom prst="rect">
            <a:avLst/>
          </a:prstGeom>
          <a:solidFill>
            <a:srgbClr val="7750C1"/>
          </a:solidFill>
          <a:ln/>
        </p:spPr>
      </p:sp>
      <p:sp>
        <p:nvSpPr>
          <p:cNvPr id="19" name="Text 17"/>
          <p:cNvSpPr txBox="1"/>
          <p:nvPr/>
        </p:nvSpPr>
        <p:spPr>
          <a:xfrm>
            <a:off x="914400" y="3355848"/>
            <a:ext cx="272948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Equilibrium set up from graph data</a:t>
            </a:r>
            <a:endParaRPr lang="en-US" sz="1200" dirty="0"/>
          </a:p>
        </p:txBody>
      </p:sp>
      <p:sp>
        <p:nvSpPr>
          <p:cNvPr id="20" name="Shape 18"/>
          <p:cNvSpPr/>
          <p:nvPr/>
        </p:nvSpPr>
        <p:spPr>
          <a:xfrm>
            <a:off x="774497" y="3686861"/>
            <a:ext cx="51206" cy="51206"/>
          </a:xfrm>
          <a:prstGeom prst="rect">
            <a:avLst/>
          </a:prstGeom>
          <a:solidFill>
            <a:srgbClr val="7750C1"/>
          </a:solidFill>
          <a:ln/>
        </p:spPr>
      </p:sp>
      <p:sp>
        <p:nvSpPr>
          <p:cNvPr id="21" name="Text 19"/>
          <p:cNvSpPr txBox="1"/>
          <p:nvPr/>
        </p:nvSpPr>
        <p:spPr>
          <a:xfrm>
            <a:off x="914400" y="3624682"/>
            <a:ext cx="2856586"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Forces and geometry modified, force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diagrams computed</a:t>
            </a:r>
            <a:endParaRPr lang="en-US" sz="1200" dirty="0"/>
          </a:p>
        </p:txBody>
      </p:sp>
      <p:sp>
        <p:nvSpPr>
          <p:cNvPr id="22" name="Shape 20"/>
          <p:cNvSpPr/>
          <p:nvPr/>
        </p:nvSpPr>
        <p:spPr>
          <a:xfrm>
            <a:off x="774497" y="4224528"/>
            <a:ext cx="51206" cy="51206"/>
          </a:xfrm>
          <a:prstGeom prst="rect">
            <a:avLst/>
          </a:prstGeom>
          <a:solidFill>
            <a:srgbClr val="7750C1"/>
          </a:solidFill>
          <a:ln/>
        </p:spPr>
      </p:sp>
      <p:sp>
        <p:nvSpPr>
          <p:cNvPr id="23" name="Text 21"/>
          <p:cNvSpPr txBox="1"/>
          <p:nvPr/>
        </p:nvSpPr>
        <p:spPr>
          <a:xfrm>
            <a:off x="914400" y="4163263"/>
            <a:ext cx="2781605"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Strut-and-tie thinking for load paths</a:t>
            </a:r>
            <a:endParaRPr lang="en-US" sz="1200" dirty="0"/>
          </a:p>
        </p:txBody>
      </p:sp>
      <p:sp>
        <p:nvSpPr>
          <p:cNvPr id="24" name="Shape 22"/>
          <p:cNvSpPr/>
          <p:nvPr/>
        </p:nvSpPr>
        <p:spPr>
          <a:xfrm>
            <a:off x="4486961" y="1962302"/>
            <a:ext cx="3699662" cy="4412894"/>
          </a:xfrm>
          <a:prstGeom prst="rect">
            <a:avLst/>
          </a:prstGeom>
          <a:solidFill>
            <a:srgbClr val="E1DCF5"/>
          </a:solidFill>
          <a:ln/>
        </p:spPr>
      </p:sp>
      <p:sp>
        <p:nvSpPr>
          <p:cNvPr id="25" name="Shape 23"/>
          <p:cNvSpPr/>
          <p:nvPr/>
        </p:nvSpPr>
        <p:spPr>
          <a:xfrm>
            <a:off x="4486961" y="1962302"/>
            <a:ext cx="3699662" cy="437998"/>
          </a:xfrm>
          <a:prstGeom prst="rect">
            <a:avLst/>
          </a:prstGeom>
          <a:solidFill>
            <a:srgbClr val="7750C1"/>
          </a:solidFill>
          <a:ln/>
        </p:spPr>
      </p:sp>
      <p:sp>
        <p:nvSpPr>
          <p:cNvPr id="26" name="Text 24"/>
          <p:cNvSpPr txBox="1"/>
          <p:nvPr/>
        </p:nvSpPr>
        <p:spPr>
          <a:xfrm>
            <a:off x="4652467" y="2051914"/>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27" name="Text 25"/>
          <p:cNvSpPr txBox="1"/>
          <p:nvPr/>
        </p:nvSpPr>
        <p:spPr>
          <a:xfrm>
            <a:off x="4652467" y="2525573"/>
            <a:ext cx="3005633" cy="231343"/>
          </a:xfrm>
          <a:prstGeom prst="rect">
            <a:avLst/>
          </a:prstGeom>
          <a:noFill/>
          <a:ln/>
        </p:spPr>
        <p:txBody>
          <a:bodyPr wrap="none" lIns="0" tIns="0" rIns="0" bIns="0" rtlCol="0" anchor="t"/>
          <a:lstStyle/>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Packages, plugins and GitBooks.</a:t>
            </a:r>
            <a:endParaRPr lang="en-US" sz="1354" dirty="0"/>
          </a:p>
        </p:txBody>
      </p:sp>
      <p:sp>
        <p:nvSpPr>
          <p:cNvPr id="28" name="Shape 26"/>
          <p:cNvSpPr/>
          <p:nvPr/>
        </p:nvSpPr>
        <p:spPr>
          <a:xfrm>
            <a:off x="4652467" y="2916936"/>
            <a:ext cx="51206" cy="51206"/>
          </a:xfrm>
          <a:prstGeom prst="rect">
            <a:avLst/>
          </a:prstGeom>
          <a:solidFill>
            <a:srgbClr val="7750C1"/>
          </a:solidFill>
          <a:ln/>
        </p:spPr>
      </p:sp>
      <p:sp>
        <p:nvSpPr>
          <p:cNvPr id="29" name="Text 27"/>
          <p:cNvSpPr txBox="1"/>
          <p:nvPr/>
        </p:nvSpPr>
        <p:spPr>
          <a:xfrm>
            <a:off x="4792370" y="2855671"/>
            <a:ext cx="2892247"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compas_ags: algebraic graphic statics</a:t>
            </a:r>
            <a:endParaRPr lang="en-US" sz="1200" dirty="0"/>
          </a:p>
        </p:txBody>
      </p:sp>
      <p:sp>
        <p:nvSpPr>
          <p:cNvPr id="30" name="Shape 28"/>
          <p:cNvSpPr/>
          <p:nvPr/>
        </p:nvSpPr>
        <p:spPr>
          <a:xfrm>
            <a:off x="4652467" y="3186684"/>
            <a:ext cx="51206" cy="51206"/>
          </a:xfrm>
          <a:prstGeom prst="rect">
            <a:avLst/>
          </a:prstGeom>
          <a:solidFill>
            <a:srgbClr val="7750C1"/>
          </a:solidFill>
          <a:ln/>
        </p:spPr>
      </p:sp>
      <p:sp>
        <p:nvSpPr>
          <p:cNvPr id="31" name="Text 29"/>
          <p:cNvSpPr txBox="1"/>
          <p:nvPr/>
        </p:nvSpPr>
        <p:spPr>
          <a:xfrm>
            <a:off x="4792370" y="3124505"/>
            <a:ext cx="2804465"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compas-IGS: graphic statics in Rhino</a:t>
            </a:r>
            <a:endParaRPr lang="en-US" sz="1200" dirty="0"/>
          </a:p>
        </p:txBody>
      </p:sp>
      <p:sp>
        <p:nvSpPr>
          <p:cNvPr id="32" name="Shape 30"/>
          <p:cNvSpPr/>
          <p:nvPr/>
        </p:nvSpPr>
        <p:spPr>
          <a:xfrm>
            <a:off x="4652467" y="3455518"/>
            <a:ext cx="51206" cy="51206"/>
          </a:xfrm>
          <a:prstGeom prst="rect">
            <a:avLst/>
          </a:prstGeom>
          <a:solidFill>
            <a:srgbClr val="7750C1"/>
          </a:solidFill>
          <a:ln/>
        </p:spPr>
      </p:sp>
      <p:sp>
        <p:nvSpPr>
          <p:cNvPr id="33" name="Text 31"/>
          <p:cNvSpPr txBox="1"/>
          <p:nvPr/>
        </p:nvSpPr>
        <p:spPr>
          <a:xfrm>
            <a:off x="4792370" y="3394253"/>
            <a:ext cx="305318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Gitbook: Computational Graphic Statics</a:t>
            </a:r>
            <a:endParaRPr lang="en-US" sz="1200" dirty="0"/>
          </a:p>
        </p:txBody>
      </p:sp>
      <p:sp>
        <p:nvSpPr>
          <p:cNvPr id="34" name="Shape 32"/>
          <p:cNvSpPr/>
          <p:nvPr/>
        </p:nvSpPr>
        <p:spPr>
          <a:xfrm>
            <a:off x="4652467" y="3724351"/>
            <a:ext cx="51206" cy="51206"/>
          </a:xfrm>
          <a:prstGeom prst="rect">
            <a:avLst/>
          </a:prstGeom>
          <a:solidFill>
            <a:srgbClr val="7750C1"/>
          </a:solidFill>
          <a:ln/>
        </p:spPr>
      </p:sp>
      <p:sp>
        <p:nvSpPr>
          <p:cNvPr id="35" name="Text 33"/>
          <p:cNvSpPr txBox="1"/>
          <p:nvPr/>
        </p:nvSpPr>
        <p:spPr>
          <a:xfrm>
            <a:off x="4792370" y="3663086"/>
            <a:ext cx="2726741"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eQUILIBRIUM views as starter code</a:t>
            </a:r>
            <a:endParaRPr lang="en-US" sz="1200" dirty="0"/>
          </a:p>
        </p:txBody>
      </p:sp>
      <p:sp>
        <p:nvSpPr>
          <p:cNvPr id="36" name="Shape 34"/>
          <p:cNvSpPr/>
          <p:nvPr/>
        </p:nvSpPr>
        <p:spPr>
          <a:xfrm>
            <a:off x="8364931" y="1962302"/>
            <a:ext cx="3217774" cy="4412894"/>
          </a:xfrm>
          <a:prstGeom prst="rect">
            <a:avLst/>
          </a:prstGeom>
          <a:solidFill>
            <a:srgbClr val="CDC4ED"/>
          </a:solidFill>
          <a:ln/>
        </p:spPr>
      </p:sp>
      <p:sp>
        <p:nvSpPr>
          <p:cNvPr id="37" name="Shape 35"/>
          <p:cNvSpPr/>
          <p:nvPr/>
        </p:nvSpPr>
        <p:spPr>
          <a:xfrm>
            <a:off x="8364931" y="1962302"/>
            <a:ext cx="3217774" cy="437998"/>
          </a:xfrm>
          <a:prstGeom prst="rect">
            <a:avLst/>
          </a:prstGeom>
          <a:solidFill>
            <a:srgbClr val="7750C1"/>
          </a:solidFill>
          <a:ln/>
        </p:spPr>
      </p:sp>
      <p:sp>
        <p:nvSpPr>
          <p:cNvPr id="38" name="Text 36"/>
          <p:cNvSpPr txBox="1"/>
          <p:nvPr/>
        </p:nvSpPr>
        <p:spPr>
          <a:xfrm>
            <a:off x="8530438" y="2051914"/>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39" name="Text 37"/>
          <p:cNvSpPr txBox="1"/>
          <p:nvPr/>
        </p:nvSpPr>
        <p:spPr>
          <a:xfrm>
            <a:off x="8530438" y="2525573"/>
            <a:ext cx="3044038" cy="462686"/>
          </a:xfrm>
          <a:prstGeom prst="rect">
            <a:avLst/>
          </a:prstGeom>
          <a:noFill/>
          <a:ln/>
        </p:spPr>
        <p:txBody>
          <a:bodyPr wrap="none" lIns="0" tIns="0" rIns="0" bIns="0" rtlCol="0" anchor="t"/>
          <a:lstStyle/>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Drawn by hand first, then</a:t>
            </a:r>
            <a:endParaRPr lang="en-US" sz="1354" dirty="0"/>
          </a:p>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reproduced and verified in code.</a:t>
            </a:r>
            <a:endParaRPr lang="en-US" sz="1354" dirty="0"/>
          </a:p>
        </p:txBody>
      </p:sp>
      <p:sp>
        <p:nvSpPr>
          <p:cNvPr id="40" name="Shape 38"/>
          <p:cNvSpPr/>
          <p:nvPr/>
        </p:nvSpPr>
        <p:spPr>
          <a:xfrm>
            <a:off x="8530438" y="3148279"/>
            <a:ext cx="51206" cy="51206"/>
          </a:xfrm>
          <a:prstGeom prst="rect">
            <a:avLst/>
          </a:prstGeom>
          <a:solidFill>
            <a:srgbClr val="7750C1"/>
          </a:solidFill>
          <a:ln/>
        </p:spPr>
      </p:sp>
      <p:sp>
        <p:nvSpPr>
          <p:cNvPr id="41" name="Text 39"/>
          <p:cNvSpPr txBox="1"/>
          <p:nvPr/>
        </p:nvSpPr>
        <p:spPr>
          <a:xfrm>
            <a:off x="8669426" y="3087014"/>
            <a:ext cx="2285086"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Three eQUILIBRIUM views re-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implemented as scripts</a:t>
            </a:r>
            <a:endParaRPr lang="en-US" sz="1200" dirty="0"/>
          </a:p>
        </p:txBody>
      </p:sp>
      <p:sp>
        <p:nvSpPr>
          <p:cNvPr id="42" name="Shape 40"/>
          <p:cNvSpPr/>
          <p:nvPr/>
        </p:nvSpPr>
        <p:spPr>
          <a:xfrm>
            <a:off x="8530438" y="3622853"/>
            <a:ext cx="51206" cy="51206"/>
          </a:xfrm>
          <a:prstGeom prst="rect">
            <a:avLst/>
          </a:prstGeom>
          <a:solidFill>
            <a:srgbClr val="7750C1"/>
          </a:solidFill>
          <a:ln/>
        </p:spPr>
      </p:sp>
      <p:sp>
        <p:nvSpPr>
          <p:cNvPr id="43" name="Text 41"/>
          <p:cNvSpPr txBox="1"/>
          <p:nvPr/>
        </p:nvSpPr>
        <p:spPr>
          <a:xfrm>
            <a:off x="8669426" y="3561588"/>
            <a:ext cx="2860243"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An arch or truss sized for given loads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EETTV_vault_picture_perspective_009_1425050346.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7750C1"/>
          </a:solidFill>
          <a:ln/>
        </p:spPr>
      </p:sp>
      <p:sp>
        <p:nvSpPr>
          <p:cNvPr id="6" name="Shape 3"/>
          <p:cNvSpPr/>
          <p:nvPr/>
        </p:nvSpPr>
        <p:spPr>
          <a:xfrm>
            <a:off x="5333695" y="558698"/>
            <a:ext cx="1524305" cy="88697"/>
          </a:xfrm>
          <a:prstGeom prst="rect">
            <a:avLst/>
          </a:prstGeom>
          <a:solidFill>
            <a:srgbClr val="FFFFFF">
              <a:alpha val="85000"/>
            </a:srgbClr>
          </a:solidFill>
          <a:ln/>
        </p:spPr>
      </p:sp>
      <p:sp>
        <p:nvSpPr>
          <p:cNvPr id="7" name="Shape 4"/>
          <p:cNvSpPr/>
          <p:nvPr/>
        </p:nvSpPr>
        <p:spPr>
          <a:xfrm>
            <a:off x="6909206" y="558698"/>
            <a:ext cx="1524305" cy="88697"/>
          </a:xfrm>
          <a:prstGeom prst="rect">
            <a:avLst/>
          </a:prstGeom>
          <a:solidFill>
            <a:srgbClr val="FFFFFF">
              <a:alpha val="85000"/>
            </a:srgbClr>
          </a:solidFill>
          <a:ln/>
        </p:spPr>
      </p:sp>
      <p:sp>
        <p:nvSpPr>
          <p:cNvPr id="8" name="Shape 5"/>
          <p:cNvSpPr/>
          <p:nvPr/>
        </p:nvSpPr>
        <p:spPr>
          <a:xfrm>
            <a:off x="8483803" y="558698"/>
            <a:ext cx="1524305" cy="88697"/>
          </a:xfrm>
          <a:prstGeom prst="rect">
            <a:avLst/>
          </a:prstGeom>
          <a:solidFill>
            <a:srgbClr val="FFFFFF">
              <a:alpha val="85000"/>
            </a:srgbClr>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3 · 1 ECTS · 30 h</a:t>
            </a:r>
            <a:endParaRPr lang="en-US" sz="1200" dirty="0"/>
          </a:p>
        </p:txBody>
      </p:sp>
      <p:sp>
        <p:nvSpPr>
          <p:cNvPr id="12" name="Shape 9"/>
          <p:cNvSpPr/>
          <p:nvPr/>
        </p:nvSpPr>
        <p:spPr>
          <a:xfrm>
            <a:off x="609905" y="1200607"/>
            <a:ext cx="4655210" cy="552298"/>
          </a:xfrm>
          <a:prstGeom prst="rect">
            <a:avLst/>
          </a:prstGeom>
          <a:solidFill>
            <a:srgbClr val="FFFFFF">
              <a:alpha val="70000"/>
            </a:srgbClr>
          </a:solidFill>
          <a:ln/>
        </p:spPr>
      </p:sp>
      <p:sp>
        <p:nvSpPr>
          <p:cNvPr id="13" name="Text 10"/>
          <p:cNvSpPr txBox="1"/>
          <p:nvPr/>
        </p:nvSpPr>
        <p:spPr>
          <a:xfrm>
            <a:off x="724205" y="1272845"/>
            <a:ext cx="4818888" cy="400507"/>
          </a:xfrm>
          <a:prstGeom prst="rect">
            <a:avLst/>
          </a:prstGeom>
          <a:noFill/>
          <a:ln/>
        </p:spPr>
        <p:txBody>
          <a:bodyPr wrap="none" lIns="0" tIns="0" rIns="0" bIns="0" rtlCol="0" anchor="t"/>
          <a:lstStyle/>
          <a:p>
            <a:pPr algn="l" indent="0" marL="0">
              <a:lnSpc>
                <a:spcPts val="3150"/>
              </a:lnSpc>
              <a:buNone/>
            </a:pPr>
            <a:r>
              <a:rPr lang="en-US" sz="2900" b="1" spc="-60" kern="0" dirty="0">
                <a:solidFill>
                  <a:srgbClr val="141B3D"/>
                </a:solidFill>
                <a:latin typeface="Open Sans" pitchFamily="34" charset="0"/>
                <a:ea typeface="Open Sans" pitchFamily="34" charset="-122"/>
                <a:cs typeface="Open Sans" pitchFamily="34" charset="-120"/>
              </a:rPr>
              <a:t>Schedule: Graphic Statics</a:t>
            </a:r>
            <a:endParaRPr lang="en-US" sz="2900"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7750C1"/>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7750C1"/>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7750C1"/>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7750C1"/>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7750C1"/>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DCD9E4"/>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934ABD"/>
                </a:solidFill>
                <a:latin typeface="Open Sans" pitchFamily="34" charset="0"/>
                <a:ea typeface="Open Sans" pitchFamily="34" charset="-122"/>
                <a:cs typeface="Open Sans" pitchFamily="34" charset="-120"/>
              </a:rPr>
              <a:t>Chapter 4 · 1 ECTS · 30 h</a:t>
            </a:r>
            <a:endParaRPr lang="en-US" sz="1200" dirty="0"/>
          </a:p>
        </p:txBody>
      </p:sp>
      <p:sp>
        <p:nvSpPr>
          <p:cNvPr id="10" name="Text 8"/>
          <p:cNvSpPr txBox="1"/>
          <p:nvPr/>
        </p:nvSpPr>
        <p:spPr>
          <a:xfrm>
            <a:off x="609905" y="1095451"/>
            <a:ext cx="2542032" cy="400507"/>
          </a:xfrm>
          <a:prstGeom prst="rect">
            <a:avLst/>
          </a:prstGeom>
          <a:noFill/>
          <a:ln/>
        </p:spPr>
        <p:txBody>
          <a:bodyPr wrap="none" lIns="0" tIns="0" rIns="0" bIns="0" rtlCol="0" anchor="t"/>
          <a:lstStyle/>
          <a:p>
            <a:pPr algn="l" indent="0" marL="0">
              <a:lnSpc>
                <a:spcPts val="3150"/>
              </a:lnSpc>
              <a:buNone/>
            </a:pPr>
            <a:r>
              <a:rPr lang="en-US" sz="2904" b="1" spc="-60" kern="0" dirty="0">
                <a:solidFill>
                  <a:srgbClr val="141B3D"/>
                </a:solidFill>
                <a:latin typeface="Open Sans" pitchFamily="34" charset="0"/>
                <a:ea typeface="Open Sans" pitchFamily="34" charset="-122"/>
                <a:cs typeface="Open Sans" pitchFamily="34" charset="-120"/>
              </a:rPr>
              <a:t>Form Finding</a:t>
            </a:r>
            <a:endParaRPr lang="en-US" sz="2904" dirty="0"/>
          </a:p>
        </p:txBody>
      </p:sp>
      <p:sp>
        <p:nvSpPr>
          <p:cNvPr id="11" name="Shape 9"/>
          <p:cNvSpPr/>
          <p:nvPr/>
        </p:nvSpPr>
        <p:spPr>
          <a:xfrm>
            <a:off x="609905" y="1714500"/>
            <a:ext cx="10972800" cy="6401"/>
          </a:xfrm>
          <a:prstGeom prst="rect">
            <a:avLst/>
          </a:prstGeom>
          <a:solidFill>
            <a:srgbClr val="DCD9E4"/>
          </a:solidFill>
          <a:ln/>
        </p:spPr>
      </p:sp>
      <p:sp>
        <p:nvSpPr>
          <p:cNvPr id="12" name="Shape 10"/>
          <p:cNvSpPr/>
          <p:nvPr/>
        </p:nvSpPr>
        <p:spPr>
          <a:xfrm>
            <a:off x="609905" y="1962302"/>
            <a:ext cx="3699662" cy="4412894"/>
          </a:xfrm>
          <a:prstGeom prst="rect">
            <a:avLst/>
          </a:prstGeom>
          <a:solidFill>
            <a:srgbClr val="F6F1FB"/>
          </a:solidFill>
          <a:ln/>
        </p:spPr>
      </p:sp>
      <p:sp>
        <p:nvSpPr>
          <p:cNvPr id="13" name="Shape 11"/>
          <p:cNvSpPr/>
          <p:nvPr/>
        </p:nvSpPr>
        <p:spPr>
          <a:xfrm>
            <a:off x="609905" y="1962302"/>
            <a:ext cx="3699662" cy="437998"/>
          </a:xfrm>
          <a:prstGeom prst="rect">
            <a:avLst/>
          </a:prstGeom>
          <a:solidFill>
            <a:srgbClr val="934ABD"/>
          </a:solidFill>
          <a:ln/>
        </p:spPr>
      </p:sp>
      <p:sp>
        <p:nvSpPr>
          <p:cNvPr id="14" name="Text 12"/>
          <p:cNvSpPr txBox="1"/>
          <p:nvPr/>
        </p:nvSpPr>
        <p:spPr>
          <a:xfrm>
            <a:off x="774497" y="2051914"/>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5" name="Text 13"/>
          <p:cNvSpPr txBox="1"/>
          <p:nvPr/>
        </p:nvSpPr>
        <p:spPr>
          <a:xfrm>
            <a:off x="774497" y="2525573"/>
            <a:ext cx="2091233" cy="231343"/>
          </a:xfrm>
          <a:prstGeom prst="rect">
            <a:avLst/>
          </a:prstGeom>
          <a:noFill/>
          <a:ln/>
        </p:spPr>
        <p:txBody>
          <a:bodyPr wrap="none" lIns="0" tIns="0" rIns="0" bIns="0" rtlCol="0" anchor="t"/>
          <a:lstStyle/>
          <a:p>
            <a:pPr algn="l" indent="0" marL="0">
              <a:lnSpc>
                <a:spcPts val="1820"/>
              </a:lnSpc>
              <a:buNone/>
            </a:pPr>
            <a:r>
              <a:rPr lang="en-US" sz="1358" b="1" dirty="0">
                <a:solidFill>
                  <a:srgbClr val="141B3D"/>
                </a:solidFill>
                <a:latin typeface="Open Sans" pitchFamily="34" charset="0"/>
                <a:ea typeface="Open Sans" pitchFamily="34" charset="-122"/>
                <a:cs typeface="Open Sans" pitchFamily="34" charset="-120"/>
              </a:rPr>
              <a:t>Nets and membranes.</a:t>
            </a:r>
            <a:endParaRPr lang="en-US" sz="1358" dirty="0"/>
          </a:p>
        </p:txBody>
      </p:sp>
      <p:sp>
        <p:nvSpPr>
          <p:cNvPr id="16" name="Shape 14"/>
          <p:cNvSpPr/>
          <p:nvPr/>
        </p:nvSpPr>
        <p:spPr>
          <a:xfrm>
            <a:off x="774497" y="2916936"/>
            <a:ext cx="51206" cy="51206"/>
          </a:xfrm>
          <a:prstGeom prst="rect">
            <a:avLst/>
          </a:prstGeom>
          <a:solidFill>
            <a:srgbClr val="934ABD"/>
          </a:solidFill>
          <a:ln/>
        </p:spPr>
      </p:sp>
      <p:sp>
        <p:nvSpPr>
          <p:cNvPr id="17" name="Text 15"/>
          <p:cNvSpPr txBox="1"/>
          <p:nvPr/>
        </p:nvSpPr>
        <p:spPr>
          <a:xfrm>
            <a:off x="914400" y="2855671"/>
            <a:ext cx="319034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Force density method, Schek 1974: force-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length ratios</a:t>
            </a:r>
            <a:endParaRPr lang="en-US" sz="1200" dirty="0"/>
          </a:p>
        </p:txBody>
      </p:sp>
      <p:sp>
        <p:nvSpPr>
          <p:cNvPr id="18" name="Shape 16"/>
          <p:cNvSpPr/>
          <p:nvPr/>
        </p:nvSpPr>
        <p:spPr>
          <a:xfrm>
            <a:off x="774497" y="3392424"/>
            <a:ext cx="51206" cy="51206"/>
          </a:xfrm>
          <a:prstGeom prst="rect">
            <a:avLst/>
          </a:prstGeom>
          <a:solidFill>
            <a:srgbClr val="934ABD"/>
          </a:solidFill>
          <a:ln/>
        </p:spPr>
      </p:sp>
      <p:sp>
        <p:nvSpPr>
          <p:cNvPr id="19" name="Text 17"/>
          <p:cNvSpPr txBox="1"/>
          <p:nvPr/>
        </p:nvSpPr>
        <p:spPr>
          <a:xfrm>
            <a:off x="914400" y="3330245"/>
            <a:ext cx="286207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Boundary conditions and constraints</a:t>
            </a:r>
            <a:endParaRPr lang="en-US" sz="1200" dirty="0"/>
          </a:p>
        </p:txBody>
      </p:sp>
      <p:sp>
        <p:nvSpPr>
          <p:cNvPr id="20" name="Shape 18"/>
          <p:cNvSpPr/>
          <p:nvPr/>
        </p:nvSpPr>
        <p:spPr>
          <a:xfrm>
            <a:off x="774497" y="3661258"/>
            <a:ext cx="51206" cy="51206"/>
          </a:xfrm>
          <a:prstGeom prst="rect">
            <a:avLst/>
          </a:prstGeom>
          <a:solidFill>
            <a:srgbClr val="934ABD"/>
          </a:solidFill>
          <a:ln/>
        </p:spPr>
      </p:sp>
      <p:sp>
        <p:nvSpPr>
          <p:cNvPr id="21" name="Text 19"/>
          <p:cNvSpPr txBox="1"/>
          <p:nvPr/>
        </p:nvSpPr>
        <p:spPr>
          <a:xfrm>
            <a:off x="914400" y="3599993"/>
            <a:ext cx="3152851"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Dynamic relaxation with kinetic damping</a:t>
            </a:r>
            <a:endParaRPr lang="en-US" sz="1200" dirty="0"/>
          </a:p>
        </p:txBody>
      </p:sp>
      <p:sp>
        <p:nvSpPr>
          <p:cNvPr id="22" name="Shape 20"/>
          <p:cNvSpPr/>
          <p:nvPr/>
        </p:nvSpPr>
        <p:spPr>
          <a:xfrm>
            <a:off x="774497" y="3930091"/>
            <a:ext cx="51206" cy="51206"/>
          </a:xfrm>
          <a:prstGeom prst="rect">
            <a:avLst/>
          </a:prstGeom>
          <a:solidFill>
            <a:srgbClr val="934ABD"/>
          </a:solidFill>
          <a:ln/>
        </p:spPr>
      </p:sp>
      <p:sp>
        <p:nvSpPr>
          <p:cNvPr id="23" name="Text 21"/>
          <p:cNvSpPr txBox="1"/>
          <p:nvPr/>
        </p:nvSpPr>
        <p:spPr>
          <a:xfrm>
            <a:off x="914400" y="3868826"/>
            <a:ext cx="1995221"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When to use which solver</a:t>
            </a:r>
            <a:endParaRPr lang="en-US" sz="1200" dirty="0"/>
          </a:p>
        </p:txBody>
      </p:sp>
      <p:sp>
        <p:nvSpPr>
          <p:cNvPr id="24" name="Shape 22"/>
          <p:cNvSpPr/>
          <p:nvPr/>
        </p:nvSpPr>
        <p:spPr>
          <a:xfrm>
            <a:off x="774497" y="4199839"/>
            <a:ext cx="51206" cy="51206"/>
          </a:xfrm>
          <a:prstGeom prst="rect">
            <a:avLst/>
          </a:prstGeom>
          <a:solidFill>
            <a:srgbClr val="934ABD"/>
          </a:solidFill>
          <a:ln/>
        </p:spPr>
      </p:sp>
      <p:sp>
        <p:nvSpPr>
          <p:cNvPr id="25" name="Text 23"/>
          <p:cNvSpPr txBox="1"/>
          <p:nvPr/>
        </p:nvSpPr>
        <p:spPr>
          <a:xfrm>
            <a:off x="914400" y="4137660"/>
            <a:ext cx="3226003"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Tensile surfaces and cable-net formworks</a:t>
            </a:r>
            <a:endParaRPr lang="en-US" sz="1200" dirty="0"/>
          </a:p>
        </p:txBody>
      </p:sp>
      <p:sp>
        <p:nvSpPr>
          <p:cNvPr id="26" name="Shape 24"/>
          <p:cNvSpPr/>
          <p:nvPr/>
        </p:nvSpPr>
        <p:spPr>
          <a:xfrm>
            <a:off x="4486961" y="1962302"/>
            <a:ext cx="3699662" cy="4412894"/>
          </a:xfrm>
          <a:prstGeom prst="rect">
            <a:avLst/>
          </a:prstGeom>
          <a:solidFill>
            <a:srgbClr val="E9DBF3"/>
          </a:solidFill>
          <a:ln/>
        </p:spPr>
      </p:sp>
      <p:sp>
        <p:nvSpPr>
          <p:cNvPr id="27" name="Shape 25"/>
          <p:cNvSpPr/>
          <p:nvPr/>
        </p:nvSpPr>
        <p:spPr>
          <a:xfrm>
            <a:off x="4486961" y="1962302"/>
            <a:ext cx="3699662" cy="437998"/>
          </a:xfrm>
          <a:prstGeom prst="rect">
            <a:avLst/>
          </a:prstGeom>
          <a:solidFill>
            <a:srgbClr val="934ABD"/>
          </a:solidFill>
          <a:ln/>
        </p:spPr>
      </p:sp>
      <p:sp>
        <p:nvSpPr>
          <p:cNvPr id="28" name="Text 26"/>
          <p:cNvSpPr txBox="1"/>
          <p:nvPr/>
        </p:nvSpPr>
        <p:spPr>
          <a:xfrm>
            <a:off x="4652467" y="2051914"/>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29" name="Text 27"/>
          <p:cNvSpPr txBox="1"/>
          <p:nvPr/>
        </p:nvSpPr>
        <p:spPr>
          <a:xfrm>
            <a:off x="4652467" y="2525573"/>
            <a:ext cx="3005633" cy="231343"/>
          </a:xfrm>
          <a:prstGeom prst="rect">
            <a:avLst/>
          </a:prstGeom>
          <a:noFill/>
          <a:ln/>
        </p:spPr>
        <p:txBody>
          <a:bodyPr wrap="none" lIns="0" tIns="0" rIns="0" bIns="0" rtlCol="0" anchor="t"/>
          <a:lstStyle/>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Packages, plugins and GitBooks.</a:t>
            </a:r>
            <a:endParaRPr lang="en-US" sz="1354" dirty="0"/>
          </a:p>
        </p:txBody>
      </p:sp>
      <p:sp>
        <p:nvSpPr>
          <p:cNvPr id="30" name="Shape 28"/>
          <p:cNvSpPr/>
          <p:nvPr/>
        </p:nvSpPr>
        <p:spPr>
          <a:xfrm>
            <a:off x="4652467" y="2916936"/>
            <a:ext cx="51206" cy="51206"/>
          </a:xfrm>
          <a:prstGeom prst="rect">
            <a:avLst/>
          </a:prstGeom>
          <a:solidFill>
            <a:srgbClr val="934ABD"/>
          </a:solidFill>
          <a:ln/>
        </p:spPr>
      </p:sp>
      <p:sp>
        <p:nvSpPr>
          <p:cNvPr id="31" name="Text 29"/>
          <p:cNvSpPr txBox="1"/>
          <p:nvPr/>
        </p:nvSpPr>
        <p:spPr>
          <a:xfrm>
            <a:off x="4792370" y="2855671"/>
            <a:ext cx="194401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compas_fd: force density</a:t>
            </a:r>
            <a:endParaRPr lang="en-US" sz="1200" dirty="0"/>
          </a:p>
        </p:txBody>
      </p:sp>
      <p:sp>
        <p:nvSpPr>
          <p:cNvPr id="32" name="Shape 30"/>
          <p:cNvSpPr/>
          <p:nvPr/>
        </p:nvSpPr>
        <p:spPr>
          <a:xfrm>
            <a:off x="4652467" y="3186684"/>
            <a:ext cx="51206" cy="51206"/>
          </a:xfrm>
          <a:prstGeom prst="rect">
            <a:avLst/>
          </a:prstGeom>
          <a:solidFill>
            <a:srgbClr val="934ABD"/>
          </a:solidFill>
          <a:ln/>
        </p:spPr>
      </p:sp>
      <p:sp>
        <p:nvSpPr>
          <p:cNvPr id="33" name="Text 31"/>
          <p:cNvSpPr txBox="1"/>
          <p:nvPr/>
        </p:nvSpPr>
        <p:spPr>
          <a:xfrm>
            <a:off x="4792370" y="3124505"/>
            <a:ext cx="242681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compas_dr: dynamic relaxation</a:t>
            </a:r>
            <a:endParaRPr lang="en-US" sz="1200" dirty="0"/>
          </a:p>
        </p:txBody>
      </p:sp>
      <p:sp>
        <p:nvSpPr>
          <p:cNvPr id="34" name="Shape 32"/>
          <p:cNvSpPr/>
          <p:nvPr/>
        </p:nvSpPr>
        <p:spPr>
          <a:xfrm>
            <a:off x="4652467" y="3455518"/>
            <a:ext cx="51206" cy="51206"/>
          </a:xfrm>
          <a:prstGeom prst="rect">
            <a:avLst/>
          </a:prstGeom>
          <a:solidFill>
            <a:srgbClr val="934ABD"/>
          </a:solidFill>
          <a:ln/>
        </p:spPr>
      </p:sp>
      <p:sp>
        <p:nvSpPr>
          <p:cNvPr id="35" name="Text 33"/>
          <p:cNvSpPr txBox="1"/>
          <p:nvPr/>
        </p:nvSpPr>
        <p:spPr>
          <a:xfrm>
            <a:off x="4792370" y="3394253"/>
            <a:ext cx="275234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compas-FoFin: FormFinder in Rhino</a:t>
            </a:r>
            <a:endParaRPr lang="en-US" sz="1200" dirty="0"/>
          </a:p>
        </p:txBody>
      </p:sp>
      <p:sp>
        <p:nvSpPr>
          <p:cNvPr id="36" name="Shape 34"/>
          <p:cNvSpPr/>
          <p:nvPr/>
        </p:nvSpPr>
        <p:spPr>
          <a:xfrm>
            <a:off x="4652467" y="3724351"/>
            <a:ext cx="51206" cy="51206"/>
          </a:xfrm>
          <a:prstGeom prst="rect">
            <a:avLst/>
          </a:prstGeom>
          <a:solidFill>
            <a:srgbClr val="934ABD"/>
          </a:solidFill>
          <a:ln/>
        </p:spPr>
      </p:sp>
      <p:sp>
        <p:nvSpPr>
          <p:cNvPr id="37" name="Text 35"/>
          <p:cNvSpPr txBox="1"/>
          <p:nvPr/>
        </p:nvSpPr>
        <p:spPr>
          <a:xfrm>
            <a:off x="4792370" y="3663086"/>
            <a:ext cx="233629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Gitbook: COMPAS FormFinder</a:t>
            </a:r>
            <a:endParaRPr lang="en-US" sz="1200" dirty="0"/>
          </a:p>
        </p:txBody>
      </p:sp>
      <p:sp>
        <p:nvSpPr>
          <p:cNvPr id="38" name="Shape 36"/>
          <p:cNvSpPr/>
          <p:nvPr/>
        </p:nvSpPr>
        <p:spPr>
          <a:xfrm>
            <a:off x="4652467" y="3994099"/>
            <a:ext cx="51206" cy="51206"/>
          </a:xfrm>
          <a:prstGeom prst="rect">
            <a:avLst/>
          </a:prstGeom>
          <a:solidFill>
            <a:srgbClr val="934ABD"/>
          </a:solidFill>
          <a:ln/>
        </p:spPr>
      </p:sp>
      <p:sp>
        <p:nvSpPr>
          <p:cNvPr id="39" name="Text 37"/>
          <p:cNvSpPr txBox="1"/>
          <p:nvPr/>
        </p:nvSpPr>
        <p:spPr>
          <a:xfrm>
            <a:off x="4792370" y="3931920"/>
            <a:ext cx="2581351"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BRG demonstrator case material:</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KnitCandela, HiLo.</a:t>
            </a:r>
            <a:endParaRPr lang="en-US" sz="1200" dirty="0"/>
          </a:p>
        </p:txBody>
      </p:sp>
      <p:sp>
        <p:nvSpPr>
          <p:cNvPr id="40" name="Shape 38"/>
          <p:cNvSpPr/>
          <p:nvPr/>
        </p:nvSpPr>
        <p:spPr>
          <a:xfrm>
            <a:off x="8364931" y="1962302"/>
            <a:ext cx="3217774" cy="4412894"/>
          </a:xfrm>
          <a:prstGeom prst="rect">
            <a:avLst/>
          </a:prstGeom>
          <a:solidFill>
            <a:srgbClr val="DAC2EB"/>
          </a:solidFill>
          <a:ln/>
        </p:spPr>
      </p:sp>
      <p:sp>
        <p:nvSpPr>
          <p:cNvPr id="41" name="Shape 39"/>
          <p:cNvSpPr/>
          <p:nvPr/>
        </p:nvSpPr>
        <p:spPr>
          <a:xfrm>
            <a:off x="8364931" y="1962302"/>
            <a:ext cx="3217774" cy="437998"/>
          </a:xfrm>
          <a:prstGeom prst="rect">
            <a:avLst/>
          </a:prstGeom>
          <a:solidFill>
            <a:srgbClr val="934ABD"/>
          </a:solidFill>
          <a:ln/>
        </p:spPr>
      </p:sp>
      <p:sp>
        <p:nvSpPr>
          <p:cNvPr id="42" name="Text 40"/>
          <p:cNvSpPr txBox="1"/>
          <p:nvPr/>
        </p:nvSpPr>
        <p:spPr>
          <a:xfrm>
            <a:off x="8530438" y="2051914"/>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43" name="Text 41"/>
          <p:cNvSpPr txBox="1"/>
          <p:nvPr/>
        </p:nvSpPr>
        <p:spPr>
          <a:xfrm>
            <a:off x="8530438" y="2525573"/>
            <a:ext cx="2987345" cy="462686"/>
          </a:xfrm>
          <a:prstGeom prst="rect">
            <a:avLst/>
          </a:prstGeom>
          <a:noFill/>
          <a:ln/>
        </p:spPr>
        <p:txBody>
          <a:bodyPr wrap="none" lIns="0" tIns="0" rIns="0" bIns="0" rtlCol="0" anchor="t"/>
          <a:lstStyle/>
          <a:p>
            <a:pPr algn="l" indent="0" marL="0">
              <a:lnSpc>
                <a:spcPts val="1820"/>
              </a:lnSpc>
              <a:buNone/>
            </a:pPr>
            <a:r>
              <a:rPr lang="en-US" sz="1347" b="1" dirty="0">
                <a:solidFill>
                  <a:srgbClr val="141B3D"/>
                </a:solidFill>
                <a:latin typeface="Open Sans" pitchFamily="34" charset="0"/>
                <a:ea typeface="Open Sans" pitchFamily="34" charset="-122"/>
                <a:cs typeface="Open Sans" pitchFamily="34" charset="-120"/>
              </a:rPr>
              <a:t>A form-found tension structure,</a:t>
            </a:r>
            <a:endParaRPr lang="en-US" sz="1347" dirty="0"/>
          </a:p>
          <a:p>
            <a:pPr algn="l" indent="0" marL="0">
              <a:lnSpc>
                <a:spcPts val="1820"/>
              </a:lnSpc>
              <a:buNone/>
            </a:pPr>
            <a:r>
              <a:rPr lang="en-US" sz="1347" b="1" dirty="0">
                <a:solidFill>
                  <a:srgbClr val="141B3D"/>
                </a:solidFill>
                <a:latin typeface="Open Sans" pitchFamily="34" charset="0"/>
                <a:ea typeface="Open Sans" pitchFamily="34" charset="-122"/>
                <a:cs typeface="Open Sans" pitchFamily="34" charset="-120"/>
              </a:rPr>
              <a:t>with the solver choice justified.</a:t>
            </a:r>
            <a:endParaRPr lang="en-US" sz="1347" dirty="0"/>
          </a:p>
        </p:txBody>
      </p:sp>
      <p:sp>
        <p:nvSpPr>
          <p:cNvPr id="44" name="Shape 42"/>
          <p:cNvSpPr/>
          <p:nvPr/>
        </p:nvSpPr>
        <p:spPr>
          <a:xfrm>
            <a:off x="8530438" y="3148279"/>
            <a:ext cx="51206" cy="51206"/>
          </a:xfrm>
          <a:prstGeom prst="rect">
            <a:avLst/>
          </a:prstGeom>
          <a:solidFill>
            <a:srgbClr val="934ABD"/>
          </a:solidFill>
          <a:ln/>
        </p:spPr>
      </p:sp>
      <p:sp>
        <p:nvSpPr>
          <p:cNvPr id="45" name="Text 43"/>
          <p:cNvSpPr txBox="1"/>
          <p:nvPr/>
        </p:nvSpPr>
        <p:spPr>
          <a:xfrm>
            <a:off x="8669426" y="3087014"/>
            <a:ext cx="2804465"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 saddle net and a cable-net canopy</a:t>
            </a:r>
            <a:endParaRPr lang="en-US" sz="1200" dirty="0"/>
          </a:p>
        </p:txBody>
      </p:sp>
      <p:sp>
        <p:nvSpPr>
          <p:cNvPr id="46" name="Shape 44"/>
          <p:cNvSpPr/>
          <p:nvPr/>
        </p:nvSpPr>
        <p:spPr>
          <a:xfrm>
            <a:off x="8530438" y="3417113"/>
            <a:ext cx="51206" cy="51206"/>
          </a:xfrm>
          <a:prstGeom prst="rect">
            <a:avLst/>
          </a:prstGeom>
          <a:solidFill>
            <a:srgbClr val="934ABD"/>
          </a:solidFill>
          <a:ln/>
        </p:spPr>
      </p:sp>
      <p:sp>
        <p:nvSpPr>
          <p:cNvPr id="47" name="Text 45"/>
          <p:cNvSpPr txBox="1"/>
          <p:nvPr/>
        </p:nvSpPr>
        <p:spPr>
          <a:xfrm>
            <a:off x="8669426" y="3355848"/>
            <a:ext cx="2662733"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FD and DR compared on the same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problem</a:t>
            </a:r>
            <a:endParaRPr lang="en-US" sz="1200" dirty="0"/>
          </a:p>
        </p:txBody>
      </p:sp>
      <p:sp>
        <p:nvSpPr>
          <p:cNvPr id="48" name="Shape 46"/>
          <p:cNvSpPr/>
          <p:nvPr/>
        </p:nvSpPr>
        <p:spPr>
          <a:xfrm>
            <a:off x="8530438" y="3892601"/>
            <a:ext cx="51206" cy="51206"/>
          </a:xfrm>
          <a:prstGeom prst="rect">
            <a:avLst/>
          </a:prstGeom>
          <a:solidFill>
            <a:srgbClr val="934ABD"/>
          </a:solidFill>
          <a:ln/>
        </p:spPr>
      </p:sp>
      <p:sp>
        <p:nvSpPr>
          <p:cNvPr id="49" name="Text 47"/>
          <p:cNvSpPr txBox="1"/>
          <p:nvPr/>
        </p:nvSpPr>
        <p:spPr>
          <a:xfrm>
            <a:off x="8669426" y="3830422"/>
            <a:ext cx="249631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Equilibrium verified in code, in a</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notebook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image.imageformat.1286.dpr2.207728301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7750C1"/>
          </a:solidFill>
          <a:ln/>
        </p:spPr>
      </p:sp>
      <p:sp>
        <p:nvSpPr>
          <p:cNvPr id="6" name="Shape 3"/>
          <p:cNvSpPr/>
          <p:nvPr/>
        </p:nvSpPr>
        <p:spPr>
          <a:xfrm>
            <a:off x="5333695" y="558698"/>
            <a:ext cx="1524305" cy="88697"/>
          </a:xfrm>
          <a:prstGeom prst="rect">
            <a:avLst/>
          </a:prstGeom>
          <a:solidFill>
            <a:srgbClr val="934ABD"/>
          </a:solidFill>
          <a:ln/>
        </p:spPr>
      </p:sp>
      <p:sp>
        <p:nvSpPr>
          <p:cNvPr id="7" name="Shape 4"/>
          <p:cNvSpPr/>
          <p:nvPr/>
        </p:nvSpPr>
        <p:spPr>
          <a:xfrm>
            <a:off x="6909206" y="558698"/>
            <a:ext cx="1524305" cy="88697"/>
          </a:xfrm>
          <a:prstGeom prst="rect">
            <a:avLst/>
          </a:prstGeom>
          <a:solidFill>
            <a:srgbClr val="FFFFFF">
              <a:alpha val="85000"/>
            </a:srgbClr>
          </a:solidFill>
          <a:ln/>
        </p:spPr>
      </p:sp>
      <p:sp>
        <p:nvSpPr>
          <p:cNvPr id="8" name="Shape 5"/>
          <p:cNvSpPr/>
          <p:nvPr/>
        </p:nvSpPr>
        <p:spPr>
          <a:xfrm>
            <a:off x="8483803" y="558698"/>
            <a:ext cx="1524305" cy="88697"/>
          </a:xfrm>
          <a:prstGeom prst="rect">
            <a:avLst/>
          </a:prstGeom>
          <a:solidFill>
            <a:srgbClr val="FFFFFF">
              <a:alpha val="85000"/>
            </a:srgbClr>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4 · 1 ECTS · 30 h</a:t>
            </a:r>
            <a:endParaRPr lang="en-US" sz="1200" dirty="0"/>
          </a:p>
        </p:txBody>
      </p:sp>
      <p:sp>
        <p:nvSpPr>
          <p:cNvPr id="12" name="Shape 9"/>
          <p:cNvSpPr/>
          <p:nvPr/>
        </p:nvSpPr>
        <p:spPr>
          <a:xfrm>
            <a:off x="609905" y="1200607"/>
            <a:ext cx="4339742" cy="552298"/>
          </a:xfrm>
          <a:prstGeom prst="rect">
            <a:avLst/>
          </a:prstGeom>
          <a:solidFill>
            <a:srgbClr val="FFFFFF">
              <a:alpha val="70000"/>
            </a:srgbClr>
          </a:solidFill>
          <a:ln/>
        </p:spPr>
      </p:sp>
      <p:sp>
        <p:nvSpPr>
          <p:cNvPr id="13" name="Text 10"/>
          <p:cNvSpPr txBox="1"/>
          <p:nvPr/>
        </p:nvSpPr>
        <p:spPr>
          <a:xfrm>
            <a:off x="724205" y="1272845"/>
            <a:ext cx="4477817" cy="400507"/>
          </a:xfrm>
          <a:prstGeom prst="rect">
            <a:avLst/>
          </a:prstGeom>
          <a:noFill/>
          <a:ln/>
        </p:spPr>
        <p:txBody>
          <a:bodyPr wrap="none" lIns="0" tIns="0" rIns="0" bIns="0" rtlCol="0" anchor="t"/>
          <a:lstStyle/>
          <a:p>
            <a:pPr algn="l" indent="0" marL="0">
              <a:lnSpc>
                <a:spcPts val="3150"/>
              </a:lnSpc>
              <a:buNone/>
            </a:pPr>
            <a:r>
              <a:rPr lang="en-US" sz="2910" b="1" spc="-60" kern="0" dirty="0">
                <a:solidFill>
                  <a:srgbClr val="141B3D"/>
                </a:solidFill>
                <a:latin typeface="Open Sans" pitchFamily="34" charset="0"/>
                <a:ea typeface="Open Sans" pitchFamily="34" charset="-122"/>
                <a:cs typeface="Open Sans" pitchFamily="34" charset="-120"/>
              </a:rPr>
              <a:t>Schedule: Form Finding</a:t>
            </a:r>
            <a:endParaRPr lang="en-US" sz="2910"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934ABD"/>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934ABD"/>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934ABD"/>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934ABD"/>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934ABD"/>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DCD9E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AE4BB2"/>
                </a:solidFill>
                <a:latin typeface="Open Sans" pitchFamily="34" charset="0"/>
                <a:ea typeface="Open Sans" pitchFamily="34" charset="-122"/>
                <a:cs typeface="Open Sans" pitchFamily="34" charset="-120"/>
              </a:rPr>
              <a:t>Chapter 5 · 1 ECTS · 30 h</a:t>
            </a:r>
            <a:endParaRPr lang="en-US" sz="1200" dirty="0"/>
          </a:p>
        </p:txBody>
      </p:sp>
      <p:sp>
        <p:nvSpPr>
          <p:cNvPr id="10" name="Text 8"/>
          <p:cNvSpPr txBox="1"/>
          <p:nvPr/>
        </p:nvSpPr>
        <p:spPr>
          <a:xfrm>
            <a:off x="609905" y="1095451"/>
            <a:ext cx="4702759" cy="400507"/>
          </a:xfrm>
          <a:prstGeom prst="rect">
            <a:avLst/>
          </a:prstGeom>
          <a:noFill/>
          <a:ln/>
        </p:spPr>
        <p:txBody>
          <a:bodyPr wrap="none" lIns="0" tIns="0" rIns="0" bIns="0" rtlCol="0" anchor="t"/>
          <a:lstStyle/>
          <a:p>
            <a:pPr algn="l" indent="0" marL="0">
              <a:lnSpc>
                <a:spcPts val="3150"/>
              </a:lnSpc>
              <a:buNone/>
            </a:pPr>
            <a:r>
              <a:rPr lang="en-US" sz="2875" b="1" spc="-60" kern="0" dirty="0">
                <a:solidFill>
                  <a:srgbClr val="141B3D"/>
                </a:solidFill>
                <a:latin typeface="Open Sans" pitchFamily="34" charset="0"/>
                <a:ea typeface="Open Sans" pitchFamily="34" charset="-122"/>
                <a:cs typeface="Open Sans" pitchFamily="34" charset="-120"/>
              </a:rPr>
              <a:t>Thrust Network Analysis</a:t>
            </a:r>
            <a:endParaRPr lang="en-US" sz="2875" dirty="0"/>
          </a:p>
        </p:txBody>
      </p:sp>
      <p:sp>
        <p:nvSpPr>
          <p:cNvPr id="11" name="Shape 9"/>
          <p:cNvSpPr/>
          <p:nvPr/>
        </p:nvSpPr>
        <p:spPr>
          <a:xfrm>
            <a:off x="609905" y="1714500"/>
            <a:ext cx="10972800" cy="6401"/>
          </a:xfrm>
          <a:prstGeom prst="rect">
            <a:avLst/>
          </a:prstGeom>
          <a:solidFill>
            <a:srgbClr val="DCD9E4"/>
          </a:solidFill>
          <a:ln/>
        </p:spPr>
      </p:sp>
      <p:sp>
        <p:nvSpPr>
          <p:cNvPr id="12" name="Shape 10"/>
          <p:cNvSpPr/>
          <p:nvPr/>
        </p:nvSpPr>
        <p:spPr>
          <a:xfrm>
            <a:off x="609905" y="1962302"/>
            <a:ext cx="3699662" cy="4412894"/>
          </a:xfrm>
          <a:prstGeom prst="rect">
            <a:avLst/>
          </a:prstGeom>
          <a:solidFill>
            <a:srgbClr val="F9F1F9"/>
          </a:solidFill>
          <a:ln/>
        </p:spPr>
      </p:sp>
      <p:sp>
        <p:nvSpPr>
          <p:cNvPr id="13" name="Shape 11"/>
          <p:cNvSpPr/>
          <p:nvPr/>
        </p:nvSpPr>
        <p:spPr>
          <a:xfrm>
            <a:off x="609905" y="1962302"/>
            <a:ext cx="3699662" cy="437998"/>
          </a:xfrm>
          <a:prstGeom prst="rect">
            <a:avLst/>
          </a:prstGeom>
          <a:solidFill>
            <a:srgbClr val="AE4BB2"/>
          </a:solidFill>
          <a:ln/>
        </p:spPr>
      </p:sp>
      <p:sp>
        <p:nvSpPr>
          <p:cNvPr id="14" name="Text 12"/>
          <p:cNvSpPr txBox="1"/>
          <p:nvPr/>
        </p:nvSpPr>
        <p:spPr>
          <a:xfrm>
            <a:off x="774497" y="2051914"/>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5" name="Text 13"/>
          <p:cNvSpPr txBox="1"/>
          <p:nvPr/>
        </p:nvSpPr>
        <p:spPr>
          <a:xfrm>
            <a:off x="774497" y="2525573"/>
            <a:ext cx="3127248" cy="462686"/>
          </a:xfrm>
          <a:prstGeom prst="rect">
            <a:avLst/>
          </a:prstGeom>
          <a:noFill/>
          <a:ln/>
        </p:spPr>
        <p:txBody>
          <a:bodyPr wrap="none" lIns="0" tIns="0" rIns="0" bIns="0" rtlCol="0" anchor="t"/>
          <a:lstStyle/>
          <a:p>
            <a:pPr algn="l" indent="0" marL="0">
              <a:lnSpc>
                <a:spcPts val="1820"/>
              </a:lnSpc>
              <a:buNone/>
            </a:pPr>
            <a:r>
              <a:rPr lang="en-US" sz="1344" b="1" dirty="0">
                <a:solidFill>
                  <a:srgbClr val="141B3D"/>
                </a:solidFill>
                <a:latin typeface="Open Sans" pitchFamily="34" charset="0"/>
                <a:ea typeface="Open Sans" pitchFamily="34" charset="-122"/>
                <a:cs typeface="Open Sans" pitchFamily="34" charset="-120"/>
              </a:rPr>
              <a:t>From thrust network to buildable</a:t>
            </a:r>
            <a:endParaRPr lang="en-US" sz="1344" dirty="0"/>
          </a:p>
          <a:p>
            <a:pPr algn="l" indent="0" marL="0">
              <a:lnSpc>
                <a:spcPts val="1820"/>
              </a:lnSpc>
              <a:buNone/>
            </a:pPr>
            <a:r>
              <a:rPr lang="en-US" sz="1344" b="1" dirty="0">
                <a:solidFill>
                  <a:srgbClr val="141B3D"/>
                </a:solidFill>
                <a:latin typeface="Open Sans" pitchFamily="34" charset="0"/>
                <a:ea typeface="Open Sans" pitchFamily="34" charset="-122"/>
                <a:cs typeface="Open Sans" pitchFamily="34" charset="-120"/>
              </a:rPr>
              <a:t>vault.</a:t>
            </a:r>
            <a:endParaRPr lang="en-US" sz="1344" dirty="0"/>
          </a:p>
        </p:txBody>
      </p:sp>
      <p:sp>
        <p:nvSpPr>
          <p:cNvPr id="16" name="Shape 14"/>
          <p:cNvSpPr/>
          <p:nvPr/>
        </p:nvSpPr>
        <p:spPr>
          <a:xfrm>
            <a:off x="774497" y="3148279"/>
            <a:ext cx="51206" cy="51206"/>
          </a:xfrm>
          <a:prstGeom prst="rect">
            <a:avLst/>
          </a:prstGeom>
          <a:solidFill>
            <a:srgbClr val="AE4BB2"/>
          </a:solidFill>
          <a:ln/>
        </p:spPr>
      </p:sp>
      <p:sp>
        <p:nvSpPr>
          <p:cNvPr id="17" name="Text 15"/>
          <p:cNvSpPr txBox="1"/>
          <p:nvPr/>
        </p:nvSpPr>
        <p:spPr>
          <a:xfrm>
            <a:off x="914400" y="3087014"/>
            <a:ext cx="327355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Thrust networks: horizontal equilibrium of</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the form diagram</a:t>
            </a:r>
            <a:endParaRPr lang="en-US" sz="1200" dirty="0"/>
          </a:p>
        </p:txBody>
      </p:sp>
      <p:sp>
        <p:nvSpPr>
          <p:cNvPr id="18" name="Shape 16"/>
          <p:cNvSpPr/>
          <p:nvPr/>
        </p:nvSpPr>
        <p:spPr>
          <a:xfrm>
            <a:off x="774497" y="3622853"/>
            <a:ext cx="51206" cy="51206"/>
          </a:xfrm>
          <a:prstGeom prst="rect">
            <a:avLst/>
          </a:prstGeom>
          <a:solidFill>
            <a:srgbClr val="AE4BB2"/>
          </a:solidFill>
          <a:ln/>
        </p:spPr>
      </p:sp>
      <p:sp>
        <p:nvSpPr>
          <p:cNvPr id="19" name="Text 17"/>
          <p:cNvSpPr txBox="1"/>
          <p:nvPr/>
        </p:nvSpPr>
        <p:spPr>
          <a:xfrm>
            <a:off x="914400" y="3561588"/>
            <a:ext cx="3032150"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Vertical equilibrium and force densities</a:t>
            </a:r>
            <a:endParaRPr lang="en-US" sz="1200" dirty="0"/>
          </a:p>
        </p:txBody>
      </p:sp>
      <p:sp>
        <p:nvSpPr>
          <p:cNvPr id="20" name="Shape 18"/>
          <p:cNvSpPr/>
          <p:nvPr/>
        </p:nvSpPr>
        <p:spPr>
          <a:xfrm>
            <a:off x="774497" y="3892601"/>
            <a:ext cx="51206" cy="51206"/>
          </a:xfrm>
          <a:prstGeom prst="rect">
            <a:avLst/>
          </a:prstGeom>
          <a:solidFill>
            <a:srgbClr val="AE4BB2"/>
          </a:solidFill>
          <a:ln/>
        </p:spPr>
      </p:sp>
      <p:sp>
        <p:nvSpPr>
          <p:cNvPr id="21" name="Text 19"/>
          <p:cNvSpPr txBox="1"/>
          <p:nvPr/>
        </p:nvSpPr>
        <p:spPr>
          <a:xfrm>
            <a:off x="914400" y="3830422"/>
            <a:ext cx="3343961"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Relation to graphic statics: reciprocity in 3D</a:t>
            </a:r>
            <a:endParaRPr lang="en-US" sz="1200" dirty="0"/>
          </a:p>
        </p:txBody>
      </p:sp>
      <p:sp>
        <p:nvSpPr>
          <p:cNvPr id="22" name="Shape 20"/>
          <p:cNvSpPr/>
          <p:nvPr/>
        </p:nvSpPr>
        <p:spPr>
          <a:xfrm>
            <a:off x="774497" y="4161434"/>
            <a:ext cx="51206" cy="51206"/>
          </a:xfrm>
          <a:prstGeom prst="rect">
            <a:avLst/>
          </a:prstGeom>
          <a:solidFill>
            <a:srgbClr val="AE4BB2"/>
          </a:solidFill>
          <a:ln/>
        </p:spPr>
      </p:sp>
      <p:sp>
        <p:nvSpPr>
          <p:cNvPr id="23" name="Text 21"/>
          <p:cNvSpPr txBox="1"/>
          <p:nvPr/>
        </p:nvSpPr>
        <p:spPr>
          <a:xfrm>
            <a:off x="914400" y="4100170"/>
            <a:ext cx="3493008"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Funicular shells and masonry vaults: stability,</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load cases</a:t>
            </a:r>
            <a:endParaRPr lang="en-US" sz="1200" dirty="0"/>
          </a:p>
        </p:txBody>
      </p:sp>
      <p:sp>
        <p:nvSpPr>
          <p:cNvPr id="24" name="Shape 22"/>
          <p:cNvSpPr/>
          <p:nvPr/>
        </p:nvSpPr>
        <p:spPr>
          <a:xfrm>
            <a:off x="774497" y="4636008"/>
            <a:ext cx="51206" cy="51206"/>
          </a:xfrm>
          <a:prstGeom prst="rect">
            <a:avLst/>
          </a:prstGeom>
          <a:solidFill>
            <a:srgbClr val="AE4BB2"/>
          </a:solidFill>
          <a:ln/>
        </p:spPr>
      </p:sp>
      <p:sp>
        <p:nvSpPr>
          <p:cNvPr id="25" name="Text 23"/>
          <p:cNvSpPr txBox="1"/>
          <p:nvPr/>
        </p:nvSpPr>
        <p:spPr>
          <a:xfrm>
            <a:off x="914400" y="4574743"/>
            <a:ext cx="320588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Interactive form-finding with RhinoVAULT</a:t>
            </a:r>
            <a:endParaRPr lang="en-US" sz="1200" dirty="0"/>
          </a:p>
        </p:txBody>
      </p:sp>
      <p:sp>
        <p:nvSpPr>
          <p:cNvPr id="26" name="Shape 24"/>
          <p:cNvSpPr/>
          <p:nvPr/>
        </p:nvSpPr>
        <p:spPr>
          <a:xfrm>
            <a:off x="774497" y="4905756"/>
            <a:ext cx="51206" cy="51206"/>
          </a:xfrm>
          <a:prstGeom prst="rect">
            <a:avLst/>
          </a:prstGeom>
          <a:solidFill>
            <a:srgbClr val="AE4BB2"/>
          </a:solidFill>
          <a:ln/>
        </p:spPr>
      </p:sp>
      <p:sp>
        <p:nvSpPr>
          <p:cNvPr id="27" name="Text 25"/>
          <p:cNvSpPr txBox="1"/>
          <p:nvPr/>
        </p:nvSpPr>
        <p:spPr>
          <a:xfrm>
            <a:off x="914400" y="4843577"/>
            <a:ext cx="2873959"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Scripted workflows with compas_tna,</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optimisation with compas_tno</a:t>
            </a:r>
            <a:endParaRPr lang="en-US" sz="1200" dirty="0"/>
          </a:p>
        </p:txBody>
      </p:sp>
      <p:sp>
        <p:nvSpPr>
          <p:cNvPr id="28" name="Shape 26"/>
          <p:cNvSpPr/>
          <p:nvPr/>
        </p:nvSpPr>
        <p:spPr>
          <a:xfrm>
            <a:off x="774497" y="5380330"/>
            <a:ext cx="51206" cy="51206"/>
          </a:xfrm>
          <a:prstGeom prst="rect">
            <a:avLst/>
          </a:prstGeom>
          <a:solidFill>
            <a:srgbClr val="AE4BB2"/>
          </a:solidFill>
          <a:ln/>
        </p:spPr>
      </p:sp>
      <p:sp>
        <p:nvSpPr>
          <p:cNvPr id="29" name="Text 27"/>
          <p:cNvSpPr txBox="1"/>
          <p:nvPr/>
        </p:nvSpPr>
        <p:spPr>
          <a:xfrm>
            <a:off x="914400" y="5319065"/>
            <a:ext cx="255026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Boundaries, openings, thickness,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materialisation</a:t>
            </a:r>
            <a:endParaRPr lang="en-US" sz="1200" dirty="0"/>
          </a:p>
        </p:txBody>
      </p:sp>
      <p:sp>
        <p:nvSpPr>
          <p:cNvPr id="30" name="Shape 28"/>
          <p:cNvSpPr/>
          <p:nvPr/>
        </p:nvSpPr>
        <p:spPr>
          <a:xfrm>
            <a:off x="4486961" y="1962302"/>
            <a:ext cx="3699662" cy="4412894"/>
          </a:xfrm>
          <a:prstGeom prst="rect">
            <a:avLst/>
          </a:prstGeom>
          <a:solidFill>
            <a:srgbClr val="F1DBF0"/>
          </a:solidFill>
          <a:ln/>
        </p:spPr>
      </p:sp>
      <p:sp>
        <p:nvSpPr>
          <p:cNvPr id="31" name="Shape 29"/>
          <p:cNvSpPr/>
          <p:nvPr/>
        </p:nvSpPr>
        <p:spPr>
          <a:xfrm>
            <a:off x="4486961" y="1962302"/>
            <a:ext cx="3699662" cy="437998"/>
          </a:xfrm>
          <a:prstGeom prst="rect">
            <a:avLst/>
          </a:prstGeom>
          <a:solidFill>
            <a:srgbClr val="AE4BB2"/>
          </a:solidFill>
          <a:ln/>
        </p:spPr>
      </p:sp>
      <p:sp>
        <p:nvSpPr>
          <p:cNvPr id="32" name="Text 30"/>
          <p:cNvSpPr txBox="1"/>
          <p:nvPr/>
        </p:nvSpPr>
        <p:spPr>
          <a:xfrm>
            <a:off x="4652467" y="2051914"/>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33" name="Text 31"/>
          <p:cNvSpPr txBox="1"/>
          <p:nvPr/>
        </p:nvSpPr>
        <p:spPr>
          <a:xfrm>
            <a:off x="4652467" y="2525573"/>
            <a:ext cx="2999232" cy="231343"/>
          </a:xfrm>
          <a:prstGeom prst="rect">
            <a:avLst/>
          </a:prstGeom>
          <a:noFill/>
          <a:ln/>
        </p:spPr>
        <p:txBody>
          <a:bodyPr wrap="none" lIns="0" tIns="0" rIns="0" bIns="0" rtlCol="0" anchor="t"/>
          <a:lstStyle/>
          <a:p>
            <a:pPr algn="l" indent="0" marL="0">
              <a:lnSpc>
                <a:spcPts val="1820"/>
              </a:lnSpc>
              <a:buNone/>
            </a:pPr>
            <a:r>
              <a:rPr lang="en-US" sz="1354" b="1" dirty="0">
                <a:solidFill>
                  <a:srgbClr val="141B3D"/>
                </a:solidFill>
                <a:latin typeface="Open Sans" pitchFamily="34" charset="0"/>
                <a:ea typeface="Open Sans" pitchFamily="34" charset="-122"/>
                <a:cs typeface="Open Sans" pitchFamily="34" charset="-120"/>
              </a:rPr>
              <a:t>Packages, plugins and Gitbooks.</a:t>
            </a:r>
            <a:endParaRPr lang="en-US" sz="1354" dirty="0"/>
          </a:p>
        </p:txBody>
      </p:sp>
      <p:sp>
        <p:nvSpPr>
          <p:cNvPr id="34" name="Shape 32"/>
          <p:cNvSpPr/>
          <p:nvPr/>
        </p:nvSpPr>
        <p:spPr>
          <a:xfrm>
            <a:off x="4652467" y="2916936"/>
            <a:ext cx="51206" cy="51206"/>
          </a:xfrm>
          <a:prstGeom prst="rect">
            <a:avLst/>
          </a:prstGeom>
          <a:solidFill>
            <a:srgbClr val="AE4BB2"/>
          </a:solidFill>
          <a:ln/>
        </p:spPr>
      </p:sp>
      <p:sp>
        <p:nvSpPr>
          <p:cNvPr id="35" name="Text 33"/>
          <p:cNvSpPr txBox="1"/>
          <p:nvPr/>
        </p:nvSpPr>
        <p:spPr>
          <a:xfrm>
            <a:off x="4792370" y="2855671"/>
            <a:ext cx="2837383"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compas_tna: thrust network analysis</a:t>
            </a:r>
            <a:endParaRPr lang="en-US" sz="1200" dirty="0"/>
          </a:p>
        </p:txBody>
      </p:sp>
      <p:sp>
        <p:nvSpPr>
          <p:cNvPr id="36" name="Shape 34"/>
          <p:cNvSpPr/>
          <p:nvPr/>
        </p:nvSpPr>
        <p:spPr>
          <a:xfrm>
            <a:off x="4652467" y="3186684"/>
            <a:ext cx="51206" cy="51206"/>
          </a:xfrm>
          <a:prstGeom prst="rect">
            <a:avLst/>
          </a:prstGeom>
          <a:solidFill>
            <a:srgbClr val="AE4BB2"/>
          </a:solidFill>
          <a:ln/>
        </p:spPr>
      </p:sp>
      <p:sp>
        <p:nvSpPr>
          <p:cNvPr id="37" name="Text 35"/>
          <p:cNvSpPr txBox="1"/>
          <p:nvPr/>
        </p:nvSpPr>
        <p:spPr>
          <a:xfrm>
            <a:off x="4792370" y="3124505"/>
            <a:ext cx="347837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compas_tno: optimisation of thrust networks</a:t>
            </a:r>
            <a:endParaRPr lang="en-US" sz="1200" dirty="0"/>
          </a:p>
        </p:txBody>
      </p:sp>
      <p:sp>
        <p:nvSpPr>
          <p:cNvPr id="38" name="Shape 36"/>
          <p:cNvSpPr/>
          <p:nvPr/>
        </p:nvSpPr>
        <p:spPr>
          <a:xfrm>
            <a:off x="4652467" y="3455518"/>
            <a:ext cx="51206" cy="51206"/>
          </a:xfrm>
          <a:prstGeom prst="rect">
            <a:avLst/>
          </a:prstGeom>
          <a:solidFill>
            <a:srgbClr val="AE4BB2"/>
          </a:solidFill>
          <a:ln/>
        </p:spPr>
      </p:sp>
      <p:sp>
        <p:nvSpPr>
          <p:cNvPr id="39" name="Text 37"/>
          <p:cNvSpPr txBox="1"/>
          <p:nvPr/>
        </p:nvSpPr>
        <p:spPr>
          <a:xfrm>
            <a:off x="4792370" y="3394253"/>
            <a:ext cx="322874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compas_dem: discrete element modelling</a:t>
            </a:r>
            <a:endParaRPr lang="en-US" sz="1200" dirty="0"/>
          </a:p>
        </p:txBody>
      </p:sp>
      <p:sp>
        <p:nvSpPr>
          <p:cNvPr id="40" name="Shape 38"/>
          <p:cNvSpPr/>
          <p:nvPr/>
        </p:nvSpPr>
        <p:spPr>
          <a:xfrm>
            <a:off x="4652467" y="3724351"/>
            <a:ext cx="51206" cy="51206"/>
          </a:xfrm>
          <a:prstGeom prst="rect">
            <a:avLst/>
          </a:prstGeom>
          <a:solidFill>
            <a:srgbClr val="AE4BB2"/>
          </a:solidFill>
          <a:ln/>
        </p:spPr>
      </p:sp>
      <p:sp>
        <p:nvSpPr>
          <p:cNvPr id="41" name="Text 39"/>
          <p:cNvSpPr txBox="1"/>
          <p:nvPr/>
        </p:nvSpPr>
        <p:spPr>
          <a:xfrm>
            <a:off x="4792370" y="3663086"/>
            <a:ext cx="2788920"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compas-RV / RhinoVAULT in Rhino 8</a:t>
            </a:r>
            <a:endParaRPr lang="en-US" sz="1200" dirty="0"/>
          </a:p>
        </p:txBody>
      </p:sp>
      <p:sp>
        <p:nvSpPr>
          <p:cNvPr id="42" name="Shape 40"/>
          <p:cNvSpPr/>
          <p:nvPr/>
        </p:nvSpPr>
        <p:spPr>
          <a:xfrm>
            <a:off x="4652467" y="3994099"/>
            <a:ext cx="51206" cy="51206"/>
          </a:xfrm>
          <a:prstGeom prst="rect">
            <a:avLst/>
          </a:prstGeom>
          <a:solidFill>
            <a:srgbClr val="AE4BB2"/>
          </a:solidFill>
          <a:ln/>
        </p:spPr>
      </p:sp>
      <p:sp>
        <p:nvSpPr>
          <p:cNvPr id="43" name="Text 41"/>
          <p:cNvSpPr txBox="1"/>
          <p:nvPr/>
        </p:nvSpPr>
        <p:spPr>
          <a:xfrm>
            <a:off x="4792370" y="3931920"/>
            <a:ext cx="167243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Gitbook: RhinoVAULT</a:t>
            </a:r>
            <a:endParaRPr lang="en-US" sz="1200" dirty="0"/>
          </a:p>
        </p:txBody>
      </p:sp>
      <p:sp>
        <p:nvSpPr>
          <p:cNvPr id="44" name="Shape 42"/>
          <p:cNvSpPr/>
          <p:nvPr/>
        </p:nvSpPr>
        <p:spPr>
          <a:xfrm>
            <a:off x="4652467" y="4262933"/>
            <a:ext cx="51206" cy="51206"/>
          </a:xfrm>
          <a:prstGeom prst="rect">
            <a:avLst/>
          </a:prstGeom>
          <a:solidFill>
            <a:srgbClr val="AE4BB2"/>
          </a:solidFill>
          <a:ln/>
        </p:spPr>
      </p:sp>
      <p:sp>
        <p:nvSpPr>
          <p:cNvPr id="45" name="Text 43"/>
          <p:cNvSpPr txBox="1"/>
          <p:nvPr/>
        </p:nvSpPr>
        <p:spPr>
          <a:xfrm>
            <a:off x="4792370" y="4201668"/>
            <a:ext cx="340522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Study cases: Armadillo Vault, Striatus Bridge</a:t>
            </a:r>
            <a:endParaRPr lang="en-US" sz="1200" dirty="0"/>
          </a:p>
        </p:txBody>
      </p:sp>
      <p:sp>
        <p:nvSpPr>
          <p:cNvPr id="46" name="Shape 44"/>
          <p:cNvSpPr/>
          <p:nvPr/>
        </p:nvSpPr>
        <p:spPr>
          <a:xfrm>
            <a:off x="8364931" y="1962302"/>
            <a:ext cx="3217774" cy="4412894"/>
          </a:xfrm>
          <a:prstGeom prst="rect">
            <a:avLst/>
          </a:prstGeom>
          <a:solidFill>
            <a:srgbClr val="E6C3E6"/>
          </a:solidFill>
          <a:ln/>
        </p:spPr>
      </p:sp>
      <p:sp>
        <p:nvSpPr>
          <p:cNvPr id="47" name="Shape 45"/>
          <p:cNvSpPr/>
          <p:nvPr/>
        </p:nvSpPr>
        <p:spPr>
          <a:xfrm>
            <a:off x="8364931" y="1962302"/>
            <a:ext cx="3217774" cy="437998"/>
          </a:xfrm>
          <a:prstGeom prst="rect">
            <a:avLst/>
          </a:prstGeom>
          <a:solidFill>
            <a:srgbClr val="AE4BB2"/>
          </a:solidFill>
          <a:ln/>
        </p:spPr>
      </p:sp>
      <p:sp>
        <p:nvSpPr>
          <p:cNvPr id="48" name="Text 46"/>
          <p:cNvSpPr txBox="1"/>
          <p:nvPr/>
        </p:nvSpPr>
        <p:spPr>
          <a:xfrm>
            <a:off x="8530438" y="2051914"/>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49" name="Text 47"/>
          <p:cNvSpPr txBox="1"/>
          <p:nvPr/>
        </p:nvSpPr>
        <p:spPr>
          <a:xfrm>
            <a:off x="8530438" y="2525573"/>
            <a:ext cx="2823667" cy="693115"/>
          </a:xfrm>
          <a:prstGeom prst="rect">
            <a:avLst/>
          </a:prstGeom>
          <a:noFill/>
          <a:ln/>
        </p:spPr>
        <p:txBody>
          <a:bodyPr wrap="none" lIns="0" tIns="0" rIns="0" bIns="0" rtlCol="0" anchor="t"/>
          <a:lstStyle/>
          <a:p>
            <a:pPr algn="l" indent="0" marL="0">
              <a:lnSpc>
                <a:spcPts val="1820"/>
              </a:lnSpc>
              <a:buNone/>
            </a:pPr>
            <a:r>
              <a:rPr lang="en-US" sz="1346" b="1" dirty="0">
                <a:solidFill>
                  <a:srgbClr val="141B3D"/>
                </a:solidFill>
                <a:latin typeface="Open Sans" pitchFamily="34" charset="0"/>
                <a:ea typeface="Open Sans" pitchFamily="34" charset="-122"/>
                <a:cs typeface="Open Sans" pitchFamily="34" charset="-120"/>
              </a:rPr>
              <a:t>A compression-only structure,</a:t>
            </a:r>
            <a:endParaRPr lang="en-US" sz="1346" dirty="0"/>
          </a:p>
          <a:p>
            <a:pPr algn="l" indent="0" marL="0">
              <a:lnSpc>
                <a:spcPts val="1820"/>
              </a:lnSpc>
              <a:buNone/>
            </a:pPr>
            <a:r>
              <a:rPr lang="en-US" sz="1346" b="1" dirty="0">
                <a:solidFill>
                  <a:srgbClr val="141B3D"/>
                </a:solidFill>
                <a:latin typeface="Open Sans" pitchFamily="34" charset="0"/>
                <a:ea typeface="Open Sans" pitchFamily="34" charset="-122"/>
                <a:cs typeface="Open Sans" pitchFamily="34" charset="-120"/>
              </a:rPr>
              <a:t>checked for stability and</a:t>
            </a:r>
            <a:endParaRPr lang="en-US" sz="1346" dirty="0"/>
          </a:p>
          <a:p>
            <a:pPr algn="l" indent="0" marL="0">
              <a:lnSpc>
                <a:spcPts val="1820"/>
              </a:lnSpc>
              <a:buNone/>
            </a:pPr>
            <a:r>
              <a:rPr lang="en-US" sz="1346" b="1" dirty="0">
                <a:solidFill>
                  <a:srgbClr val="141B3D"/>
                </a:solidFill>
                <a:latin typeface="Open Sans" pitchFamily="34" charset="0"/>
                <a:ea typeface="Open Sans" pitchFamily="34" charset="-122"/>
                <a:cs typeface="Open Sans" pitchFamily="34" charset="-120"/>
              </a:rPr>
              <a:t>buildability.</a:t>
            </a:r>
            <a:endParaRPr lang="en-US" sz="1346" dirty="0"/>
          </a:p>
        </p:txBody>
      </p:sp>
      <p:sp>
        <p:nvSpPr>
          <p:cNvPr id="50" name="Shape 48"/>
          <p:cNvSpPr/>
          <p:nvPr/>
        </p:nvSpPr>
        <p:spPr>
          <a:xfrm>
            <a:off x="8530438" y="3379622"/>
            <a:ext cx="51206" cy="51206"/>
          </a:xfrm>
          <a:prstGeom prst="rect">
            <a:avLst/>
          </a:prstGeom>
          <a:solidFill>
            <a:srgbClr val="AE4BB2"/>
          </a:solidFill>
          <a:ln/>
        </p:spPr>
      </p:sp>
      <p:sp>
        <p:nvSpPr>
          <p:cNvPr id="51" name="Text 49"/>
          <p:cNvSpPr txBox="1"/>
          <p:nvPr/>
        </p:nvSpPr>
        <p:spPr>
          <a:xfrm>
            <a:off x="8669426" y="3317443"/>
            <a:ext cx="2863901"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 vault form-found from a given plan</a:t>
            </a:r>
            <a:endParaRPr lang="en-US" sz="1200" dirty="0"/>
          </a:p>
        </p:txBody>
      </p:sp>
      <p:sp>
        <p:nvSpPr>
          <p:cNvPr id="52" name="Shape 50"/>
          <p:cNvSpPr/>
          <p:nvPr/>
        </p:nvSpPr>
        <p:spPr>
          <a:xfrm>
            <a:off x="8530438" y="3648456"/>
            <a:ext cx="51206" cy="51206"/>
          </a:xfrm>
          <a:prstGeom prst="rect">
            <a:avLst/>
          </a:prstGeom>
          <a:solidFill>
            <a:srgbClr val="AE4BB2"/>
          </a:solidFill>
          <a:ln/>
        </p:spPr>
      </p:sp>
      <p:sp>
        <p:nvSpPr>
          <p:cNvPr id="53" name="Text 51"/>
          <p:cNvSpPr txBox="1"/>
          <p:nvPr/>
        </p:nvSpPr>
        <p:spPr>
          <a:xfrm>
            <a:off x="8669426" y="3587191"/>
            <a:ext cx="283372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The form diagram steered iteratively</a:t>
            </a:r>
            <a:endParaRPr lang="en-US" sz="1200" dirty="0"/>
          </a:p>
        </p:txBody>
      </p:sp>
      <p:sp>
        <p:nvSpPr>
          <p:cNvPr id="54" name="Shape 52"/>
          <p:cNvSpPr/>
          <p:nvPr/>
        </p:nvSpPr>
        <p:spPr>
          <a:xfrm>
            <a:off x="8530438" y="3917290"/>
            <a:ext cx="51206" cy="51206"/>
          </a:xfrm>
          <a:prstGeom prst="rect">
            <a:avLst/>
          </a:prstGeom>
          <a:solidFill>
            <a:srgbClr val="AE4BB2"/>
          </a:solidFill>
          <a:ln/>
        </p:spPr>
      </p:sp>
      <p:sp>
        <p:nvSpPr>
          <p:cNvPr id="55" name="Text 53"/>
          <p:cNvSpPr txBox="1"/>
          <p:nvPr/>
        </p:nvSpPr>
        <p:spPr>
          <a:xfrm>
            <a:off x="8669426" y="3856025"/>
            <a:ext cx="2780690"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 pavilion verified with compas_tna,</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documented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striatus-bridg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7750C1"/>
          </a:solidFill>
          <a:ln/>
        </p:spPr>
      </p:sp>
      <p:sp>
        <p:nvSpPr>
          <p:cNvPr id="6" name="Shape 3"/>
          <p:cNvSpPr/>
          <p:nvPr/>
        </p:nvSpPr>
        <p:spPr>
          <a:xfrm>
            <a:off x="5333695" y="558698"/>
            <a:ext cx="1524305" cy="88697"/>
          </a:xfrm>
          <a:prstGeom prst="rect">
            <a:avLst/>
          </a:prstGeom>
          <a:solidFill>
            <a:srgbClr val="934ABD"/>
          </a:solidFill>
          <a:ln/>
        </p:spPr>
      </p:sp>
      <p:sp>
        <p:nvSpPr>
          <p:cNvPr id="7" name="Shape 4"/>
          <p:cNvSpPr/>
          <p:nvPr/>
        </p:nvSpPr>
        <p:spPr>
          <a:xfrm>
            <a:off x="6909206" y="558698"/>
            <a:ext cx="1524305" cy="88697"/>
          </a:xfrm>
          <a:prstGeom prst="rect">
            <a:avLst/>
          </a:prstGeom>
          <a:solidFill>
            <a:srgbClr val="AE4BB2"/>
          </a:solidFill>
          <a:ln/>
        </p:spPr>
      </p:sp>
      <p:sp>
        <p:nvSpPr>
          <p:cNvPr id="8" name="Shape 5"/>
          <p:cNvSpPr/>
          <p:nvPr/>
        </p:nvSpPr>
        <p:spPr>
          <a:xfrm>
            <a:off x="8483803" y="558698"/>
            <a:ext cx="1524305" cy="88697"/>
          </a:xfrm>
          <a:prstGeom prst="rect">
            <a:avLst/>
          </a:prstGeom>
          <a:solidFill>
            <a:srgbClr val="FFFFFF">
              <a:alpha val="85000"/>
            </a:srgbClr>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5 · 1 ECTS · 30 h</a:t>
            </a:r>
            <a:endParaRPr lang="en-US" sz="1200" dirty="0"/>
          </a:p>
        </p:txBody>
      </p:sp>
      <p:sp>
        <p:nvSpPr>
          <p:cNvPr id="12" name="Shape 9"/>
          <p:cNvSpPr/>
          <p:nvPr/>
        </p:nvSpPr>
        <p:spPr>
          <a:xfrm>
            <a:off x="609905" y="1200607"/>
            <a:ext cx="6340450" cy="552298"/>
          </a:xfrm>
          <a:prstGeom prst="rect">
            <a:avLst/>
          </a:prstGeom>
          <a:solidFill>
            <a:srgbClr val="FFFFFF">
              <a:alpha val="70000"/>
            </a:srgbClr>
          </a:solidFill>
          <a:ln/>
        </p:spPr>
      </p:sp>
      <p:sp>
        <p:nvSpPr>
          <p:cNvPr id="13" name="Text 10"/>
          <p:cNvSpPr txBox="1"/>
          <p:nvPr/>
        </p:nvSpPr>
        <p:spPr>
          <a:xfrm>
            <a:off x="724205" y="1272845"/>
            <a:ext cx="6638544" cy="400507"/>
          </a:xfrm>
          <a:prstGeom prst="rect">
            <a:avLst/>
          </a:prstGeom>
          <a:noFill/>
          <a:ln/>
        </p:spPr>
        <p:txBody>
          <a:bodyPr wrap="none" lIns="0" tIns="0" rIns="0" bIns="0" rtlCol="0" anchor="t"/>
          <a:lstStyle/>
          <a:p>
            <a:pPr algn="l" indent="0" marL="0">
              <a:lnSpc>
                <a:spcPts val="3150"/>
              </a:lnSpc>
              <a:buNone/>
            </a:pPr>
            <a:r>
              <a:rPr lang="en-US" sz="2887" b="1" spc="-60" kern="0" dirty="0">
                <a:solidFill>
                  <a:srgbClr val="141B3D"/>
                </a:solidFill>
                <a:latin typeface="Open Sans" pitchFamily="34" charset="0"/>
                <a:ea typeface="Open Sans" pitchFamily="34" charset="-122"/>
                <a:cs typeface="Open Sans" pitchFamily="34" charset="-120"/>
              </a:rPr>
              <a:t>Schedule: Thrust Network Analysis</a:t>
            </a:r>
            <a:endParaRPr lang="en-US" sz="2887"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AE4BB2"/>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AE4BB2"/>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AE4BB2"/>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AE4BB2"/>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AE4BB2"/>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CA49A4"/>
          </a:solidFill>
          <a:ln/>
        </p:spPr>
      </p:sp>
      <p:sp>
        <p:nvSpPr>
          <p:cNvPr id="8" name="Shape 6"/>
          <p:cNvSpPr/>
          <p:nvPr/>
        </p:nvSpPr>
        <p:spPr>
          <a:xfrm>
            <a:off x="10058400" y="558698"/>
            <a:ext cx="1524305" cy="88697"/>
          </a:xfrm>
          <a:prstGeom prst="rect">
            <a:avLst/>
          </a:prstGeom>
          <a:solidFill>
            <a:srgbClr val="DCD9E4"/>
          </a:solidFill>
          <a:ln/>
        </p:spPr>
      </p:sp>
      <p:sp>
        <p:nvSpPr>
          <p:cNvPr id="9" name="Text 7"/>
          <p:cNvSpPr txBox="1"/>
          <p:nvPr/>
        </p:nvSpPr>
        <p:spPr>
          <a:xfrm>
            <a:off x="609905" y="788213"/>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Chapter 6 · 1 ECTS · 30 h</a:t>
            </a:r>
            <a:endParaRPr lang="en-US" sz="1200" dirty="0"/>
          </a:p>
        </p:txBody>
      </p:sp>
      <p:sp>
        <p:nvSpPr>
          <p:cNvPr id="10" name="Text 8"/>
          <p:cNvSpPr txBox="1"/>
          <p:nvPr/>
        </p:nvSpPr>
        <p:spPr>
          <a:xfrm>
            <a:off x="609905" y="1095451"/>
            <a:ext cx="6301130" cy="400507"/>
          </a:xfrm>
          <a:prstGeom prst="rect">
            <a:avLst/>
          </a:prstGeom>
          <a:noFill/>
          <a:ln/>
        </p:spPr>
        <p:txBody>
          <a:bodyPr wrap="none" lIns="0" tIns="0" rIns="0" bIns="0" rtlCol="0" anchor="t"/>
          <a:lstStyle/>
          <a:p>
            <a:pPr algn="l" indent="0" marL="0">
              <a:lnSpc>
                <a:spcPts val="3150"/>
              </a:lnSpc>
              <a:buNone/>
            </a:pPr>
            <a:r>
              <a:rPr lang="en-US" sz="2866" b="1" spc="-60" kern="0" dirty="0">
                <a:solidFill>
                  <a:srgbClr val="141B3D"/>
                </a:solidFill>
                <a:latin typeface="Open Sans" pitchFamily="34" charset="0"/>
                <a:ea typeface="Open Sans" pitchFamily="34" charset="-122"/>
                <a:cs typeface="Open Sans" pitchFamily="34" charset="-120"/>
              </a:rPr>
              <a:t>Materialization / Constructability</a:t>
            </a:r>
            <a:endParaRPr lang="en-US" sz="2866" dirty="0"/>
          </a:p>
        </p:txBody>
      </p:sp>
      <p:sp>
        <p:nvSpPr>
          <p:cNvPr id="11" name="Shape 9"/>
          <p:cNvSpPr/>
          <p:nvPr/>
        </p:nvSpPr>
        <p:spPr>
          <a:xfrm>
            <a:off x="609905" y="1714500"/>
            <a:ext cx="10972800" cy="6401"/>
          </a:xfrm>
          <a:prstGeom prst="rect">
            <a:avLst/>
          </a:prstGeom>
          <a:solidFill>
            <a:srgbClr val="DCD9E4"/>
          </a:solidFill>
          <a:ln/>
        </p:spPr>
      </p:sp>
      <p:sp>
        <p:nvSpPr>
          <p:cNvPr id="12" name="Shape 10"/>
          <p:cNvSpPr/>
          <p:nvPr/>
        </p:nvSpPr>
        <p:spPr>
          <a:xfrm>
            <a:off x="609905" y="1962302"/>
            <a:ext cx="3699662" cy="4412894"/>
          </a:xfrm>
          <a:prstGeom prst="rect">
            <a:avLst/>
          </a:prstGeom>
          <a:solidFill>
            <a:srgbClr val="FCF1F8"/>
          </a:solidFill>
          <a:ln/>
        </p:spPr>
      </p:sp>
      <p:sp>
        <p:nvSpPr>
          <p:cNvPr id="13" name="Shape 11"/>
          <p:cNvSpPr/>
          <p:nvPr/>
        </p:nvSpPr>
        <p:spPr>
          <a:xfrm>
            <a:off x="609905" y="1962302"/>
            <a:ext cx="3699662" cy="437998"/>
          </a:xfrm>
          <a:prstGeom prst="rect">
            <a:avLst/>
          </a:prstGeom>
          <a:solidFill>
            <a:srgbClr val="CA49A4"/>
          </a:solidFill>
          <a:ln/>
        </p:spPr>
      </p:sp>
      <p:sp>
        <p:nvSpPr>
          <p:cNvPr id="14" name="Text 12"/>
          <p:cNvSpPr txBox="1"/>
          <p:nvPr/>
        </p:nvSpPr>
        <p:spPr>
          <a:xfrm>
            <a:off x="774497" y="2051914"/>
            <a:ext cx="9043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Contents</a:t>
            </a:r>
            <a:endParaRPr lang="en-US" sz="1500" dirty="0"/>
          </a:p>
        </p:txBody>
      </p:sp>
      <p:sp>
        <p:nvSpPr>
          <p:cNvPr id="15" name="Text 13"/>
          <p:cNvSpPr txBox="1"/>
          <p:nvPr/>
        </p:nvSpPr>
        <p:spPr>
          <a:xfrm>
            <a:off x="774497" y="2525573"/>
            <a:ext cx="2820924" cy="462686"/>
          </a:xfrm>
          <a:prstGeom prst="rect">
            <a:avLst/>
          </a:prstGeom>
          <a:noFill/>
          <a:ln/>
        </p:spPr>
        <p:txBody>
          <a:bodyPr wrap="none" lIns="0" tIns="0" rIns="0" bIns="0" rtlCol="0" anchor="t"/>
          <a:lstStyle/>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From form-found geometry to</a:t>
            </a:r>
            <a:endParaRPr lang="en-US" sz="1353" dirty="0"/>
          </a:p>
          <a:p>
            <a:pPr algn="l" indent="0" marL="0">
              <a:lnSpc>
                <a:spcPts val="1820"/>
              </a:lnSpc>
              <a:buNone/>
            </a:pPr>
            <a:r>
              <a:rPr lang="en-US" sz="1353" b="1" dirty="0">
                <a:solidFill>
                  <a:srgbClr val="141B3D"/>
                </a:solidFill>
                <a:latin typeface="Open Sans" pitchFamily="34" charset="0"/>
                <a:ea typeface="Open Sans" pitchFamily="34" charset="-122"/>
                <a:cs typeface="Open Sans" pitchFamily="34" charset="-120"/>
              </a:rPr>
              <a:t>something that can be built.</a:t>
            </a:r>
            <a:endParaRPr lang="en-US" sz="1353" dirty="0"/>
          </a:p>
        </p:txBody>
      </p:sp>
      <p:sp>
        <p:nvSpPr>
          <p:cNvPr id="16" name="Shape 14"/>
          <p:cNvSpPr/>
          <p:nvPr/>
        </p:nvSpPr>
        <p:spPr>
          <a:xfrm>
            <a:off x="774497" y="3148279"/>
            <a:ext cx="51206" cy="51206"/>
          </a:xfrm>
          <a:prstGeom prst="rect">
            <a:avLst/>
          </a:prstGeom>
          <a:solidFill>
            <a:srgbClr val="CA49A4"/>
          </a:solidFill>
          <a:ln/>
        </p:spPr>
      </p:sp>
      <p:sp>
        <p:nvSpPr>
          <p:cNvPr id="17" name="Text 15"/>
          <p:cNvSpPr txBox="1"/>
          <p:nvPr/>
        </p:nvSpPr>
        <p:spPr>
          <a:xfrm>
            <a:off x="914400" y="3087014"/>
            <a:ext cx="321777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Discretisation: from surface to blocks and</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panels</a:t>
            </a:r>
            <a:endParaRPr lang="en-US" sz="1200" dirty="0"/>
          </a:p>
        </p:txBody>
      </p:sp>
      <p:sp>
        <p:nvSpPr>
          <p:cNvPr id="18" name="Shape 16"/>
          <p:cNvSpPr/>
          <p:nvPr/>
        </p:nvSpPr>
        <p:spPr>
          <a:xfrm>
            <a:off x="774497" y="3622853"/>
            <a:ext cx="51206" cy="51206"/>
          </a:xfrm>
          <a:prstGeom prst="rect">
            <a:avLst/>
          </a:prstGeom>
          <a:solidFill>
            <a:srgbClr val="CA49A4"/>
          </a:solidFill>
          <a:ln/>
        </p:spPr>
      </p:sp>
      <p:sp>
        <p:nvSpPr>
          <p:cNvPr id="19" name="Text 17"/>
          <p:cNvSpPr txBox="1"/>
          <p:nvPr/>
        </p:nvSpPr>
        <p:spPr>
          <a:xfrm>
            <a:off x="914400" y="3561588"/>
            <a:ext cx="293613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Interfaces, joints and contact surfaces</a:t>
            </a:r>
            <a:endParaRPr lang="en-US" sz="1200" dirty="0"/>
          </a:p>
        </p:txBody>
      </p:sp>
      <p:sp>
        <p:nvSpPr>
          <p:cNvPr id="20" name="Shape 18"/>
          <p:cNvSpPr/>
          <p:nvPr/>
        </p:nvSpPr>
        <p:spPr>
          <a:xfrm>
            <a:off x="774497" y="3892601"/>
            <a:ext cx="51206" cy="51206"/>
          </a:xfrm>
          <a:prstGeom prst="rect">
            <a:avLst/>
          </a:prstGeom>
          <a:solidFill>
            <a:srgbClr val="CA49A4"/>
          </a:solidFill>
          <a:ln/>
        </p:spPr>
      </p:sp>
      <p:sp>
        <p:nvSpPr>
          <p:cNvPr id="21" name="Text 19"/>
          <p:cNvSpPr txBox="1"/>
          <p:nvPr/>
        </p:nvSpPr>
        <p:spPr>
          <a:xfrm>
            <a:off x="914400" y="3830422"/>
            <a:ext cx="3323844"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Tolerance, fabrication constraints, material</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limits</a:t>
            </a:r>
            <a:endParaRPr lang="en-US" sz="1200" dirty="0"/>
          </a:p>
        </p:txBody>
      </p:sp>
      <p:sp>
        <p:nvSpPr>
          <p:cNvPr id="22" name="Shape 20"/>
          <p:cNvSpPr/>
          <p:nvPr/>
        </p:nvSpPr>
        <p:spPr>
          <a:xfrm>
            <a:off x="774497" y="4367174"/>
            <a:ext cx="51206" cy="51206"/>
          </a:xfrm>
          <a:prstGeom prst="rect">
            <a:avLst/>
          </a:prstGeom>
          <a:solidFill>
            <a:srgbClr val="CA49A4"/>
          </a:solidFill>
          <a:ln/>
        </p:spPr>
      </p:sp>
      <p:sp>
        <p:nvSpPr>
          <p:cNvPr id="23" name="Text 21"/>
          <p:cNvSpPr txBox="1"/>
          <p:nvPr/>
        </p:nvSpPr>
        <p:spPr>
          <a:xfrm>
            <a:off x="914400" y="4305910"/>
            <a:ext cx="2772461"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Assembly sequence, stability during</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construction</a:t>
            </a:r>
            <a:endParaRPr lang="en-US" sz="1200" dirty="0"/>
          </a:p>
        </p:txBody>
      </p:sp>
      <p:sp>
        <p:nvSpPr>
          <p:cNvPr id="24" name="Shape 22"/>
          <p:cNvSpPr/>
          <p:nvPr/>
        </p:nvSpPr>
        <p:spPr>
          <a:xfrm>
            <a:off x="774497" y="4841748"/>
            <a:ext cx="51206" cy="51206"/>
          </a:xfrm>
          <a:prstGeom prst="rect">
            <a:avLst/>
          </a:prstGeom>
          <a:solidFill>
            <a:srgbClr val="CA49A4"/>
          </a:solidFill>
          <a:ln/>
        </p:spPr>
      </p:sp>
      <p:sp>
        <p:nvSpPr>
          <p:cNvPr id="25" name="Text 23"/>
          <p:cNvSpPr txBox="1"/>
          <p:nvPr/>
        </p:nvSpPr>
        <p:spPr>
          <a:xfrm>
            <a:off x="914400" y="4780483"/>
            <a:ext cx="2731313"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Formwork and falsework strategies</a:t>
            </a:r>
            <a:endParaRPr lang="en-US" sz="1200" dirty="0"/>
          </a:p>
        </p:txBody>
      </p:sp>
      <p:sp>
        <p:nvSpPr>
          <p:cNvPr id="26" name="Shape 24"/>
          <p:cNvSpPr/>
          <p:nvPr/>
        </p:nvSpPr>
        <p:spPr>
          <a:xfrm>
            <a:off x="774497" y="5111496"/>
            <a:ext cx="51206" cy="51206"/>
          </a:xfrm>
          <a:prstGeom prst="rect">
            <a:avLst/>
          </a:prstGeom>
          <a:solidFill>
            <a:srgbClr val="CA49A4"/>
          </a:solidFill>
          <a:ln/>
        </p:spPr>
      </p:sp>
      <p:sp>
        <p:nvSpPr>
          <p:cNvPr id="27" name="Text 25"/>
          <p:cNvSpPr txBox="1"/>
          <p:nvPr/>
        </p:nvSpPr>
        <p:spPr>
          <a:xfrm>
            <a:off x="914400" y="5049317"/>
            <a:ext cx="315559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Robotic fabrication and digital workflows</a:t>
            </a:r>
            <a:endParaRPr lang="en-US" sz="1200" dirty="0"/>
          </a:p>
        </p:txBody>
      </p:sp>
      <p:sp>
        <p:nvSpPr>
          <p:cNvPr id="28" name="Shape 26"/>
          <p:cNvSpPr/>
          <p:nvPr/>
        </p:nvSpPr>
        <p:spPr>
          <a:xfrm>
            <a:off x="4486961" y="1962302"/>
            <a:ext cx="3699662" cy="4412894"/>
          </a:xfrm>
          <a:prstGeom prst="rect">
            <a:avLst/>
          </a:prstGeom>
          <a:solidFill>
            <a:srgbClr val="F8DCED"/>
          </a:solidFill>
          <a:ln/>
        </p:spPr>
      </p:sp>
      <p:sp>
        <p:nvSpPr>
          <p:cNvPr id="29" name="Shape 27"/>
          <p:cNvSpPr/>
          <p:nvPr/>
        </p:nvSpPr>
        <p:spPr>
          <a:xfrm>
            <a:off x="4486961" y="1962302"/>
            <a:ext cx="3699662" cy="437998"/>
          </a:xfrm>
          <a:prstGeom prst="rect">
            <a:avLst/>
          </a:prstGeom>
          <a:solidFill>
            <a:srgbClr val="CA49A4"/>
          </a:solidFill>
          <a:ln/>
        </p:spPr>
      </p:sp>
      <p:sp>
        <p:nvSpPr>
          <p:cNvPr id="30" name="Text 28"/>
          <p:cNvSpPr txBox="1"/>
          <p:nvPr/>
        </p:nvSpPr>
        <p:spPr>
          <a:xfrm>
            <a:off x="4652467" y="2051914"/>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31" name="Text 29"/>
          <p:cNvSpPr txBox="1"/>
          <p:nvPr/>
        </p:nvSpPr>
        <p:spPr>
          <a:xfrm>
            <a:off x="4652467" y="2525573"/>
            <a:ext cx="3287268" cy="462686"/>
          </a:xfrm>
          <a:prstGeom prst="rect">
            <a:avLst/>
          </a:prstGeom>
          <a:noFill/>
          <a:ln/>
        </p:spPr>
        <p:txBody>
          <a:bodyPr wrap="none" lIns="0" tIns="0" rIns="0" bIns="0" rtlCol="0" anchor="t"/>
          <a:lstStyle/>
          <a:p>
            <a:pPr algn="l" indent="0" marL="0">
              <a:lnSpc>
                <a:spcPts val="1820"/>
              </a:lnSpc>
              <a:buNone/>
            </a:pPr>
            <a:r>
              <a:rPr lang="en-US" sz="1349" b="1" dirty="0">
                <a:solidFill>
                  <a:srgbClr val="141B3D"/>
                </a:solidFill>
                <a:latin typeface="Open Sans" pitchFamily="34" charset="0"/>
                <a:ea typeface="Open Sans" pitchFamily="34" charset="-122"/>
                <a:cs typeface="Open Sans" pitchFamily="34" charset="-120"/>
              </a:rPr>
              <a:t>Discrete element packages and the</a:t>
            </a:r>
            <a:endParaRPr lang="en-US" sz="1349" dirty="0"/>
          </a:p>
          <a:p>
            <a:pPr algn="l" indent="0" marL="0">
              <a:lnSpc>
                <a:spcPts val="1820"/>
              </a:lnSpc>
              <a:buNone/>
            </a:pPr>
            <a:r>
              <a:rPr lang="en-US" sz="1349" b="1" dirty="0">
                <a:solidFill>
                  <a:srgbClr val="141B3D"/>
                </a:solidFill>
                <a:latin typeface="Open Sans" pitchFamily="34" charset="0"/>
                <a:ea typeface="Open Sans" pitchFamily="34" charset="-122"/>
                <a:cs typeface="Open Sans" pitchFamily="34" charset="-120"/>
              </a:rPr>
              <a:t>fabrication lab.</a:t>
            </a:r>
            <a:endParaRPr lang="en-US" sz="1349" dirty="0"/>
          </a:p>
        </p:txBody>
      </p:sp>
      <p:sp>
        <p:nvSpPr>
          <p:cNvPr id="32" name="Shape 30"/>
          <p:cNvSpPr/>
          <p:nvPr/>
        </p:nvSpPr>
        <p:spPr>
          <a:xfrm>
            <a:off x="4652467" y="3211373"/>
            <a:ext cx="51206" cy="51206"/>
          </a:xfrm>
          <a:prstGeom prst="rect">
            <a:avLst/>
          </a:prstGeom>
          <a:solidFill>
            <a:srgbClr val="CA49A4"/>
          </a:solidFill>
          <a:ln/>
        </p:spPr>
      </p:sp>
      <p:sp>
        <p:nvSpPr>
          <p:cNvPr id="33" name="Text 31"/>
          <p:cNvSpPr txBox="1"/>
          <p:nvPr/>
        </p:nvSpPr>
        <p:spPr>
          <a:xfrm>
            <a:off x="4792370" y="3150108"/>
            <a:ext cx="277154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compas_model: model organisation</a:t>
            </a:r>
            <a:endParaRPr lang="en-US" sz="1200" dirty="0"/>
          </a:p>
        </p:txBody>
      </p:sp>
      <p:sp>
        <p:nvSpPr>
          <p:cNvPr id="34" name="Shape 32"/>
          <p:cNvSpPr/>
          <p:nvPr/>
        </p:nvSpPr>
        <p:spPr>
          <a:xfrm>
            <a:off x="4652467" y="3481121"/>
            <a:ext cx="51206" cy="51206"/>
          </a:xfrm>
          <a:prstGeom prst="rect">
            <a:avLst/>
          </a:prstGeom>
          <a:solidFill>
            <a:srgbClr val="CA49A4"/>
          </a:solidFill>
          <a:ln/>
        </p:spPr>
      </p:sp>
      <p:sp>
        <p:nvSpPr>
          <p:cNvPr id="35" name="Text 33"/>
          <p:cNvSpPr txBox="1"/>
          <p:nvPr/>
        </p:nvSpPr>
        <p:spPr>
          <a:xfrm>
            <a:off x="4792370" y="3418942"/>
            <a:ext cx="2814523"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Robotic Fabrication Laboratory (RFL)</a:t>
            </a:r>
            <a:endParaRPr lang="en-US" sz="1200" dirty="0"/>
          </a:p>
        </p:txBody>
      </p:sp>
      <p:sp>
        <p:nvSpPr>
          <p:cNvPr id="36" name="Shape 34"/>
          <p:cNvSpPr/>
          <p:nvPr/>
        </p:nvSpPr>
        <p:spPr>
          <a:xfrm>
            <a:off x="4652467" y="3749954"/>
            <a:ext cx="51206" cy="51206"/>
          </a:xfrm>
          <a:prstGeom prst="rect">
            <a:avLst/>
          </a:prstGeom>
          <a:solidFill>
            <a:srgbClr val="CA49A4"/>
          </a:solidFill>
          <a:ln/>
        </p:spPr>
      </p:sp>
      <p:sp>
        <p:nvSpPr>
          <p:cNvPr id="37" name="Text 35"/>
          <p:cNvSpPr txBox="1"/>
          <p:nvPr/>
        </p:nvSpPr>
        <p:spPr>
          <a:xfrm>
            <a:off x="4792370" y="3688690"/>
            <a:ext cx="3137306"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Study cases: Striatus, Phoenix, Armadillo</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Vault</a:t>
            </a:r>
            <a:endParaRPr lang="en-US" sz="1200" dirty="0"/>
          </a:p>
        </p:txBody>
      </p:sp>
      <p:sp>
        <p:nvSpPr>
          <p:cNvPr id="38" name="Shape 36"/>
          <p:cNvSpPr/>
          <p:nvPr/>
        </p:nvSpPr>
        <p:spPr>
          <a:xfrm>
            <a:off x="8364931" y="1962302"/>
            <a:ext cx="3217774" cy="4412894"/>
          </a:xfrm>
          <a:prstGeom prst="rect">
            <a:avLst/>
          </a:prstGeom>
          <a:solidFill>
            <a:srgbClr val="F2C3E0"/>
          </a:solidFill>
          <a:ln/>
        </p:spPr>
      </p:sp>
      <p:sp>
        <p:nvSpPr>
          <p:cNvPr id="39" name="Shape 37"/>
          <p:cNvSpPr/>
          <p:nvPr/>
        </p:nvSpPr>
        <p:spPr>
          <a:xfrm>
            <a:off x="8364931" y="1962302"/>
            <a:ext cx="3217774" cy="437998"/>
          </a:xfrm>
          <a:prstGeom prst="rect">
            <a:avLst/>
          </a:prstGeom>
          <a:solidFill>
            <a:srgbClr val="CA49A4"/>
          </a:solidFill>
          <a:ln/>
        </p:spPr>
      </p:sp>
      <p:sp>
        <p:nvSpPr>
          <p:cNvPr id="40" name="Text 38"/>
          <p:cNvSpPr txBox="1"/>
          <p:nvPr/>
        </p:nvSpPr>
        <p:spPr>
          <a:xfrm>
            <a:off x="8530438" y="2051914"/>
            <a:ext cx="1143000"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Submission</a:t>
            </a:r>
            <a:endParaRPr lang="en-US" sz="1500" dirty="0"/>
          </a:p>
        </p:txBody>
      </p:sp>
      <p:sp>
        <p:nvSpPr>
          <p:cNvPr id="41" name="Text 39"/>
          <p:cNvSpPr txBox="1"/>
          <p:nvPr/>
        </p:nvSpPr>
        <p:spPr>
          <a:xfrm>
            <a:off x="8530438" y="2525573"/>
            <a:ext cx="2907792" cy="462686"/>
          </a:xfrm>
          <a:prstGeom prst="rect">
            <a:avLst/>
          </a:prstGeom>
          <a:noFill/>
          <a:ln/>
        </p:spPr>
        <p:txBody>
          <a:bodyPr wrap="none" lIns="0" tIns="0" rIns="0" bIns="0" rtlCol="0" anchor="t"/>
          <a:lstStyle/>
          <a:p>
            <a:pPr algn="l" indent="0" marL="0">
              <a:lnSpc>
                <a:spcPts val="1820"/>
              </a:lnSpc>
              <a:buNone/>
            </a:pPr>
            <a:r>
              <a:rPr lang="en-US" sz="1357" b="1" dirty="0">
                <a:solidFill>
                  <a:srgbClr val="141B3D"/>
                </a:solidFill>
                <a:latin typeface="Open Sans" pitchFamily="34" charset="0"/>
                <a:ea typeface="Open Sans" pitchFamily="34" charset="-122"/>
                <a:cs typeface="Open Sans" pitchFamily="34" charset="-120"/>
              </a:rPr>
              <a:t>A buildable version of the form</a:t>
            </a:r>
            <a:endParaRPr lang="en-US" sz="1357" dirty="0"/>
          </a:p>
          <a:p>
            <a:pPr algn="l" indent="0" marL="0">
              <a:lnSpc>
                <a:spcPts val="1820"/>
              </a:lnSpc>
              <a:buNone/>
            </a:pPr>
            <a:r>
              <a:rPr lang="en-US" sz="1357" b="1" dirty="0">
                <a:solidFill>
                  <a:srgbClr val="141B3D"/>
                </a:solidFill>
                <a:latin typeface="Open Sans" pitchFamily="34" charset="0"/>
                <a:ea typeface="Open Sans" pitchFamily="34" charset="-122"/>
                <a:cs typeface="Open Sans" pitchFamily="34" charset="-120"/>
              </a:rPr>
              <a:t>found in Ch 3 to 5.</a:t>
            </a:r>
            <a:endParaRPr lang="en-US" sz="1357" dirty="0"/>
          </a:p>
        </p:txBody>
      </p:sp>
      <p:sp>
        <p:nvSpPr>
          <p:cNvPr id="42" name="Shape 40"/>
          <p:cNvSpPr/>
          <p:nvPr/>
        </p:nvSpPr>
        <p:spPr>
          <a:xfrm>
            <a:off x="8530438" y="3148279"/>
            <a:ext cx="51206" cy="51206"/>
          </a:xfrm>
          <a:prstGeom prst="rect">
            <a:avLst/>
          </a:prstGeom>
          <a:solidFill>
            <a:srgbClr val="CA49A4"/>
          </a:solidFill>
          <a:ln/>
        </p:spPr>
      </p:sp>
      <p:sp>
        <p:nvSpPr>
          <p:cNvPr id="43" name="Text 41"/>
          <p:cNvSpPr txBox="1"/>
          <p:nvPr/>
        </p:nvSpPr>
        <p:spPr>
          <a:xfrm>
            <a:off x="8669426" y="3087014"/>
            <a:ext cx="2836469"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Discretised geometry with interfaces</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resolved</a:t>
            </a:r>
            <a:endParaRPr lang="en-US" sz="1200" dirty="0"/>
          </a:p>
        </p:txBody>
      </p:sp>
      <p:sp>
        <p:nvSpPr>
          <p:cNvPr id="44" name="Shape 42"/>
          <p:cNvSpPr/>
          <p:nvPr/>
        </p:nvSpPr>
        <p:spPr>
          <a:xfrm>
            <a:off x="8530438" y="3622853"/>
            <a:ext cx="51206" cy="51206"/>
          </a:xfrm>
          <a:prstGeom prst="rect">
            <a:avLst/>
          </a:prstGeom>
          <a:solidFill>
            <a:srgbClr val="CA49A4"/>
          </a:solidFill>
          <a:ln/>
        </p:spPr>
      </p:sp>
      <p:sp>
        <p:nvSpPr>
          <p:cNvPr id="45" name="Text 43"/>
          <p:cNvSpPr txBox="1"/>
          <p:nvPr/>
        </p:nvSpPr>
        <p:spPr>
          <a:xfrm>
            <a:off x="8669426" y="3561588"/>
            <a:ext cx="2624328"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Assembly drawings and sequence</a:t>
            </a:r>
            <a:endParaRPr lang="en-US" sz="1200" dirty="0"/>
          </a:p>
        </p:txBody>
      </p:sp>
      <p:sp>
        <p:nvSpPr>
          <p:cNvPr id="46" name="Shape 44"/>
          <p:cNvSpPr/>
          <p:nvPr/>
        </p:nvSpPr>
        <p:spPr>
          <a:xfrm>
            <a:off x="8530438" y="3892601"/>
            <a:ext cx="51206" cy="51206"/>
          </a:xfrm>
          <a:prstGeom prst="rect">
            <a:avLst/>
          </a:prstGeom>
          <a:solidFill>
            <a:srgbClr val="CA49A4"/>
          </a:solidFill>
          <a:ln/>
        </p:spPr>
      </p:sp>
      <p:sp>
        <p:nvSpPr>
          <p:cNvPr id="47" name="Text 45"/>
          <p:cNvSpPr txBox="1"/>
          <p:nvPr/>
        </p:nvSpPr>
        <p:spPr>
          <a:xfrm>
            <a:off x="8669426" y="3830422"/>
            <a:ext cx="2662733"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Stability check of the partially built</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state</a:t>
            </a:r>
            <a:endParaRPr lang="en-US" sz="1200" dirty="0"/>
          </a:p>
        </p:txBody>
      </p:sp>
      <p:sp>
        <p:nvSpPr>
          <p:cNvPr id="48" name="Shape 46"/>
          <p:cNvSpPr/>
          <p:nvPr/>
        </p:nvSpPr>
        <p:spPr>
          <a:xfrm>
            <a:off x="8530438" y="4367174"/>
            <a:ext cx="51206" cy="51206"/>
          </a:xfrm>
          <a:prstGeom prst="rect">
            <a:avLst/>
          </a:prstGeom>
          <a:solidFill>
            <a:srgbClr val="CA49A4"/>
          </a:solidFill>
          <a:ln/>
        </p:spPr>
      </p:sp>
      <p:sp>
        <p:nvSpPr>
          <p:cNvPr id="49" name="Text 47"/>
          <p:cNvSpPr txBox="1"/>
          <p:nvPr/>
        </p:nvSpPr>
        <p:spPr>
          <a:xfrm>
            <a:off x="8669426" y="4305910"/>
            <a:ext cx="2269541"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 small physical model of the</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assembly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image.imageformat.1286.dpr2.120364917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7750C1"/>
          </a:solidFill>
          <a:ln/>
        </p:spPr>
      </p:sp>
      <p:sp>
        <p:nvSpPr>
          <p:cNvPr id="6" name="Shape 3"/>
          <p:cNvSpPr/>
          <p:nvPr/>
        </p:nvSpPr>
        <p:spPr>
          <a:xfrm>
            <a:off x="5333695" y="558698"/>
            <a:ext cx="1524305" cy="88697"/>
          </a:xfrm>
          <a:prstGeom prst="rect">
            <a:avLst/>
          </a:prstGeom>
          <a:solidFill>
            <a:srgbClr val="934ABD"/>
          </a:solidFill>
          <a:ln/>
        </p:spPr>
      </p:sp>
      <p:sp>
        <p:nvSpPr>
          <p:cNvPr id="7" name="Shape 4"/>
          <p:cNvSpPr/>
          <p:nvPr/>
        </p:nvSpPr>
        <p:spPr>
          <a:xfrm>
            <a:off x="6909206" y="558698"/>
            <a:ext cx="1524305" cy="88697"/>
          </a:xfrm>
          <a:prstGeom prst="rect">
            <a:avLst/>
          </a:prstGeom>
          <a:solidFill>
            <a:srgbClr val="AE4BB2"/>
          </a:solidFill>
          <a:ln/>
        </p:spPr>
      </p:sp>
      <p:sp>
        <p:nvSpPr>
          <p:cNvPr id="8" name="Shape 5"/>
          <p:cNvSpPr/>
          <p:nvPr/>
        </p:nvSpPr>
        <p:spPr>
          <a:xfrm>
            <a:off x="8483803" y="558698"/>
            <a:ext cx="1524305" cy="88697"/>
          </a:xfrm>
          <a:prstGeom prst="rect">
            <a:avLst/>
          </a:prstGeom>
          <a:solidFill>
            <a:srgbClr val="CA49A4"/>
          </a:solidFill>
          <a:ln/>
        </p:spPr>
      </p:sp>
      <p:sp>
        <p:nvSpPr>
          <p:cNvPr id="9" name="Shape 6"/>
          <p:cNvSpPr/>
          <p:nvPr/>
        </p:nvSpPr>
        <p:spPr>
          <a:xfrm>
            <a:off x="10058400" y="558698"/>
            <a:ext cx="1524305" cy="88697"/>
          </a:xfrm>
          <a:prstGeom prst="rect">
            <a:avLst/>
          </a:prstGeom>
          <a:solidFill>
            <a:srgbClr val="FFFFFF">
              <a:alpha val="85000"/>
            </a:srgbClr>
          </a:solidFill>
          <a:ln/>
        </p:spPr>
      </p:sp>
      <p:sp>
        <p:nvSpPr>
          <p:cNvPr id="10" name="Shape 7"/>
          <p:cNvSpPr/>
          <p:nvPr/>
        </p:nvSpPr>
        <p:spPr>
          <a:xfrm>
            <a:off x="609905" y="787298"/>
            <a:ext cx="1894637" cy="310896"/>
          </a:xfrm>
          <a:prstGeom prst="rect">
            <a:avLst/>
          </a:prstGeom>
          <a:solidFill>
            <a:srgbClr val="FFFFFF">
              <a:alpha val="70000"/>
            </a:srgbClr>
          </a:solidFill>
          <a:ln/>
        </p:spPr>
      </p:sp>
      <p:sp>
        <p:nvSpPr>
          <p:cNvPr id="11" name="Text 8"/>
          <p:cNvSpPr txBox="1"/>
          <p:nvPr/>
        </p:nvSpPr>
        <p:spPr>
          <a:xfrm>
            <a:off x="698602" y="839419"/>
            <a:ext cx="189280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6 · 1 ECTS · 30 h</a:t>
            </a:r>
            <a:endParaRPr lang="en-US" sz="1200" dirty="0"/>
          </a:p>
        </p:txBody>
      </p:sp>
      <p:sp>
        <p:nvSpPr>
          <p:cNvPr id="12" name="Shape 9"/>
          <p:cNvSpPr/>
          <p:nvPr/>
        </p:nvSpPr>
        <p:spPr>
          <a:xfrm>
            <a:off x="609905" y="1200607"/>
            <a:ext cx="7819949" cy="552298"/>
          </a:xfrm>
          <a:prstGeom prst="rect">
            <a:avLst/>
          </a:prstGeom>
          <a:solidFill>
            <a:srgbClr val="FFFFFF">
              <a:alpha val="70000"/>
            </a:srgbClr>
          </a:solidFill>
          <a:ln/>
        </p:spPr>
      </p:sp>
      <p:sp>
        <p:nvSpPr>
          <p:cNvPr id="13" name="Text 10"/>
          <p:cNvSpPr txBox="1"/>
          <p:nvPr/>
        </p:nvSpPr>
        <p:spPr>
          <a:xfrm>
            <a:off x="724205" y="1272845"/>
            <a:ext cx="8236915" cy="400507"/>
          </a:xfrm>
          <a:prstGeom prst="rect">
            <a:avLst/>
          </a:prstGeom>
          <a:noFill/>
          <a:ln/>
        </p:spPr>
        <p:txBody>
          <a:bodyPr wrap="none" lIns="0" tIns="0" rIns="0" bIns="0" rtlCol="0" anchor="t"/>
          <a:lstStyle/>
          <a:p>
            <a:pPr algn="l" indent="0" marL="0">
              <a:lnSpc>
                <a:spcPts val="3150"/>
              </a:lnSpc>
              <a:buNone/>
            </a:pPr>
            <a:r>
              <a:rPr lang="en-US" sz="2878" b="1" spc="-60" kern="0" dirty="0">
                <a:solidFill>
                  <a:srgbClr val="141B3D"/>
                </a:solidFill>
                <a:latin typeface="Open Sans" pitchFamily="34" charset="0"/>
                <a:ea typeface="Open Sans" pitchFamily="34" charset="-122"/>
                <a:cs typeface="Open Sans" pitchFamily="34" charset="-120"/>
              </a:rPr>
              <a:t>Schedule: Materialization / Constructability</a:t>
            </a:r>
            <a:endParaRPr lang="en-US" sz="2878" dirty="0"/>
          </a:p>
        </p:txBody>
      </p:sp>
      <p:sp>
        <p:nvSpPr>
          <p:cNvPr id="14" name="Shape 11"/>
          <p:cNvSpPr/>
          <p:nvPr/>
        </p:nvSpPr>
        <p:spPr>
          <a:xfrm>
            <a:off x="609905" y="1968703"/>
            <a:ext cx="2072945" cy="4406494"/>
          </a:xfrm>
          <a:prstGeom prst="rect">
            <a:avLst/>
          </a:prstGeom>
          <a:solidFill>
            <a:srgbClr val="FFFFFF">
              <a:alpha val="92000"/>
            </a:srgbClr>
          </a:solidFill>
          <a:ln/>
        </p:spPr>
      </p:sp>
      <p:sp>
        <p:nvSpPr>
          <p:cNvPr id="15" name="Shape 12"/>
          <p:cNvSpPr/>
          <p:nvPr/>
        </p:nvSpPr>
        <p:spPr>
          <a:xfrm>
            <a:off x="609905" y="1968703"/>
            <a:ext cx="2072945" cy="437998"/>
          </a:xfrm>
          <a:prstGeom prst="rect">
            <a:avLst/>
          </a:prstGeom>
          <a:solidFill>
            <a:srgbClr val="CA49A4"/>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2834640" y="1968703"/>
            <a:ext cx="2072945" cy="4406494"/>
          </a:xfrm>
          <a:prstGeom prst="rect">
            <a:avLst/>
          </a:prstGeom>
          <a:solidFill>
            <a:srgbClr val="FFFFFF">
              <a:alpha val="92000"/>
            </a:srgbClr>
          </a:solidFill>
          <a:ln/>
        </p:spPr>
      </p:sp>
      <p:sp>
        <p:nvSpPr>
          <p:cNvPr id="19" name="Shape 16"/>
          <p:cNvSpPr/>
          <p:nvPr/>
        </p:nvSpPr>
        <p:spPr>
          <a:xfrm>
            <a:off x="2834640" y="1968703"/>
            <a:ext cx="2072945" cy="437998"/>
          </a:xfrm>
          <a:prstGeom prst="rect">
            <a:avLst/>
          </a:prstGeom>
          <a:solidFill>
            <a:srgbClr val="CA49A4"/>
          </a:solidFill>
          <a:ln/>
        </p:spPr>
      </p:sp>
      <p:sp>
        <p:nvSpPr>
          <p:cNvPr id="20" name="Text 17"/>
          <p:cNvSpPr txBox="1"/>
          <p:nvPr/>
        </p:nvSpPr>
        <p:spPr>
          <a:xfrm>
            <a:off x="297454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297454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5059375" y="1968703"/>
            <a:ext cx="2072945" cy="4406494"/>
          </a:xfrm>
          <a:prstGeom prst="rect">
            <a:avLst/>
          </a:prstGeom>
          <a:solidFill>
            <a:srgbClr val="FFFFFF">
              <a:alpha val="92000"/>
            </a:srgbClr>
          </a:solidFill>
          <a:ln/>
        </p:spPr>
      </p:sp>
      <p:sp>
        <p:nvSpPr>
          <p:cNvPr id="23" name="Shape 20"/>
          <p:cNvSpPr/>
          <p:nvPr/>
        </p:nvSpPr>
        <p:spPr>
          <a:xfrm>
            <a:off x="5059375" y="1968703"/>
            <a:ext cx="2072945" cy="437998"/>
          </a:xfrm>
          <a:prstGeom prst="rect">
            <a:avLst/>
          </a:prstGeom>
          <a:solidFill>
            <a:srgbClr val="CA49A4"/>
          </a:solidFill>
          <a:ln/>
        </p:spPr>
      </p:sp>
      <p:sp>
        <p:nvSpPr>
          <p:cNvPr id="24" name="Text 21"/>
          <p:cNvSpPr txBox="1"/>
          <p:nvPr/>
        </p:nvSpPr>
        <p:spPr>
          <a:xfrm>
            <a:off x="519927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519927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7285025" y="1968703"/>
            <a:ext cx="2072945" cy="4406494"/>
          </a:xfrm>
          <a:prstGeom prst="rect">
            <a:avLst/>
          </a:prstGeom>
          <a:solidFill>
            <a:srgbClr val="FFFFFF">
              <a:alpha val="92000"/>
            </a:srgbClr>
          </a:solidFill>
          <a:ln/>
        </p:spPr>
      </p:sp>
      <p:sp>
        <p:nvSpPr>
          <p:cNvPr id="27" name="Shape 24"/>
          <p:cNvSpPr/>
          <p:nvPr/>
        </p:nvSpPr>
        <p:spPr>
          <a:xfrm>
            <a:off x="7285025" y="1968703"/>
            <a:ext cx="2072945" cy="437998"/>
          </a:xfrm>
          <a:prstGeom prst="rect">
            <a:avLst/>
          </a:prstGeom>
          <a:solidFill>
            <a:srgbClr val="CA49A4"/>
          </a:solidFill>
          <a:ln/>
        </p:spPr>
      </p:sp>
      <p:sp>
        <p:nvSpPr>
          <p:cNvPr id="28" name="Text 25"/>
          <p:cNvSpPr txBox="1"/>
          <p:nvPr/>
        </p:nvSpPr>
        <p:spPr>
          <a:xfrm>
            <a:off x="742401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742401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9509760" y="1968703"/>
            <a:ext cx="2072945" cy="4406494"/>
          </a:xfrm>
          <a:prstGeom prst="rect">
            <a:avLst/>
          </a:prstGeom>
          <a:solidFill>
            <a:srgbClr val="FFFFFF">
              <a:alpha val="92000"/>
            </a:srgbClr>
          </a:solidFill>
          <a:ln/>
        </p:spPr>
      </p:sp>
      <p:sp>
        <p:nvSpPr>
          <p:cNvPr id="31" name="Shape 28"/>
          <p:cNvSpPr/>
          <p:nvPr/>
        </p:nvSpPr>
        <p:spPr>
          <a:xfrm>
            <a:off x="9509760" y="1968703"/>
            <a:ext cx="2072945" cy="437998"/>
          </a:xfrm>
          <a:prstGeom prst="rect">
            <a:avLst/>
          </a:prstGeom>
          <a:solidFill>
            <a:srgbClr val="CA49A4"/>
          </a:solidFill>
          <a:ln/>
        </p:spPr>
      </p:sp>
      <p:sp>
        <p:nvSpPr>
          <p:cNvPr id="32" name="Text 29"/>
          <p:cNvSpPr txBox="1"/>
          <p:nvPr/>
        </p:nvSpPr>
        <p:spPr>
          <a:xfrm>
            <a:off x="964966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964966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5" y="558698"/>
            <a:ext cx="1524305" cy="88697"/>
          </a:xfrm>
          <a:prstGeom prst="rect">
            <a:avLst/>
          </a:prstGeom>
          <a:solidFill>
            <a:srgbClr val="3057B1"/>
          </a:solidFill>
          <a:ln/>
        </p:spPr>
      </p:sp>
      <p:sp>
        <p:nvSpPr>
          <p:cNvPr id="3" name="Shape 1"/>
          <p:cNvSpPr/>
          <p:nvPr/>
        </p:nvSpPr>
        <p:spPr>
          <a:xfrm>
            <a:off x="2184502" y="558698"/>
            <a:ext cx="1524305" cy="88697"/>
          </a:xfrm>
          <a:prstGeom prst="rect">
            <a:avLst/>
          </a:prstGeom>
          <a:solidFill>
            <a:srgbClr val="5552BB"/>
          </a:solidFill>
          <a:ln/>
        </p:spPr>
      </p:sp>
      <p:sp>
        <p:nvSpPr>
          <p:cNvPr id="4" name="Shape 2"/>
          <p:cNvSpPr/>
          <p:nvPr/>
        </p:nvSpPr>
        <p:spPr>
          <a:xfrm>
            <a:off x="3759098" y="558698"/>
            <a:ext cx="1524305" cy="88697"/>
          </a:xfrm>
          <a:prstGeom prst="rect">
            <a:avLst/>
          </a:prstGeom>
          <a:solidFill>
            <a:srgbClr val="7750C1"/>
          </a:solidFill>
          <a:ln/>
        </p:spPr>
      </p:sp>
      <p:sp>
        <p:nvSpPr>
          <p:cNvPr id="5" name="Shape 3"/>
          <p:cNvSpPr/>
          <p:nvPr/>
        </p:nvSpPr>
        <p:spPr>
          <a:xfrm>
            <a:off x="5333695" y="558698"/>
            <a:ext cx="1524305" cy="88697"/>
          </a:xfrm>
          <a:prstGeom prst="rect">
            <a:avLst/>
          </a:prstGeom>
          <a:solidFill>
            <a:srgbClr val="934ABD"/>
          </a:solidFill>
          <a:ln/>
        </p:spPr>
      </p:sp>
      <p:sp>
        <p:nvSpPr>
          <p:cNvPr id="6" name="Shape 4"/>
          <p:cNvSpPr/>
          <p:nvPr/>
        </p:nvSpPr>
        <p:spPr>
          <a:xfrm>
            <a:off x="6909206" y="558698"/>
            <a:ext cx="1524305" cy="88697"/>
          </a:xfrm>
          <a:prstGeom prst="rect">
            <a:avLst/>
          </a:prstGeom>
          <a:solidFill>
            <a:srgbClr val="AE4BB2"/>
          </a:solidFill>
          <a:ln/>
        </p:spPr>
      </p:sp>
      <p:sp>
        <p:nvSpPr>
          <p:cNvPr id="7" name="Shape 5"/>
          <p:cNvSpPr/>
          <p:nvPr/>
        </p:nvSpPr>
        <p:spPr>
          <a:xfrm>
            <a:off x="8483803" y="558698"/>
            <a:ext cx="1524305" cy="88697"/>
          </a:xfrm>
          <a:prstGeom prst="rect">
            <a:avLst/>
          </a:prstGeom>
          <a:solidFill>
            <a:srgbClr val="CA49A4"/>
          </a:solidFill>
          <a:ln/>
        </p:spPr>
      </p:sp>
      <p:sp>
        <p:nvSpPr>
          <p:cNvPr id="8" name="Shape 6"/>
          <p:cNvSpPr/>
          <p:nvPr/>
        </p:nvSpPr>
        <p:spPr>
          <a:xfrm>
            <a:off x="10058400" y="558698"/>
            <a:ext cx="1524305" cy="88697"/>
          </a:xfrm>
          <a:prstGeom prst="rect">
            <a:avLst/>
          </a:prstGeom>
          <a:solidFill>
            <a:srgbClr val="DC4B8D"/>
          </a:solidFill>
          <a:ln/>
        </p:spPr>
      </p:sp>
      <p:sp>
        <p:nvSpPr>
          <p:cNvPr id="9" name="Text 7"/>
          <p:cNvSpPr txBox="1"/>
          <p:nvPr/>
        </p:nvSpPr>
        <p:spPr>
          <a:xfrm>
            <a:off x="609905" y="788213"/>
            <a:ext cx="4135831" cy="207569"/>
          </a:xfrm>
          <a:prstGeom prst="rect">
            <a:avLst/>
          </a:prstGeom>
          <a:noFill/>
          <a:ln/>
        </p:spPr>
        <p:txBody>
          <a:bodyPr wrap="none" lIns="0" tIns="0" rIns="0" bIns="0" rtlCol="0" anchor="t"/>
          <a:lstStyle/>
          <a:p>
            <a:pPr algn="l" indent="0" marL="0">
              <a:lnSpc>
                <a:spcPts val="1634"/>
              </a:lnSpc>
              <a:buNone/>
            </a:pPr>
            <a:r>
              <a:rPr lang="en-US" sz="1200" dirty="0">
                <a:solidFill>
                  <a:srgbClr val="DC4B8D"/>
                </a:solidFill>
                <a:latin typeface="Open Sans" pitchFamily="34" charset="0"/>
                <a:ea typeface="Open Sans" pitchFamily="34" charset="-122"/>
                <a:cs typeface="Open Sans" pitchFamily="34" charset="-120"/>
              </a:rPr>
              <a:t>Chapter 7 · 4 ECTS · 120 h · runs across the full course</a:t>
            </a:r>
            <a:endParaRPr lang="en-US" sz="1200" dirty="0"/>
          </a:p>
        </p:txBody>
      </p:sp>
      <p:sp>
        <p:nvSpPr>
          <p:cNvPr id="10" name="Text 8"/>
          <p:cNvSpPr txBox="1"/>
          <p:nvPr/>
        </p:nvSpPr>
        <p:spPr>
          <a:xfrm>
            <a:off x="609905" y="1095451"/>
            <a:ext cx="3361334" cy="400507"/>
          </a:xfrm>
          <a:prstGeom prst="rect">
            <a:avLst/>
          </a:prstGeom>
          <a:noFill/>
          <a:ln/>
        </p:spPr>
        <p:txBody>
          <a:bodyPr wrap="none" lIns="0" tIns="0" rIns="0" bIns="0" rtlCol="0" anchor="t"/>
          <a:lstStyle/>
          <a:p>
            <a:pPr algn="l" indent="0" marL="0">
              <a:lnSpc>
                <a:spcPts val="3150"/>
              </a:lnSpc>
              <a:buNone/>
            </a:pPr>
            <a:r>
              <a:rPr lang="en-US" sz="2874" b="1" spc="-60" kern="0" dirty="0">
                <a:solidFill>
                  <a:srgbClr val="141B3D"/>
                </a:solidFill>
                <a:latin typeface="Open Sans" pitchFamily="34" charset="0"/>
                <a:ea typeface="Open Sans" pitchFamily="34" charset="-122"/>
                <a:cs typeface="Open Sans" pitchFamily="34" charset="-120"/>
              </a:rPr>
              <a:t>Individual Project</a:t>
            </a:r>
            <a:endParaRPr lang="en-US" sz="2874" dirty="0"/>
          </a:p>
        </p:txBody>
      </p:sp>
      <p:sp>
        <p:nvSpPr>
          <p:cNvPr id="11" name="Shape 9"/>
          <p:cNvSpPr/>
          <p:nvPr/>
        </p:nvSpPr>
        <p:spPr>
          <a:xfrm>
            <a:off x="609905" y="1651406"/>
            <a:ext cx="10972800" cy="6401"/>
          </a:xfrm>
          <a:prstGeom prst="rect">
            <a:avLst/>
          </a:prstGeom>
          <a:solidFill>
            <a:srgbClr val="DCD9E4"/>
          </a:solidFill>
          <a:ln/>
        </p:spPr>
      </p:sp>
      <p:sp>
        <p:nvSpPr>
          <p:cNvPr id="12" name="Shape 10"/>
          <p:cNvSpPr/>
          <p:nvPr/>
        </p:nvSpPr>
        <p:spPr>
          <a:xfrm>
            <a:off x="609905" y="1891894"/>
            <a:ext cx="51206" cy="51206"/>
          </a:xfrm>
          <a:prstGeom prst="rect">
            <a:avLst/>
          </a:prstGeom>
          <a:solidFill>
            <a:srgbClr val="DC4B8D"/>
          </a:solidFill>
          <a:ln/>
        </p:spPr>
      </p:sp>
      <p:sp>
        <p:nvSpPr>
          <p:cNvPr id="13" name="Text 11"/>
          <p:cNvSpPr txBox="1"/>
          <p:nvPr/>
        </p:nvSpPr>
        <p:spPr>
          <a:xfrm>
            <a:off x="748894" y="1830629"/>
            <a:ext cx="497342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Own design question: arch, vault, shell, cable net or strut-and-tie</a:t>
            </a:r>
            <a:endParaRPr lang="en-US" sz="1200" dirty="0"/>
          </a:p>
        </p:txBody>
      </p:sp>
      <p:sp>
        <p:nvSpPr>
          <p:cNvPr id="14" name="Shape 12"/>
          <p:cNvSpPr/>
          <p:nvPr/>
        </p:nvSpPr>
        <p:spPr>
          <a:xfrm>
            <a:off x="609905" y="2161642"/>
            <a:ext cx="51206" cy="51206"/>
          </a:xfrm>
          <a:prstGeom prst="rect">
            <a:avLst/>
          </a:prstGeom>
          <a:solidFill>
            <a:srgbClr val="DC4B8D"/>
          </a:solidFill>
          <a:ln/>
        </p:spPr>
      </p:sp>
      <p:sp>
        <p:nvSpPr>
          <p:cNvPr id="15" name="Text 13"/>
          <p:cNvSpPr txBox="1"/>
          <p:nvPr/>
        </p:nvSpPr>
        <p:spPr>
          <a:xfrm>
            <a:off x="748894" y="2099462"/>
            <a:ext cx="308061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At least two toolchains, running as code</a:t>
            </a:r>
            <a:endParaRPr lang="en-US" sz="1200" dirty="0"/>
          </a:p>
        </p:txBody>
      </p:sp>
      <p:sp>
        <p:nvSpPr>
          <p:cNvPr id="16" name="Shape 14"/>
          <p:cNvSpPr/>
          <p:nvPr/>
        </p:nvSpPr>
        <p:spPr>
          <a:xfrm>
            <a:off x="609905" y="2430475"/>
            <a:ext cx="51206" cy="51206"/>
          </a:xfrm>
          <a:prstGeom prst="rect">
            <a:avLst/>
          </a:prstGeom>
          <a:solidFill>
            <a:srgbClr val="DC4B8D"/>
          </a:solidFill>
          <a:ln/>
        </p:spPr>
      </p:sp>
      <p:sp>
        <p:nvSpPr>
          <p:cNvPr id="17" name="Text 15"/>
          <p:cNvSpPr txBox="1"/>
          <p:nvPr/>
        </p:nvSpPr>
        <p:spPr>
          <a:xfrm>
            <a:off x="748894" y="2369210"/>
            <a:ext cx="504200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Proposal · mid-term peer review · final review with external critics</a:t>
            </a:r>
            <a:endParaRPr lang="en-US" sz="1200" dirty="0"/>
          </a:p>
        </p:txBody>
      </p:sp>
      <p:sp>
        <p:nvSpPr>
          <p:cNvPr id="18" name="Shape 16"/>
          <p:cNvSpPr/>
          <p:nvPr/>
        </p:nvSpPr>
        <p:spPr>
          <a:xfrm>
            <a:off x="609905" y="2700223"/>
            <a:ext cx="51206" cy="51206"/>
          </a:xfrm>
          <a:prstGeom prst="rect">
            <a:avLst/>
          </a:prstGeom>
          <a:solidFill>
            <a:srgbClr val="DC4B8D"/>
          </a:solidFill>
          <a:ln/>
        </p:spPr>
      </p:sp>
      <p:sp>
        <p:nvSpPr>
          <p:cNvPr id="19" name="Text 17"/>
          <p:cNvSpPr txBox="1"/>
          <p:nvPr/>
        </p:nvSpPr>
        <p:spPr>
          <a:xfrm>
            <a:off x="748894" y="2638044"/>
            <a:ext cx="3567074"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A physical prototype of the form-found design</a:t>
            </a:r>
            <a:endParaRPr lang="en-US" sz="1200" dirty="0"/>
          </a:p>
        </p:txBody>
      </p:sp>
      <p:sp>
        <p:nvSpPr>
          <p:cNvPr id="20" name="Shape 18"/>
          <p:cNvSpPr/>
          <p:nvPr/>
        </p:nvSpPr>
        <p:spPr>
          <a:xfrm>
            <a:off x="609905" y="2969057"/>
            <a:ext cx="51206" cy="51206"/>
          </a:xfrm>
          <a:prstGeom prst="rect">
            <a:avLst/>
          </a:prstGeom>
          <a:solidFill>
            <a:srgbClr val="DC4B8D"/>
          </a:solidFill>
          <a:ln/>
        </p:spPr>
      </p:sp>
      <p:sp>
        <p:nvSpPr>
          <p:cNvPr id="21" name="Text 19"/>
          <p:cNvSpPr txBox="1"/>
          <p:nvPr/>
        </p:nvSpPr>
        <p:spPr>
          <a:xfrm>
            <a:off x="748894" y="2907792"/>
            <a:ext cx="433974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Public repository · 4–6 page booklet · 15-minute defence</a:t>
            </a:r>
            <a:endParaRPr lang="en-US" sz="1200" dirty="0"/>
          </a:p>
        </p:txBody>
      </p:sp>
      <p:sp>
        <p:nvSpPr>
          <p:cNvPr id="22" name="Shape 20"/>
          <p:cNvSpPr/>
          <p:nvPr/>
        </p:nvSpPr>
        <p:spPr>
          <a:xfrm>
            <a:off x="6818681" y="1835201"/>
            <a:ext cx="4764024" cy="3065983"/>
          </a:xfrm>
          <a:prstGeom prst="rect">
            <a:avLst/>
          </a:prstGeom>
          <a:solidFill>
            <a:srgbClr val="FDDDE7"/>
          </a:solidFill>
          <a:ln/>
        </p:spPr>
      </p:sp>
      <p:sp>
        <p:nvSpPr>
          <p:cNvPr id="23" name="Shape 21"/>
          <p:cNvSpPr/>
          <p:nvPr/>
        </p:nvSpPr>
        <p:spPr>
          <a:xfrm>
            <a:off x="6818681" y="1835201"/>
            <a:ext cx="4764024" cy="412394"/>
          </a:xfrm>
          <a:prstGeom prst="rect">
            <a:avLst/>
          </a:prstGeom>
          <a:solidFill>
            <a:srgbClr val="DC4B8D"/>
          </a:solidFill>
          <a:ln/>
        </p:spPr>
      </p:sp>
      <p:sp>
        <p:nvSpPr>
          <p:cNvPr id="24" name="Text 22"/>
          <p:cNvSpPr txBox="1"/>
          <p:nvPr/>
        </p:nvSpPr>
        <p:spPr>
          <a:xfrm>
            <a:off x="6945782" y="1912010"/>
            <a:ext cx="102504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Resources</a:t>
            </a:r>
            <a:endParaRPr lang="en-US" sz="1500" dirty="0"/>
          </a:p>
        </p:txBody>
      </p:sp>
      <p:sp>
        <p:nvSpPr>
          <p:cNvPr id="25" name="Text 23"/>
          <p:cNvSpPr txBox="1"/>
          <p:nvPr/>
        </p:nvSpPr>
        <p:spPr>
          <a:xfrm>
            <a:off x="6945782" y="2373782"/>
            <a:ext cx="3353105" cy="231343"/>
          </a:xfrm>
          <a:prstGeom prst="rect">
            <a:avLst/>
          </a:prstGeom>
          <a:noFill/>
          <a:ln/>
        </p:spPr>
        <p:txBody>
          <a:bodyPr wrap="none" lIns="0" tIns="0" rIns="0" bIns="0" rtlCol="0" anchor="t"/>
          <a:lstStyle/>
          <a:p>
            <a:pPr algn="l" indent="0" marL="0">
              <a:lnSpc>
                <a:spcPts val="1820"/>
              </a:lnSpc>
              <a:buNone/>
            </a:pPr>
            <a:r>
              <a:rPr lang="en-US" sz="1350" b="1" dirty="0">
                <a:solidFill>
                  <a:srgbClr val="141B3D"/>
                </a:solidFill>
                <a:latin typeface="Open Sans" pitchFamily="34" charset="0"/>
                <a:ea typeface="Open Sans" pitchFamily="34" charset="-122"/>
                <a:cs typeface="Open Sans" pitchFamily="34" charset="-120"/>
              </a:rPr>
              <a:t>The Robotic Fabrication Laboratory.</a:t>
            </a:r>
            <a:endParaRPr lang="en-US" sz="1350" dirty="0"/>
          </a:p>
        </p:txBody>
      </p:sp>
      <p:sp>
        <p:nvSpPr>
          <p:cNvPr id="26" name="Shape 24"/>
          <p:cNvSpPr/>
          <p:nvPr/>
        </p:nvSpPr>
        <p:spPr>
          <a:xfrm>
            <a:off x="6945782" y="2765146"/>
            <a:ext cx="51206" cy="51206"/>
          </a:xfrm>
          <a:prstGeom prst="rect">
            <a:avLst/>
          </a:prstGeom>
          <a:solidFill>
            <a:srgbClr val="DC4B8D"/>
          </a:solidFill>
          <a:ln/>
        </p:spPr>
      </p:sp>
      <p:sp>
        <p:nvSpPr>
          <p:cNvPr id="27" name="Text 25"/>
          <p:cNvSpPr txBox="1"/>
          <p:nvPr/>
        </p:nvSpPr>
        <p:spPr>
          <a:xfrm>
            <a:off x="7084771" y="2702966"/>
            <a:ext cx="3831336"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RFL, Arch_Tec_Lab building, Hönggerberg campus</a:t>
            </a:r>
            <a:endParaRPr lang="en-US" sz="1200" dirty="0"/>
          </a:p>
        </p:txBody>
      </p:sp>
      <p:sp>
        <p:nvSpPr>
          <p:cNvPr id="28" name="Shape 26"/>
          <p:cNvSpPr/>
          <p:nvPr/>
        </p:nvSpPr>
        <p:spPr>
          <a:xfrm>
            <a:off x="6945782" y="3033979"/>
            <a:ext cx="51206" cy="51206"/>
          </a:xfrm>
          <a:prstGeom prst="rect">
            <a:avLst/>
          </a:prstGeom>
          <a:solidFill>
            <a:srgbClr val="DC4B8D"/>
          </a:solidFill>
          <a:ln/>
        </p:spPr>
      </p:sp>
      <p:sp>
        <p:nvSpPr>
          <p:cNvPr id="29" name="Text 27"/>
          <p:cNvSpPr txBox="1"/>
          <p:nvPr/>
        </p:nvSpPr>
        <p:spPr>
          <a:xfrm>
            <a:off x="7084771" y="2972714"/>
            <a:ext cx="4013302"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Four six-axis robots on an overhead gantry, working</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cooperatively</a:t>
            </a:r>
            <a:endParaRPr lang="en-US" sz="1200" dirty="0"/>
          </a:p>
        </p:txBody>
      </p:sp>
      <p:sp>
        <p:nvSpPr>
          <p:cNvPr id="30" name="Shape 28"/>
          <p:cNvSpPr/>
          <p:nvPr/>
        </p:nvSpPr>
        <p:spPr>
          <a:xfrm>
            <a:off x="6945782" y="3508553"/>
            <a:ext cx="51206" cy="51206"/>
          </a:xfrm>
          <a:prstGeom prst="rect">
            <a:avLst/>
          </a:prstGeom>
          <a:solidFill>
            <a:srgbClr val="DC4B8D"/>
          </a:solidFill>
          <a:ln/>
        </p:spPr>
      </p:sp>
      <p:sp>
        <p:nvSpPr>
          <p:cNvPr id="31" name="Text 29"/>
          <p:cNvSpPr txBox="1"/>
          <p:nvPr/>
        </p:nvSpPr>
        <p:spPr>
          <a:xfrm>
            <a:off x="7084771" y="3447288"/>
            <a:ext cx="3144622" cy="20574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Maximum working volume 43 × 16 × 8 m</a:t>
            </a:r>
            <a:endParaRPr lang="en-US" sz="1200" dirty="0"/>
          </a:p>
        </p:txBody>
      </p:sp>
      <p:sp>
        <p:nvSpPr>
          <p:cNvPr id="32" name="Shape 30"/>
          <p:cNvSpPr/>
          <p:nvPr/>
        </p:nvSpPr>
        <p:spPr>
          <a:xfrm>
            <a:off x="6945782" y="3778301"/>
            <a:ext cx="51206" cy="51206"/>
          </a:xfrm>
          <a:prstGeom prst="rect">
            <a:avLst/>
          </a:prstGeom>
          <a:solidFill>
            <a:srgbClr val="DC4B8D"/>
          </a:solidFill>
          <a:ln/>
        </p:spPr>
      </p:sp>
      <p:sp>
        <p:nvSpPr>
          <p:cNvPr id="33" name="Text 31"/>
          <p:cNvSpPr txBox="1"/>
          <p:nvPr/>
        </p:nvSpPr>
        <p:spPr>
          <a:xfrm>
            <a:off x="7084771" y="3716122"/>
            <a:ext cx="4748479" cy="411480"/>
          </a:xfrm>
          <a:prstGeom prst="rect">
            <a:avLst/>
          </a:prstGeom>
          <a:noFill/>
          <a:ln/>
        </p:spPr>
        <p:txBody>
          <a:bodyPr wrap="none" lIns="0" tIns="0" rIns="0" bIns="0" rtlCol="0" anchor="t"/>
          <a:lstStyle/>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Open across disciplines, for full-scale design and construction</a:t>
            </a:r>
            <a:endParaRPr lang="en-US" sz="1200" dirty="0"/>
          </a:p>
          <a:p>
            <a:pPr algn="l" indent="0" marL="0">
              <a:lnSpc>
                <a:spcPts val="1620"/>
              </a:lnSpc>
              <a:buNone/>
            </a:pPr>
            <a:r>
              <a:rPr lang="en-US" sz="1200" dirty="0">
                <a:solidFill>
                  <a:srgbClr val="141B3D"/>
                </a:solidFill>
                <a:latin typeface="Open Sans" pitchFamily="34" charset="0"/>
                <a:ea typeface="Open Sans" pitchFamily="34" charset="-122"/>
                <a:cs typeface="Open Sans" pitchFamily="34" charset="-120"/>
              </a:rPr>
              <a:t>experiments</a:t>
            </a:r>
            <a:endParaRPr lang="en-US" sz="1200" dirty="0"/>
          </a:p>
        </p:txBody>
      </p:sp>
      <p:sp>
        <p:nvSpPr>
          <p:cNvPr id="34" name="Text 32"/>
          <p:cNvSpPr txBox="1"/>
          <p:nvPr/>
        </p:nvSpPr>
        <p:spPr>
          <a:xfrm>
            <a:off x="609905" y="4902098"/>
            <a:ext cx="2134210" cy="207569"/>
          </a:xfrm>
          <a:prstGeom prst="rect">
            <a:avLst/>
          </a:prstGeom>
          <a:noFill/>
          <a:ln/>
        </p:spPr>
        <p:txBody>
          <a:bodyPr wrap="none" lIns="0" tIns="0" rIns="0" bIns="0" rtlCol="0" anchor="t"/>
          <a:lstStyle/>
          <a:p>
            <a:pPr algn="l" indent="0" marL="0">
              <a:lnSpc>
                <a:spcPts val="1634"/>
              </a:lnSpc>
              <a:buNone/>
            </a:pPr>
            <a:r>
              <a:rPr lang="en-US" sz="1200" dirty="0">
                <a:solidFill>
                  <a:srgbClr val="6F7290"/>
                </a:solidFill>
                <a:latin typeface="Open Sans" pitchFamily="34" charset="0"/>
                <a:ea typeface="Open Sans" pitchFamily="34" charset="-122"/>
                <a:cs typeface="Open Sans" pitchFamily="34" charset="-120"/>
              </a:rPr>
              <a:t>What each chapter submits</a:t>
            </a:r>
            <a:endParaRPr lang="en-US" sz="1200" dirty="0"/>
          </a:p>
        </p:txBody>
      </p:sp>
      <p:sp>
        <p:nvSpPr>
          <p:cNvPr id="35" name="Shape 33"/>
          <p:cNvSpPr/>
          <p:nvPr/>
        </p:nvSpPr>
        <p:spPr>
          <a:xfrm>
            <a:off x="609905" y="5136185"/>
            <a:ext cx="1458468" cy="19202"/>
          </a:xfrm>
          <a:prstGeom prst="rect">
            <a:avLst/>
          </a:prstGeom>
          <a:solidFill>
            <a:srgbClr val="3057B1"/>
          </a:solidFill>
          <a:ln/>
        </p:spPr>
      </p:sp>
      <p:sp>
        <p:nvSpPr>
          <p:cNvPr id="36" name="Text 34"/>
          <p:cNvSpPr txBox="1"/>
          <p:nvPr/>
        </p:nvSpPr>
        <p:spPr>
          <a:xfrm>
            <a:off x="609905" y="5206594"/>
            <a:ext cx="1251814" cy="207569"/>
          </a:xfrm>
          <a:prstGeom prst="rect">
            <a:avLst/>
          </a:prstGeom>
          <a:noFill/>
          <a:ln/>
        </p:spPr>
        <p:txBody>
          <a:bodyPr wrap="none" lIns="0" tIns="0" rIns="0" bIns="0" rtlCol="0" anchor="t"/>
          <a:lstStyle/>
          <a:p>
            <a:pPr algn="l"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 1 · ungraded</a:t>
            </a:r>
            <a:endParaRPr lang="en-US" sz="1200" dirty="0"/>
          </a:p>
        </p:txBody>
      </p:sp>
      <p:sp>
        <p:nvSpPr>
          <p:cNvPr id="37" name="Text 35"/>
          <p:cNvSpPr txBox="1"/>
          <p:nvPr/>
        </p:nvSpPr>
        <p:spPr>
          <a:xfrm>
            <a:off x="609905" y="5485486"/>
            <a:ext cx="1121969" cy="662940"/>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Annotated</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constructions,</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one essay</a:t>
            </a:r>
            <a:endParaRPr lang="en-US" sz="1200" dirty="0"/>
          </a:p>
        </p:txBody>
      </p:sp>
      <p:sp>
        <p:nvSpPr>
          <p:cNvPr id="38" name="Shape 36"/>
          <p:cNvSpPr/>
          <p:nvPr/>
        </p:nvSpPr>
        <p:spPr>
          <a:xfrm>
            <a:off x="2195474" y="5136185"/>
            <a:ext cx="1458468" cy="19202"/>
          </a:xfrm>
          <a:prstGeom prst="rect">
            <a:avLst/>
          </a:prstGeom>
          <a:solidFill>
            <a:srgbClr val="5552BB"/>
          </a:solidFill>
          <a:ln/>
        </p:spPr>
      </p:sp>
      <p:sp>
        <p:nvSpPr>
          <p:cNvPr id="39" name="Text 37"/>
          <p:cNvSpPr txBox="1"/>
          <p:nvPr/>
        </p:nvSpPr>
        <p:spPr>
          <a:xfrm>
            <a:off x="2195474" y="5206594"/>
            <a:ext cx="875081" cy="207569"/>
          </a:xfrm>
          <a:prstGeom prst="rect">
            <a:avLst/>
          </a:prstGeom>
          <a:noFill/>
          <a:ln/>
        </p:spPr>
        <p:txBody>
          <a:bodyPr wrap="none" lIns="0" tIns="0" rIns="0" bIns="0" rtlCol="0" anchor="t"/>
          <a:lstStyle/>
          <a:p>
            <a:pPr algn="l" indent="0" marL="0">
              <a:lnSpc>
                <a:spcPts val="1634"/>
              </a:lnSpc>
              <a:buNone/>
            </a:pPr>
            <a:r>
              <a:rPr lang="en-US" sz="1200" dirty="0">
                <a:solidFill>
                  <a:srgbClr val="5552BB"/>
                </a:solidFill>
                <a:latin typeface="Open Sans" pitchFamily="34" charset="0"/>
                <a:ea typeface="Open Sans" pitchFamily="34" charset="-122"/>
                <a:cs typeface="Open Sans" pitchFamily="34" charset="-120"/>
              </a:rPr>
              <a:t>Ch 2 · 10 %</a:t>
            </a:r>
            <a:endParaRPr lang="en-US" sz="1200" dirty="0"/>
          </a:p>
        </p:txBody>
      </p:sp>
      <p:sp>
        <p:nvSpPr>
          <p:cNvPr id="40" name="Text 38"/>
          <p:cNvSpPr txBox="1"/>
          <p:nvPr/>
        </p:nvSpPr>
        <p:spPr>
          <a:xfrm>
            <a:off x="2195474" y="5485486"/>
            <a:ext cx="1345082" cy="441655"/>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Notebooks, truss</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module</a:t>
            </a:r>
            <a:endParaRPr lang="en-US" sz="1200" dirty="0"/>
          </a:p>
        </p:txBody>
      </p:sp>
      <p:sp>
        <p:nvSpPr>
          <p:cNvPr id="41" name="Shape 39"/>
          <p:cNvSpPr/>
          <p:nvPr/>
        </p:nvSpPr>
        <p:spPr>
          <a:xfrm>
            <a:off x="3781044" y="5136185"/>
            <a:ext cx="1458468" cy="19202"/>
          </a:xfrm>
          <a:prstGeom prst="rect">
            <a:avLst/>
          </a:prstGeom>
          <a:solidFill>
            <a:srgbClr val="7750C1"/>
          </a:solidFill>
          <a:ln/>
        </p:spPr>
      </p:sp>
      <p:sp>
        <p:nvSpPr>
          <p:cNvPr id="42" name="Text 40"/>
          <p:cNvSpPr txBox="1"/>
          <p:nvPr/>
        </p:nvSpPr>
        <p:spPr>
          <a:xfrm>
            <a:off x="3781044" y="5206594"/>
            <a:ext cx="875081" cy="207569"/>
          </a:xfrm>
          <a:prstGeom prst="rect">
            <a:avLst/>
          </a:prstGeom>
          <a:noFill/>
          <a:ln/>
        </p:spPr>
        <p:txBody>
          <a:bodyPr wrap="none" lIns="0" tIns="0" rIns="0" bIns="0" rtlCol="0" anchor="t"/>
          <a:lstStyle/>
          <a:p>
            <a:pPr algn="l" indent="0" marL="0">
              <a:lnSpc>
                <a:spcPts val="1634"/>
              </a:lnSpc>
              <a:buNone/>
            </a:pPr>
            <a:r>
              <a:rPr lang="en-US" sz="1200" dirty="0">
                <a:solidFill>
                  <a:srgbClr val="7750C1"/>
                </a:solidFill>
                <a:latin typeface="Open Sans" pitchFamily="34" charset="0"/>
                <a:ea typeface="Open Sans" pitchFamily="34" charset="-122"/>
                <a:cs typeface="Open Sans" pitchFamily="34" charset="-120"/>
              </a:rPr>
              <a:t>Ch 3 · 10 %</a:t>
            </a:r>
            <a:endParaRPr lang="en-US" sz="1200" dirty="0"/>
          </a:p>
        </p:txBody>
      </p:sp>
      <p:sp>
        <p:nvSpPr>
          <p:cNvPr id="43" name="Text 41"/>
          <p:cNvSpPr txBox="1"/>
          <p:nvPr/>
        </p:nvSpPr>
        <p:spPr>
          <a:xfrm>
            <a:off x="3781044" y="5485486"/>
            <a:ext cx="1132027" cy="441655"/>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Three views in</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code</a:t>
            </a:r>
            <a:endParaRPr lang="en-US" sz="1200" dirty="0"/>
          </a:p>
        </p:txBody>
      </p:sp>
      <p:sp>
        <p:nvSpPr>
          <p:cNvPr id="44" name="Shape 42"/>
          <p:cNvSpPr/>
          <p:nvPr/>
        </p:nvSpPr>
        <p:spPr>
          <a:xfrm>
            <a:off x="5366614" y="5136185"/>
            <a:ext cx="1458468" cy="19202"/>
          </a:xfrm>
          <a:prstGeom prst="rect">
            <a:avLst/>
          </a:prstGeom>
          <a:solidFill>
            <a:srgbClr val="934ABD"/>
          </a:solidFill>
          <a:ln/>
        </p:spPr>
      </p:sp>
      <p:sp>
        <p:nvSpPr>
          <p:cNvPr id="45" name="Text 43"/>
          <p:cNvSpPr txBox="1"/>
          <p:nvPr/>
        </p:nvSpPr>
        <p:spPr>
          <a:xfrm>
            <a:off x="5366614" y="5206594"/>
            <a:ext cx="875081" cy="207569"/>
          </a:xfrm>
          <a:prstGeom prst="rect">
            <a:avLst/>
          </a:prstGeom>
          <a:noFill/>
          <a:ln/>
        </p:spPr>
        <p:txBody>
          <a:bodyPr wrap="none" lIns="0" tIns="0" rIns="0" bIns="0" rtlCol="0" anchor="t"/>
          <a:lstStyle/>
          <a:p>
            <a:pPr algn="l" indent="0" marL="0">
              <a:lnSpc>
                <a:spcPts val="1634"/>
              </a:lnSpc>
              <a:buNone/>
            </a:pPr>
            <a:r>
              <a:rPr lang="en-US" sz="1200" dirty="0">
                <a:solidFill>
                  <a:srgbClr val="934ABD"/>
                </a:solidFill>
                <a:latin typeface="Open Sans" pitchFamily="34" charset="0"/>
                <a:ea typeface="Open Sans" pitchFamily="34" charset="-122"/>
                <a:cs typeface="Open Sans" pitchFamily="34" charset="-120"/>
              </a:rPr>
              <a:t>Ch 4 · 10 %</a:t>
            </a:r>
            <a:endParaRPr lang="en-US" sz="1200" dirty="0"/>
          </a:p>
        </p:txBody>
      </p:sp>
      <p:sp>
        <p:nvSpPr>
          <p:cNvPr id="46" name="Text 44"/>
          <p:cNvSpPr txBox="1"/>
          <p:nvPr/>
        </p:nvSpPr>
        <p:spPr>
          <a:xfrm>
            <a:off x="5366614" y="5485486"/>
            <a:ext cx="1287475" cy="441655"/>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Net and canopy,</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FD vs DR</a:t>
            </a:r>
            <a:endParaRPr lang="en-US" sz="1200" dirty="0"/>
          </a:p>
        </p:txBody>
      </p:sp>
      <p:sp>
        <p:nvSpPr>
          <p:cNvPr id="47" name="Shape 45"/>
          <p:cNvSpPr/>
          <p:nvPr/>
        </p:nvSpPr>
        <p:spPr>
          <a:xfrm>
            <a:off x="6952183" y="5136185"/>
            <a:ext cx="1458468" cy="19202"/>
          </a:xfrm>
          <a:prstGeom prst="rect">
            <a:avLst/>
          </a:prstGeom>
          <a:solidFill>
            <a:srgbClr val="AE4BB2"/>
          </a:solidFill>
          <a:ln/>
        </p:spPr>
      </p:sp>
      <p:sp>
        <p:nvSpPr>
          <p:cNvPr id="48" name="Text 46"/>
          <p:cNvSpPr txBox="1"/>
          <p:nvPr/>
        </p:nvSpPr>
        <p:spPr>
          <a:xfrm>
            <a:off x="6952183" y="5206594"/>
            <a:ext cx="780898" cy="207569"/>
          </a:xfrm>
          <a:prstGeom prst="rect">
            <a:avLst/>
          </a:prstGeom>
          <a:noFill/>
          <a:ln/>
        </p:spPr>
        <p:txBody>
          <a:bodyPr wrap="none" lIns="0" tIns="0" rIns="0" bIns="0" rtlCol="0" anchor="t"/>
          <a:lstStyle/>
          <a:p>
            <a:pPr algn="l" indent="0" marL="0">
              <a:lnSpc>
                <a:spcPts val="1634"/>
              </a:lnSpc>
              <a:buNone/>
            </a:pPr>
            <a:r>
              <a:rPr lang="en-US" sz="1200" dirty="0">
                <a:solidFill>
                  <a:srgbClr val="AE4BB2"/>
                </a:solidFill>
                <a:latin typeface="Open Sans" pitchFamily="34" charset="0"/>
                <a:ea typeface="Open Sans" pitchFamily="34" charset="-122"/>
                <a:cs typeface="Open Sans" pitchFamily="34" charset="-120"/>
              </a:rPr>
              <a:t>Ch 5 · 5 %</a:t>
            </a:r>
            <a:endParaRPr lang="en-US" sz="1200" dirty="0"/>
          </a:p>
        </p:txBody>
      </p:sp>
      <p:sp>
        <p:nvSpPr>
          <p:cNvPr id="49" name="Text 47"/>
          <p:cNvSpPr txBox="1"/>
          <p:nvPr/>
        </p:nvSpPr>
        <p:spPr>
          <a:xfrm>
            <a:off x="6952183" y="5485486"/>
            <a:ext cx="1406347" cy="221285"/>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Vault and pavilion</a:t>
            </a:r>
            <a:endParaRPr lang="en-US" sz="1200" dirty="0"/>
          </a:p>
        </p:txBody>
      </p:sp>
      <p:sp>
        <p:nvSpPr>
          <p:cNvPr id="50" name="Shape 48"/>
          <p:cNvSpPr/>
          <p:nvPr/>
        </p:nvSpPr>
        <p:spPr>
          <a:xfrm>
            <a:off x="8537753" y="5136185"/>
            <a:ext cx="1458468" cy="19202"/>
          </a:xfrm>
          <a:prstGeom prst="rect">
            <a:avLst/>
          </a:prstGeom>
          <a:solidFill>
            <a:srgbClr val="CA49A4"/>
          </a:solidFill>
          <a:ln/>
        </p:spPr>
      </p:sp>
      <p:sp>
        <p:nvSpPr>
          <p:cNvPr id="51" name="Text 49"/>
          <p:cNvSpPr txBox="1"/>
          <p:nvPr/>
        </p:nvSpPr>
        <p:spPr>
          <a:xfrm>
            <a:off x="8537753" y="5206594"/>
            <a:ext cx="780898"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Ch 6 · 5 %</a:t>
            </a:r>
            <a:endParaRPr lang="en-US" sz="1200" dirty="0"/>
          </a:p>
        </p:txBody>
      </p:sp>
      <p:sp>
        <p:nvSpPr>
          <p:cNvPr id="52" name="Text 50"/>
          <p:cNvSpPr txBox="1"/>
          <p:nvPr/>
        </p:nvSpPr>
        <p:spPr>
          <a:xfrm>
            <a:off x="8537753" y="5485486"/>
            <a:ext cx="1436522" cy="662940"/>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Assembly</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drawings, physical</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model</a:t>
            </a:r>
            <a:endParaRPr lang="en-US" sz="1200" dirty="0"/>
          </a:p>
        </p:txBody>
      </p:sp>
      <p:sp>
        <p:nvSpPr>
          <p:cNvPr id="53" name="Shape 51"/>
          <p:cNvSpPr/>
          <p:nvPr/>
        </p:nvSpPr>
        <p:spPr>
          <a:xfrm>
            <a:off x="10123322" y="5136185"/>
            <a:ext cx="1458468" cy="19202"/>
          </a:xfrm>
          <a:prstGeom prst="rect">
            <a:avLst/>
          </a:prstGeom>
          <a:solidFill>
            <a:srgbClr val="DC4B8D"/>
          </a:solidFill>
          <a:ln/>
        </p:spPr>
      </p:sp>
      <p:sp>
        <p:nvSpPr>
          <p:cNvPr id="54" name="Text 52"/>
          <p:cNvSpPr txBox="1"/>
          <p:nvPr/>
        </p:nvSpPr>
        <p:spPr>
          <a:xfrm>
            <a:off x="10123322" y="5206594"/>
            <a:ext cx="875081" cy="207569"/>
          </a:xfrm>
          <a:prstGeom prst="rect">
            <a:avLst/>
          </a:prstGeom>
          <a:noFill/>
          <a:ln/>
        </p:spPr>
        <p:txBody>
          <a:bodyPr wrap="none" lIns="0" tIns="0" rIns="0" bIns="0" rtlCol="0" anchor="t"/>
          <a:lstStyle/>
          <a:p>
            <a:pPr algn="l" indent="0" marL="0">
              <a:lnSpc>
                <a:spcPts val="1634"/>
              </a:lnSpc>
              <a:buNone/>
            </a:pPr>
            <a:r>
              <a:rPr lang="en-US" sz="1200" dirty="0">
                <a:solidFill>
                  <a:srgbClr val="DC4B8D"/>
                </a:solidFill>
                <a:latin typeface="Open Sans" pitchFamily="34" charset="0"/>
                <a:ea typeface="Open Sans" pitchFamily="34" charset="-122"/>
                <a:cs typeface="Open Sans" pitchFamily="34" charset="-120"/>
              </a:rPr>
              <a:t>Ch 7 · 60 %</a:t>
            </a:r>
            <a:endParaRPr lang="en-US" sz="1200" dirty="0"/>
          </a:p>
        </p:txBody>
      </p:sp>
      <p:sp>
        <p:nvSpPr>
          <p:cNvPr id="55" name="Text 53"/>
          <p:cNvSpPr txBox="1"/>
          <p:nvPr/>
        </p:nvSpPr>
        <p:spPr>
          <a:xfrm>
            <a:off x="10123322" y="5485486"/>
            <a:ext cx="1317650" cy="884225"/>
          </a:xfrm>
          <a:prstGeom prst="rect">
            <a:avLst/>
          </a:prstGeom>
          <a:noFill/>
          <a:ln/>
        </p:spPr>
        <p:txBody>
          <a:bodyPr wrap="none" lIns="0" tIns="0" rIns="0" bIns="0" rtlCol="0" anchor="t"/>
          <a:lstStyle/>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Repository,</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booklet, physical</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prototype,</a:t>
            </a:r>
            <a:endParaRPr lang="en-US" sz="1200" dirty="0"/>
          </a:p>
          <a:p>
            <a:pPr algn="l" indent="0" marL="0">
              <a:lnSpc>
                <a:spcPts val="1740"/>
              </a:lnSpc>
              <a:buNone/>
            </a:pPr>
            <a:r>
              <a:rPr lang="en-US" sz="1200" dirty="0">
                <a:solidFill>
                  <a:srgbClr val="141B3D"/>
                </a:solidFill>
                <a:latin typeface="Open Sans" pitchFamily="34" charset="0"/>
                <a:ea typeface="Open Sans" pitchFamily="34" charset="-122"/>
                <a:cs typeface="Open Sans" pitchFamily="34" charset="-120"/>
              </a:rPr>
              <a:t>defence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image.imageformat.1286.dpr2.261514204.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09905" y="558698"/>
            <a:ext cx="1524305" cy="88697"/>
          </a:xfrm>
          <a:prstGeom prst="rect">
            <a:avLst/>
          </a:prstGeom>
          <a:solidFill>
            <a:srgbClr val="3057B1"/>
          </a:solidFill>
          <a:ln/>
        </p:spPr>
      </p:sp>
      <p:sp>
        <p:nvSpPr>
          <p:cNvPr id="4" name="Shape 1"/>
          <p:cNvSpPr/>
          <p:nvPr/>
        </p:nvSpPr>
        <p:spPr>
          <a:xfrm>
            <a:off x="2184502" y="558698"/>
            <a:ext cx="1524305" cy="88697"/>
          </a:xfrm>
          <a:prstGeom prst="rect">
            <a:avLst/>
          </a:prstGeom>
          <a:solidFill>
            <a:srgbClr val="5552BB"/>
          </a:solidFill>
          <a:ln/>
        </p:spPr>
      </p:sp>
      <p:sp>
        <p:nvSpPr>
          <p:cNvPr id="5" name="Shape 2"/>
          <p:cNvSpPr/>
          <p:nvPr/>
        </p:nvSpPr>
        <p:spPr>
          <a:xfrm>
            <a:off x="3759098" y="558698"/>
            <a:ext cx="1524305" cy="88697"/>
          </a:xfrm>
          <a:prstGeom prst="rect">
            <a:avLst/>
          </a:prstGeom>
          <a:solidFill>
            <a:srgbClr val="7750C1"/>
          </a:solidFill>
          <a:ln/>
        </p:spPr>
      </p:sp>
      <p:sp>
        <p:nvSpPr>
          <p:cNvPr id="6" name="Shape 3"/>
          <p:cNvSpPr/>
          <p:nvPr/>
        </p:nvSpPr>
        <p:spPr>
          <a:xfrm>
            <a:off x="5333695" y="558698"/>
            <a:ext cx="1524305" cy="88697"/>
          </a:xfrm>
          <a:prstGeom prst="rect">
            <a:avLst/>
          </a:prstGeom>
          <a:solidFill>
            <a:srgbClr val="934ABD"/>
          </a:solidFill>
          <a:ln/>
        </p:spPr>
      </p:sp>
      <p:sp>
        <p:nvSpPr>
          <p:cNvPr id="7" name="Shape 4"/>
          <p:cNvSpPr/>
          <p:nvPr/>
        </p:nvSpPr>
        <p:spPr>
          <a:xfrm>
            <a:off x="6909206" y="558698"/>
            <a:ext cx="1524305" cy="88697"/>
          </a:xfrm>
          <a:prstGeom prst="rect">
            <a:avLst/>
          </a:prstGeom>
          <a:solidFill>
            <a:srgbClr val="AE4BB2"/>
          </a:solidFill>
          <a:ln/>
        </p:spPr>
      </p:sp>
      <p:sp>
        <p:nvSpPr>
          <p:cNvPr id="8" name="Shape 5"/>
          <p:cNvSpPr/>
          <p:nvPr/>
        </p:nvSpPr>
        <p:spPr>
          <a:xfrm>
            <a:off x="8483803" y="558698"/>
            <a:ext cx="1524305" cy="88697"/>
          </a:xfrm>
          <a:prstGeom prst="rect">
            <a:avLst/>
          </a:prstGeom>
          <a:solidFill>
            <a:srgbClr val="CA49A4"/>
          </a:solidFill>
          <a:ln/>
        </p:spPr>
      </p:sp>
      <p:sp>
        <p:nvSpPr>
          <p:cNvPr id="9" name="Shape 6"/>
          <p:cNvSpPr/>
          <p:nvPr/>
        </p:nvSpPr>
        <p:spPr>
          <a:xfrm>
            <a:off x="10058400" y="558698"/>
            <a:ext cx="1524305" cy="88697"/>
          </a:xfrm>
          <a:prstGeom prst="rect">
            <a:avLst/>
          </a:prstGeom>
          <a:solidFill>
            <a:srgbClr val="DC4B8D"/>
          </a:solidFill>
          <a:ln/>
        </p:spPr>
      </p:sp>
      <p:sp>
        <p:nvSpPr>
          <p:cNvPr id="10" name="Shape 7"/>
          <p:cNvSpPr/>
          <p:nvPr/>
        </p:nvSpPr>
        <p:spPr>
          <a:xfrm>
            <a:off x="609905" y="787298"/>
            <a:ext cx="3972154" cy="310896"/>
          </a:xfrm>
          <a:prstGeom prst="rect">
            <a:avLst/>
          </a:prstGeom>
          <a:solidFill>
            <a:srgbClr val="FFFFFF">
              <a:alpha val="70000"/>
            </a:srgbClr>
          </a:solidFill>
          <a:ln/>
        </p:spPr>
      </p:sp>
      <p:sp>
        <p:nvSpPr>
          <p:cNvPr id="11" name="Text 8"/>
          <p:cNvSpPr txBox="1"/>
          <p:nvPr/>
        </p:nvSpPr>
        <p:spPr>
          <a:xfrm>
            <a:off x="698602" y="839419"/>
            <a:ext cx="4135831"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Chapter 7 · 4 ECTS · 120 h · runs across the full course</a:t>
            </a:r>
            <a:endParaRPr lang="en-US" sz="1200" dirty="0"/>
          </a:p>
        </p:txBody>
      </p:sp>
      <p:sp>
        <p:nvSpPr>
          <p:cNvPr id="12" name="Shape 9"/>
          <p:cNvSpPr/>
          <p:nvPr/>
        </p:nvSpPr>
        <p:spPr>
          <a:xfrm>
            <a:off x="609905" y="1200607"/>
            <a:ext cx="5097780" cy="552298"/>
          </a:xfrm>
          <a:prstGeom prst="rect">
            <a:avLst/>
          </a:prstGeom>
          <a:solidFill>
            <a:srgbClr val="FFFFFF">
              <a:alpha val="70000"/>
            </a:srgbClr>
          </a:solidFill>
          <a:ln/>
        </p:spPr>
      </p:sp>
      <p:sp>
        <p:nvSpPr>
          <p:cNvPr id="13" name="Text 10"/>
          <p:cNvSpPr txBox="1"/>
          <p:nvPr/>
        </p:nvSpPr>
        <p:spPr>
          <a:xfrm>
            <a:off x="724205" y="1272845"/>
            <a:ext cx="5296205" cy="400507"/>
          </a:xfrm>
          <a:prstGeom prst="rect">
            <a:avLst/>
          </a:prstGeom>
          <a:noFill/>
          <a:ln/>
        </p:spPr>
        <p:txBody>
          <a:bodyPr wrap="none" lIns="0" tIns="0" rIns="0" bIns="0" rtlCol="0" anchor="t"/>
          <a:lstStyle/>
          <a:p>
            <a:pPr algn="l" indent="0" marL="0">
              <a:lnSpc>
                <a:spcPts val="3150"/>
              </a:lnSpc>
              <a:buNone/>
            </a:pPr>
            <a:r>
              <a:rPr lang="en-US" sz="2890" b="1" spc="-60" kern="0" dirty="0">
                <a:solidFill>
                  <a:srgbClr val="141B3D"/>
                </a:solidFill>
                <a:latin typeface="Open Sans" pitchFamily="34" charset="0"/>
                <a:ea typeface="Open Sans" pitchFamily="34" charset="-122"/>
                <a:cs typeface="Open Sans" pitchFamily="34" charset="-120"/>
              </a:rPr>
              <a:t>Schedule: Individual Project</a:t>
            </a:r>
            <a:endParaRPr lang="en-US" sz="2890" dirty="0"/>
          </a:p>
        </p:txBody>
      </p:sp>
      <p:sp>
        <p:nvSpPr>
          <p:cNvPr id="14" name="Shape 11"/>
          <p:cNvSpPr/>
          <p:nvPr/>
        </p:nvSpPr>
        <p:spPr>
          <a:xfrm>
            <a:off x="609905" y="1968703"/>
            <a:ext cx="2628900" cy="2126894"/>
          </a:xfrm>
          <a:prstGeom prst="rect">
            <a:avLst/>
          </a:prstGeom>
          <a:solidFill>
            <a:srgbClr val="FFFFFF">
              <a:alpha val="92000"/>
            </a:srgbClr>
          </a:solidFill>
          <a:ln/>
        </p:spPr>
      </p:sp>
      <p:sp>
        <p:nvSpPr>
          <p:cNvPr id="15" name="Shape 12"/>
          <p:cNvSpPr/>
          <p:nvPr/>
        </p:nvSpPr>
        <p:spPr>
          <a:xfrm>
            <a:off x="609905" y="1968703"/>
            <a:ext cx="2628900" cy="437998"/>
          </a:xfrm>
          <a:prstGeom prst="rect">
            <a:avLst/>
          </a:prstGeom>
          <a:solidFill>
            <a:srgbClr val="DC4B8D"/>
          </a:solidFill>
          <a:ln/>
        </p:spPr>
      </p:sp>
      <p:sp>
        <p:nvSpPr>
          <p:cNvPr id="16" name="Text 13"/>
          <p:cNvSpPr txBox="1"/>
          <p:nvPr/>
        </p:nvSpPr>
        <p:spPr>
          <a:xfrm>
            <a:off x="7488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1</a:t>
            </a:r>
            <a:endParaRPr lang="en-US" sz="1500" dirty="0"/>
          </a:p>
        </p:txBody>
      </p:sp>
      <p:sp>
        <p:nvSpPr>
          <p:cNvPr id="17" name="Text 14"/>
          <p:cNvSpPr txBox="1"/>
          <p:nvPr/>
        </p:nvSpPr>
        <p:spPr>
          <a:xfrm>
            <a:off x="7488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18" name="Shape 15"/>
          <p:cNvSpPr/>
          <p:nvPr/>
        </p:nvSpPr>
        <p:spPr>
          <a:xfrm>
            <a:off x="3390595" y="1968703"/>
            <a:ext cx="2628900" cy="2126894"/>
          </a:xfrm>
          <a:prstGeom prst="rect">
            <a:avLst/>
          </a:prstGeom>
          <a:solidFill>
            <a:srgbClr val="FFFFFF">
              <a:alpha val="92000"/>
            </a:srgbClr>
          </a:solidFill>
          <a:ln/>
        </p:spPr>
      </p:sp>
      <p:sp>
        <p:nvSpPr>
          <p:cNvPr id="19" name="Shape 16"/>
          <p:cNvSpPr/>
          <p:nvPr/>
        </p:nvSpPr>
        <p:spPr>
          <a:xfrm>
            <a:off x="3390595" y="1968703"/>
            <a:ext cx="2628900" cy="437998"/>
          </a:xfrm>
          <a:prstGeom prst="rect">
            <a:avLst/>
          </a:prstGeom>
          <a:solidFill>
            <a:srgbClr val="DC4B8D"/>
          </a:solidFill>
          <a:ln/>
        </p:spPr>
      </p:sp>
      <p:sp>
        <p:nvSpPr>
          <p:cNvPr id="20" name="Text 17"/>
          <p:cNvSpPr txBox="1"/>
          <p:nvPr/>
        </p:nvSpPr>
        <p:spPr>
          <a:xfrm>
            <a:off x="3530498"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2</a:t>
            </a:r>
            <a:endParaRPr lang="en-US" sz="1500" dirty="0"/>
          </a:p>
        </p:txBody>
      </p:sp>
      <p:sp>
        <p:nvSpPr>
          <p:cNvPr id="21" name="Text 18"/>
          <p:cNvSpPr txBox="1"/>
          <p:nvPr/>
        </p:nvSpPr>
        <p:spPr>
          <a:xfrm>
            <a:off x="3530498"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2" name="Shape 19"/>
          <p:cNvSpPr/>
          <p:nvPr/>
        </p:nvSpPr>
        <p:spPr>
          <a:xfrm>
            <a:off x="6172200" y="1968703"/>
            <a:ext cx="2628900" cy="2126894"/>
          </a:xfrm>
          <a:prstGeom prst="rect">
            <a:avLst/>
          </a:prstGeom>
          <a:solidFill>
            <a:srgbClr val="FFFFFF">
              <a:alpha val="92000"/>
            </a:srgbClr>
          </a:solidFill>
          <a:ln/>
        </p:spPr>
      </p:sp>
      <p:sp>
        <p:nvSpPr>
          <p:cNvPr id="23" name="Shape 20"/>
          <p:cNvSpPr/>
          <p:nvPr/>
        </p:nvSpPr>
        <p:spPr>
          <a:xfrm>
            <a:off x="6172200" y="1968703"/>
            <a:ext cx="2628900" cy="437998"/>
          </a:xfrm>
          <a:prstGeom prst="rect">
            <a:avLst/>
          </a:prstGeom>
          <a:solidFill>
            <a:srgbClr val="DC4B8D"/>
          </a:solidFill>
          <a:ln/>
        </p:spPr>
      </p:sp>
      <p:sp>
        <p:nvSpPr>
          <p:cNvPr id="24" name="Text 21"/>
          <p:cNvSpPr txBox="1"/>
          <p:nvPr/>
        </p:nvSpPr>
        <p:spPr>
          <a:xfrm>
            <a:off x="6312103"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3</a:t>
            </a:r>
            <a:endParaRPr lang="en-US" sz="1500" dirty="0"/>
          </a:p>
        </p:txBody>
      </p:sp>
      <p:sp>
        <p:nvSpPr>
          <p:cNvPr id="25" name="Text 22"/>
          <p:cNvSpPr txBox="1"/>
          <p:nvPr/>
        </p:nvSpPr>
        <p:spPr>
          <a:xfrm>
            <a:off x="6312103"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26" name="Shape 23"/>
          <p:cNvSpPr/>
          <p:nvPr/>
        </p:nvSpPr>
        <p:spPr>
          <a:xfrm>
            <a:off x="8953805" y="1968703"/>
            <a:ext cx="2628900" cy="2126894"/>
          </a:xfrm>
          <a:prstGeom prst="rect">
            <a:avLst/>
          </a:prstGeom>
          <a:solidFill>
            <a:srgbClr val="FFFFFF">
              <a:alpha val="92000"/>
            </a:srgbClr>
          </a:solidFill>
          <a:ln/>
        </p:spPr>
      </p:sp>
      <p:sp>
        <p:nvSpPr>
          <p:cNvPr id="27" name="Shape 24"/>
          <p:cNvSpPr/>
          <p:nvPr/>
        </p:nvSpPr>
        <p:spPr>
          <a:xfrm>
            <a:off x="8953805" y="1968703"/>
            <a:ext cx="2628900" cy="437998"/>
          </a:xfrm>
          <a:prstGeom prst="rect">
            <a:avLst/>
          </a:prstGeom>
          <a:solidFill>
            <a:srgbClr val="DC4B8D"/>
          </a:solidFill>
          <a:ln/>
        </p:spPr>
      </p:sp>
      <p:sp>
        <p:nvSpPr>
          <p:cNvPr id="28" name="Text 25"/>
          <p:cNvSpPr txBox="1"/>
          <p:nvPr/>
        </p:nvSpPr>
        <p:spPr>
          <a:xfrm>
            <a:off x="9092794" y="2057400"/>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4</a:t>
            </a:r>
            <a:endParaRPr lang="en-US" sz="1500" dirty="0"/>
          </a:p>
        </p:txBody>
      </p:sp>
      <p:sp>
        <p:nvSpPr>
          <p:cNvPr id="29" name="Text 26"/>
          <p:cNvSpPr txBox="1"/>
          <p:nvPr/>
        </p:nvSpPr>
        <p:spPr>
          <a:xfrm>
            <a:off x="9092794" y="2544775"/>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0" name="Shape 27"/>
          <p:cNvSpPr/>
          <p:nvPr/>
        </p:nvSpPr>
        <p:spPr>
          <a:xfrm>
            <a:off x="609905" y="4248302"/>
            <a:ext cx="2628900" cy="2126894"/>
          </a:xfrm>
          <a:prstGeom prst="rect">
            <a:avLst/>
          </a:prstGeom>
          <a:solidFill>
            <a:srgbClr val="FFFFFF">
              <a:alpha val="92000"/>
            </a:srgbClr>
          </a:solidFill>
          <a:ln/>
        </p:spPr>
      </p:sp>
      <p:sp>
        <p:nvSpPr>
          <p:cNvPr id="31" name="Shape 28"/>
          <p:cNvSpPr/>
          <p:nvPr/>
        </p:nvSpPr>
        <p:spPr>
          <a:xfrm>
            <a:off x="609905" y="4248302"/>
            <a:ext cx="2628900" cy="437998"/>
          </a:xfrm>
          <a:prstGeom prst="rect">
            <a:avLst/>
          </a:prstGeom>
          <a:solidFill>
            <a:srgbClr val="DC4B8D"/>
          </a:solidFill>
          <a:ln/>
        </p:spPr>
      </p:sp>
      <p:sp>
        <p:nvSpPr>
          <p:cNvPr id="32" name="Text 29"/>
          <p:cNvSpPr txBox="1"/>
          <p:nvPr/>
        </p:nvSpPr>
        <p:spPr>
          <a:xfrm>
            <a:off x="748894" y="4337914"/>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5</a:t>
            </a:r>
            <a:endParaRPr lang="en-US" sz="1500" dirty="0"/>
          </a:p>
        </p:txBody>
      </p:sp>
      <p:sp>
        <p:nvSpPr>
          <p:cNvPr id="33" name="Text 30"/>
          <p:cNvSpPr txBox="1"/>
          <p:nvPr/>
        </p:nvSpPr>
        <p:spPr>
          <a:xfrm>
            <a:off x="748894" y="4824374"/>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4" name="Shape 31"/>
          <p:cNvSpPr/>
          <p:nvPr/>
        </p:nvSpPr>
        <p:spPr>
          <a:xfrm>
            <a:off x="3390595" y="4248302"/>
            <a:ext cx="2628900" cy="2126894"/>
          </a:xfrm>
          <a:prstGeom prst="rect">
            <a:avLst/>
          </a:prstGeom>
          <a:solidFill>
            <a:srgbClr val="FFFFFF">
              <a:alpha val="92000"/>
            </a:srgbClr>
          </a:solidFill>
          <a:ln/>
        </p:spPr>
      </p:sp>
      <p:sp>
        <p:nvSpPr>
          <p:cNvPr id="35" name="Shape 32"/>
          <p:cNvSpPr/>
          <p:nvPr/>
        </p:nvSpPr>
        <p:spPr>
          <a:xfrm>
            <a:off x="3390595" y="4248302"/>
            <a:ext cx="2628900" cy="437998"/>
          </a:xfrm>
          <a:prstGeom prst="rect">
            <a:avLst/>
          </a:prstGeom>
          <a:solidFill>
            <a:srgbClr val="DC4B8D"/>
          </a:solidFill>
          <a:ln/>
        </p:spPr>
      </p:sp>
      <p:sp>
        <p:nvSpPr>
          <p:cNvPr id="36" name="Text 33"/>
          <p:cNvSpPr txBox="1"/>
          <p:nvPr/>
        </p:nvSpPr>
        <p:spPr>
          <a:xfrm>
            <a:off x="3530498" y="4337914"/>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6</a:t>
            </a:r>
            <a:endParaRPr lang="en-US" sz="1500" dirty="0"/>
          </a:p>
        </p:txBody>
      </p:sp>
      <p:sp>
        <p:nvSpPr>
          <p:cNvPr id="37" name="Text 34"/>
          <p:cNvSpPr txBox="1"/>
          <p:nvPr/>
        </p:nvSpPr>
        <p:spPr>
          <a:xfrm>
            <a:off x="3530498" y="4824374"/>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38" name="Shape 35"/>
          <p:cNvSpPr/>
          <p:nvPr/>
        </p:nvSpPr>
        <p:spPr>
          <a:xfrm>
            <a:off x="6172200" y="4248302"/>
            <a:ext cx="2628900" cy="2126894"/>
          </a:xfrm>
          <a:prstGeom prst="rect">
            <a:avLst/>
          </a:prstGeom>
          <a:solidFill>
            <a:srgbClr val="FFFFFF">
              <a:alpha val="92000"/>
            </a:srgbClr>
          </a:solidFill>
          <a:ln/>
        </p:spPr>
      </p:sp>
      <p:sp>
        <p:nvSpPr>
          <p:cNvPr id="39" name="Shape 36"/>
          <p:cNvSpPr/>
          <p:nvPr/>
        </p:nvSpPr>
        <p:spPr>
          <a:xfrm>
            <a:off x="6172200" y="4248302"/>
            <a:ext cx="2628900" cy="437998"/>
          </a:xfrm>
          <a:prstGeom prst="rect">
            <a:avLst/>
          </a:prstGeom>
          <a:solidFill>
            <a:srgbClr val="DC4B8D"/>
          </a:solidFill>
          <a:ln/>
        </p:spPr>
      </p:sp>
      <p:sp>
        <p:nvSpPr>
          <p:cNvPr id="40" name="Text 37"/>
          <p:cNvSpPr txBox="1"/>
          <p:nvPr/>
        </p:nvSpPr>
        <p:spPr>
          <a:xfrm>
            <a:off x="6312103" y="4337914"/>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7</a:t>
            </a:r>
            <a:endParaRPr lang="en-US" sz="1500" dirty="0"/>
          </a:p>
        </p:txBody>
      </p:sp>
      <p:sp>
        <p:nvSpPr>
          <p:cNvPr id="41" name="Text 38"/>
          <p:cNvSpPr txBox="1"/>
          <p:nvPr/>
        </p:nvSpPr>
        <p:spPr>
          <a:xfrm>
            <a:off x="6312103" y="4824374"/>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
        <p:nvSpPr>
          <p:cNvPr id="42" name="Shape 39"/>
          <p:cNvSpPr/>
          <p:nvPr/>
        </p:nvSpPr>
        <p:spPr>
          <a:xfrm>
            <a:off x="8953805" y="4248302"/>
            <a:ext cx="2628900" cy="2126894"/>
          </a:xfrm>
          <a:prstGeom prst="rect">
            <a:avLst/>
          </a:prstGeom>
          <a:solidFill>
            <a:srgbClr val="FFFFFF">
              <a:alpha val="92000"/>
            </a:srgbClr>
          </a:solidFill>
          <a:ln/>
        </p:spPr>
      </p:sp>
      <p:sp>
        <p:nvSpPr>
          <p:cNvPr id="43" name="Shape 40"/>
          <p:cNvSpPr/>
          <p:nvPr/>
        </p:nvSpPr>
        <p:spPr>
          <a:xfrm>
            <a:off x="8953805" y="4248302"/>
            <a:ext cx="2628900" cy="437998"/>
          </a:xfrm>
          <a:prstGeom prst="rect">
            <a:avLst/>
          </a:prstGeom>
          <a:solidFill>
            <a:srgbClr val="DC4B8D"/>
          </a:solidFill>
          <a:ln/>
        </p:spPr>
      </p:sp>
      <p:sp>
        <p:nvSpPr>
          <p:cNvPr id="44" name="Text 41"/>
          <p:cNvSpPr txBox="1"/>
          <p:nvPr/>
        </p:nvSpPr>
        <p:spPr>
          <a:xfrm>
            <a:off x="9092794" y="4337914"/>
            <a:ext cx="576072" cy="259690"/>
          </a:xfrm>
          <a:prstGeom prst="rect">
            <a:avLst/>
          </a:prstGeom>
          <a:noFill/>
          <a:ln/>
        </p:spPr>
        <p:txBody>
          <a:bodyPr wrap="none" lIns="0" tIns="0" rIns="0" bIns="0" rtlCol="0" anchor="t"/>
          <a:lstStyle/>
          <a:p>
            <a:pPr algn="l" indent="0" marL="0">
              <a:lnSpc>
                <a:spcPts val="2043"/>
              </a:lnSpc>
              <a:buNone/>
            </a:pPr>
            <a:r>
              <a:rPr lang="en-US" sz="1500" dirty="0">
                <a:solidFill>
                  <a:srgbClr val="FFFFFF"/>
                </a:solidFill>
                <a:latin typeface="Open Sans" pitchFamily="34" charset="0"/>
                <a:ea typeface="Open Sans" pitchFamily="34" charset="-122"/>
                <a:cs typeface="Open Sans" pitchFamily="34" charset="-120"/>
              </a:rPr>
              <a:t>Day 8</a:t>
            </a:r>
            <a:endParaRPr lang="en-US" sz="1500" dirty="0"/>
          </a:p>
        </p:txBody>
      </p:sp>
      <p:sp>
        <p:nvSpPr>
          <p:cNvPr id="45" name="Text 42"/>
          <p:cNvSpPr txBox="1"/>
          <p:nvPr/>
        </p:nvSpPr>
        <p:spPr>
          <a:xfrm>
            <a:off x="9092794" y="4824374"/>
            <a:ext cx="908914" cy="213055"/>
          </a:xfrm>
          <a:prstGeom prst="rect">
            <a:avLst/>
          </a:prstGeom>
          <a:noFill/>
          <a:ln/>
        </p:spPr>
        <p:txBody>
          <a:bodyPr wrap="none" lIns="0" tIns="0" rIns="0" bIns="0" rtlCol="0" anchor="t"/>
          <a:lstStyle/>
          <a:p>
            <a:pPr algn="l" indent="0" marL="0">
              <a:lnSpc>
                <a:spcPts val="1680"/>
              </a:lnSpc>
              <a:buNone/>
            </a:pPr>
            <a:r>
              <a:rPr lang="en-US" sz="1200" dirty="0">
                <a:solidFill>
                  <a:srgbClr val="141B3D"/>
                </a:solidFill>
                <a:latin typeface="Open Sans" pitchFamily="34" charset="0"/>
                <a:ea typeface="Open Sans" pitchFamily="34" charset="-122"/>
                <a:cs typeface="Open Sans" pitchFamily="34" charset="-120"/>
              </a:rPr>
              <a:t>add activity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1F5"/>
        </a:solidFill>
      </p:bgPr>
    </p:bg>
    <p:spTree>
      <p:nvGrpSpPr>
        <p:cNvPr id="1" name=""/>
        <p:cNvGrpSpPr/>
        <p:nvPr/>
      </p:nvGrpSpPr>
      <p:grpSpPr>
        <a:xfrm>
          <a:off x="0" y="0"/>
          <a:ext cx="0" cy="0"/>
          <a:chOff x="0" y="0"/>
          <a:chExt cx="0" cy="0"/>
        </a:xfrm>
      </p:grpSpPr>
      <p:sp>
        <p:nvSpPr>
          <p:cNvPr id="2" name="Text 0"/>
          <p:cNvSpPr txBox="1"/>
          <p:nvPr/>
        </p:nvSpPr>
        <p:spPr>
          <a:xfrm>
            <a:off x="609905" y="657454"/>
            <a:ext cx="4158691" cy="400507"/>
          </a:xfrm>
          <a:prstGeom prst="rect">
            <a:avLst/>
          </a:prstGeom>
          <a:noFill/>
          <a:ln/>
        </p:spPr>
        <p:txBody>
          <a:bodyPr wrap="none" lIns="0" tIns="0" rIns="0" bIns="0" rtlCol="0" anchor="t"/>
          <a:lstStyle/>
          <a:p>
            <a:pPr algn="l" indent="0" marL="0">
              <a:lnSpc>
                <a:spcPts val="3150"/>
              </a:lnSpc>
              <a:buNone/>
            </a:pPr>
            <a:r>
              <a:rPr lang="en-US" sz="2894" b="1" spc="-60" kern="0" dirty="0">
                <a:solidFill>
                  <a:srgbClr val="141B3D"/>
                </a:solidFill>
                <a:latin typeface="Open Sans" pitchFamily="34" charset="0"/>
                <a:ea typeface="Open Sans" pitchFamily="34" charset="-122"/>
                <a:cs typeface="Open Sans" pitchFamily="34" charset="-120"/>
              </a:rPr>
              <a:t>Graphic Static Solvers</a:t>
            </a:r>
            <a:endParaRPr lang="en-US" sz="2894" dirty="0"/>
          </a:p>
        </p:txBody>
      </p:sp>
      <p:sp>
        <p:nvSpPr>
          <p:cNvPr id="3" name="Shape 1"/>
          <p:cNvSpPr/>
          <p:nvPr/>
        </p:nvSpPr>
        <p:spPr>
          <a:xfrm>
            <a:off x="609905" y="1212494"/>
            <a:ext cx="10972800" cy="12802"/>
          </a:xfrm>
          <a:prstGeom prst="rect">
            <a:avLst/>
          </a:prstGeom>
          <a:solidFill>
            <a:srgbClr val="141B3D"/>
          </a:solidFill>
          <a:ln/>
        </p:spPr>
      </p:sp>
      <p:sp>
        <p:nvSpPr>
          <p:cNvPr id="4" name="Shape 2"/>
          <p:cNvSpPr/>
          <p:nvPr/>
        </p:nvSpPr>
        <p:spPr>
          <a:xfrm>
            <a:off x="2324405" y="1276502"/>
            <a:ext cx="1800454" cy="1197864"/>
          </a:xfrm>
          <a:prstGeom prst="rect">
            <a:avLst/>
          </a:prstGeom>
          <a:solidFill>
            <a:srgbClr val="E9EEF8"/>
          </a:solidFill>
          <a:ln/>
        </p:spPr>
      </p:sp>
      <p:sp>
        <p:nvSpPr>
          <p:cNvPr id="5" name="Text 3"/>
          <p:cNvSpPr txBox="1"/>
          <p:nvPr/>
        </p:nvSpPr>
        <p:spPr>
          <a:xfrm>
            <a:off x="2451506" y="1391717"/>
            <a:ext cx="379476" cy="207569"/>
          </a:xfrm>
          <a:prstGeom prst="rect">
            <a:avLst/>
          </a:prstGeom>
          <a:noFill/>
          <a:ln/>
        </p:spPr>
        <p:txBody>
          <a:bodyPr wrap="none" lIns="0" tIns="0" rIns="0" bIns="0" rtlCol="0" anchor="t"/>
          <a:lstStyle/>
          <a:p>
            <a:pPr algn="l"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 1</a:t>
            </a:r>
            <a:endParaRPr lang="en-US" sz="1200" dirty="0"/>
          </a:p>
        </p:txBody>
      </p:sp>
      <p:sp>
        <p:nvSpPr>
          <p:cNvPr id="6" name="Text 4"/>
          <p:cNvSpPr txBox="1"/>
          <p:nvPr/>
        </p:nvSpPr>
        <p:spPr>
          <a:xfrm>
            <a:off x="2451506" y="1658722"/>
            <a:ext cx="791870" cy="213055"/>
          </a:xfrm>
          <a:prstGeom prst="rect">
            <a:avLst/>
          </a:prstGeom>
          <a:noFill/>
          <a:ln/>
        </p:spPr>
        <p:txBody>
          <a:bodyPr wrap="none" lIns="0" tIns="0" rIns="0" bIns="0" rtlCol="0" anchor="t"/>
          <a:lstStyle/>
          <a:p>
            <a:pPr algn="l" indent="0" marL="0">
              <a:lnSpc>
                <a:spcPts val="1680"/>
              </a:lnSpc>
              <a:buNone/>
            </a:pPr>
            <a:r>
              <a:rPr lang="en-US" sz="1357" b="1" dirty="0">
                <a:solidFill>
                  <a:srgbClr val="141B3D"/>
                </a:solidFill>
                <a:latin typeface="Open Sans" pitchFamily="34" charset="0"/>
                <a:ea typeface="Open Sans" pitchFamily="34" charset="-122"/>
                <a:cs typeface="Open Sans" pitchFamily="34" charset="-120"/>
              </a:rPr>
              <a:t>By hand</a:t>
            </a:r>
            <a:endParaRPr lang="en-US" sz="1357" dirty="0"/>
          </a:p>
        </p:txBody>
      </p:sp>
      <p:sp>
        <p:nvSpPr>
          <p:cNvPr id="7" name="Text 5"/>
          <p:cNvSpPr txBox="1"/>
          <p:nvPr/>
        </p:nvSpPr>
        <p:spPr>
          <a:xfrm>
            <a:off x="2451506" y="1941271"/>
            <a:ext cx="1499616"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Ruler and compass</a:t>
            </a:r>
            <a:endParaRPr lang="en-US" sz="1200" dirty="0"/>
          </a:p>
        </p:txBody>
      </p:sp>
      <p:sp>
        <p:nvSpPr>
          <p:cNvPr id="8" name="Shape 6"/>
          <p:cNvSpPr/>
          <p:nvPr/>
        </p:nvSpPr>
        <p:spPr>
          <a:xfrm>
            <a:off x="4176065" y="1276502"/>
            <a:ext cx="1800454" cy="1197864"/>
          </a:xfrm>
          <a:prstGeom prst="rect">
            <a:avLst/>
          </a:prstGeom>
          <a:solidFill>
            <a:srgbClr val="D3DDF1"/>
          </a:solidFill>
          <a:ln/>
        </p:spPr>
      </p:sp>
      <p:sp>
        <p:nvSpPr>
          <p:cNvPr id="9" name="Text 7"/>
          <p:cNvSpPr txBox="1"/>
          <p:nvPr/>
        </p:nvSpPr>
        <p:spPr>
          <a:xfrm>
            <a:off x="4303166" y="1391717"/>
            <a:ext cx="379476" cy="207569"/>
          </a:xfrm>
          <a:prstGeom prst="rect">
            <a:avLst/>
          </a:prstGeom>
          <a:noFill/>
          <a:ln/>
        </p:spPr>
        <p:txBody>
          <a:bodyPr wrap="none" lIns="0" tIns="0" rIns="0" bIns="0" rtlCol="0" anchor="t"/>
          <a:lstStyle/>
          <a:p>
            <a:pPr algn="l" indent="0" marL="0">
              <a:lnSpc>
                <a:spcPts val="1634"/>
              </a:lnSpc>
              <a:buNone/>
            </a:pPr>
            <a:r>
              <a:rPr lang="en-US" sz="1200" dirty="0">
                <a:solidFill>
                  <a:srgbClr val="3057B1"/>
                </a:solidFill>
                <a:latin typeface="Open Sans" pitchFamily="34" charset="0"/>
                <a:ea typeface="Open Sans" pitchFamily="34" charset="-122"/>
                <a:cs typeface="Open Sans" pitchFamily="34" charset="-120"/>
              </a:rPr>
              <a:t>Ch 1</a:t>
            </a:r>
            <a:endParaRPr lang="en-US" sz="1200" dirty="0"/>
          </a:p>
        </p:txBody>
      </p:sp>
      <p:sp>
        <p:nvSpPr>
          <p:cNvPr id="10" name="Text 8"/>
          <p:cNvSpPr txBox="1"/>
          <p:nvPr/>
        </p:nvSpPr>
        <p:spPr>
          <a:xfrm>
            <a:off x="4303166" y="1658722"/>
            <a:ext cx="1292962" cy="213055"/>
          </a:xfrm>
          <a:prstGeom prst="rect">
            <a:avLst/>
          </a:prstGeom>
          <a:noFill/>
          <a:ln/>
        </p:spPr>
        <p:txBody>
          <a:bodyPr wrap="none" lIns="0" tIns="0" rIns="0" bIns="0" rtlCol="0" anchor="t"/>
          <a:lstStyle/>
          <a:p>
            <a:pPr algn="l" indent="0" marL="0">
              <a:lnSpc>
                <a:spcPts val="1680"/>
              </a:lnSpc>
              <a:buNone/>
            </a:pPr>
            <a:r>
              <a:rPr lang="en-US" sz="1358" b="1" dirty="0">
                <a:solidFill>
                  <a:srgbClr val="141B3D"/>
                </a:solidFill>
                <a:latin typeface="Open Sans" pitchFamily="34" charset="0"/>
                <a:ea typeface="Open Sans" pitchFamily="34" charset="-122"/>
                <a:cs typeface="Open Sans" pitchFamily="34" charset="-120"/>
              </a:rPr>
              <a:t>Precomputed</a:t>
            </a:r>
            <a:endParaRPr lang="en-US" sz="1358" dirty="0"/>
          </a:p>
        </p:txBody>
      </p:sp>
      <p:sp>
        <p:nvSpPr>
          <p:cNvPr id="11" name="Text 9"/>
          <p:cNvSpPr txBox="1"/>
          <p:nvPr/>
        </p:nvSpPr>
        <p:spPr>
          <a:xfrm>
            <a:off x="4303166" y="1941271"/>
            <a:ext cx="1078078"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eQUILIBRIUM</a:t>
            </a:r>
            <a:endParaRPr lang="en-US" sz="1200" dirty="0"/>
          </a:p>
        </p:txBody>
      </p:sp>
      <p:sp>
        <p:nvSpPr>
          <p:cNvPr id="12" name="Shape 10"/>
          <p:cNvSpPr/>
          <p:nvPr/>
        </p:nvSpPr>
        <p:spPr>
          <a:xfrm>
            <a:off x="6027725" y="1276502"/>
            <a:ext cx="1801368" cy="1197864"/>
          </a:xfrm>
          <a:prstGeom prst="rect">
            <a:avLst/>
          </a:prstGeom>
          <a:solidFill>
            <a:srgbClr val="DFD8F4"/>
          </a:solidFill>
          <a:ln/>
        </p:spPr>
      </p:sp>
      <p:sp>
        <p:nvSpPr>
          <p:cNvPr id="13" name="Text 11"/>
          <p:cNvSpPr txBox="1"/>
          <p:nvPr/>
        </p:nvSpPr>
        <p:spPr>
          <a:xfrm>
            <a:off x="6153912" y="1391717"/>
            <a:ext cx="379476" cy="207569"/>
          </a:xfrm>
          <a:prstGeom prst="rect">
            <a:avLst/>
          </a:prstGeom>
          <a:noFill/>
          <a:ln/>
        </p:spPr>
        <p:txBody>
          <a:bodyPr wrap="none" lIns="0" tIns="0" rIns="0" bIns="0" rtlCol="0" anchor="t"/>
          <a:lstStyle/>
          <a:p>
            <a:pPr algn="l" indent="0" marL="0">
              <a:lnSpc>
                <a:spcPts val="1634"/>
              </a:lnSpc>
              <a:buNone/>
            </a:pPr>
            <a:r>
              <a:rPr lang="en-US" sz="1200" dirty="0">
                <a:solidFill>
                  <a:srgbClr val="7750C1"/>
                </a:solidFill>
                <a:latin typeface="Open Sans" pitchFamily="34" charset="0"/>
                <a:ea typeface="Open Sans" pitchFamily="34" charset="-122"/>
                <a:cs typeface="Open Sans" pitchFamily="34" charset="-120"/>
              </a:rPr>
              <a:t>Ch 3</a:t>
            </a:r>
            <a:endParaRPr lang="en-US" sz="1200" dirty="0"/>
          </a:p>
        </p:txBody>
      </p:sp>
      <p:sp>
        <p:nvSpPr>
          <p:cNvPr id="14" name="Text 12"/>
          <p:cNvSpPr txBox="1"/>
          <p:nvPr/>
        </p:nvSpPr>
        <p:spPr>
          <a:xfrm>
            <a:off x="6153912" y="1658722"/>
            <a:ext cx="898855" cy="213055"/>
          </a:xfrm>
          <a:prstGeom prst="rect">
            <a:avLst/>
          </a:prstGeom>
          <a:noFill/>
          <a:ln/>
        </p:spPr>
        <p:txBody>
          <a:bodyPr wrap="none" lIns="0" tIns="0" rIns="0" bIns="0" rtlCol="0" anchor="t"/>
          <a:lstStyle/>
          <a:p>
            <a:pPr algn="l" indent="0" marL="0">
              <a:lnSpc>
                <a:spcPts val="1680"/>
              </a:lnSpc>
              <a:buNone/>
            </a:pPr>
            <a:r>
              <a:rPr lang="en-US" sz="1346" b="1" dirty="0">
                <a:solidFill>
                  <a:srgbClr val="141B3D"/>
                </a:solidFill>
                <a:latin typeface="Open Sans" pitchFamily="34" charset="0"/>
                <a:ea typeface="Open Sans" pitchFamily="34" charset="-122"/>
                <a:cs typeface="Open Sans" pitchFamily="34" charset="-120"/>
              </a:rPr>
              <a:t>Algebraic</a:t>
            </a:r>
            <a:endParaRPr lang="en-US" sz="1346" dirty="0"/>
          </a:p>
        </p:txBody>
      </p:sp>
      <p:sp>
        <p:nvSpPr>
          <p:cNvPr id="15" name="Text 13"/>
          <p:cNvSpPr txBox="1"/>
          <p:nvPr/>
        </p:nvSpPr>
        <p:spPr>
          <a:xfrm>
            <a:off x="6153912" y="1941271"/>
            <a:ext cx="1355141"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compas_ags · IGS</a:t>
            </a:r>
            <a:endParaRPr lang="en-US" sz="1200" dirty="0"/>
          </a:p>
        </p:txBody>
      </p:sp>
      <p:sp>
        <p:nvSpPr>
          <p:cNvPr id="16" name="Shape 14"/>
          <p:cNvSpPr/>
          <p:nvPr/>
        </p:nvSpPr>
        <p:spPr>
          <a:xfrm>
            <a:off x="7879385" y="1276502"/>
            <a:ext cx="1800454" cy="1197864"/>
          </a:xfrm>
          <a:prstGeom prst="rect">
            <a:avLst/>
          </a:prstGeom>
          <a:solidFill>
            <a:srgbClr val="E0CDEF"/>
          </a:solidFill>
          <a:ln/>
        </p:spPr>
      </p:sp>
      <p:sp>
        <p:nvSpPr>
          <p:cNvPr id="17" name="Text 15"/>
          <p:cNvSpPr txBox="1"/>
          <p:nvPr/>
        </p:nvSpPr>
        <p:spPr>
          <a:xfrm>
            <a:off x="8006486" y="1391717"/>
            <a:ext cx="379476" cy="207569"/>
          </a:xfrm>
          <a:prstGeom prst="rect">
            <a:avLst/>
          </a:prstGeom>
          <a:noFill/>
          <a:ln/>
        </p:spPr>
        <p:txBody>
          <a:bodyPr wrap="none" lIns="0" tIns="0" rIns="0" bIns="0" rtlCol="0" anchor="t"/>
          <a:lstStyle/>
          <a:p>
            <a:pPr algn="l" indent="0" marL="0">
              <a:lnSpc>
                <a:spcPts val="1634"/>
              </a:lnSpc>
              <a:buNone/>
            </a:pPr>
            <a:r>
              <a:rPr lang="en-US" sz="1200" dirty="0">
                <a:solidFill>
                  <a:srgbClr val="934ABD"/>
                </a:solidFill>
                <a:latin typeface="Open Sans" pitchFamily="34" charset="0"/>
                <a:ea typeface="Open Sans" pitchFamily="34" charset="-122"/>
                <a:cs typeface="Open Sans" pitchFamily="34" charset="-120"/>
              </a:rPr>
              <a:t>Ch 4</a:t>
            </a:r>
            <a:endParaRPr lang="en-US" sz="1200" dirty="0"/>
          </a:p>
        </p:txBody>
      </p:sp>
      <p:sp>
        <p:nvSpPr>
          <p:cNvPr id="18" name="Text 16"/>
          <p:cNvSpPr txBox="1"/>
          <p:nvPr/>
        </p:nvSpPr>
        <p:spPr>
          <a:xfrm>
            <a:off x="8006486" y="1658722"/>
            <a:ext cx="820217" cy="213055"/>
          </a:xfrm>
          <a:prstGeom prst="rect">
            <a:avLst/>
          </a:prstGeom>
          <a:noFill/>
          <a:ln/>
        </p:spPr>
        <p:txBody>
          <a:bodyPr wrap="none" lIns="0" tIns="0" rIns="0" bIns="0" rtlCol="0" anchor="t"/>
          <a:lstStyle/>
          <a:p>
            <a:pPr algn="l" indent="0" marL="0">
              <a:lnSpc>
                <a:spcPts val="1680"/>
              </a:lnSpc>
              <a:buNone/>
            </a:pPr>
            <a:r>
              <a:rPr lang="en-US" sz="1322" b="1" dirty="0">
                <a:solidFill>
                  <a:srgbClr val="141B3D"/>
                </a:solidFill>
                <a:latin typeface="Open Sans" pitchFamily="34" charset="0"/>
                <a:ea typeface="Open Sans" pitchFamily="34" charset="-122"/>
                <a:cs typeface="Open Sans" pitchFamily="34" charset="-120"/>
              </a:rPr>
              <a:t>Iterative</a:t>
            </a:r>
            <a:endParaRPr lang="en-US" sz="1322" dirty="0"/>
          </a:p>
        </p:txBody>
      </p:sp>
      <p:sp>
        <p:nvSpPr>
          <p:cNvPr id="19" name="Text 17"/>
          <p:cNvSpPr txBox="1"/>
          <p:nvPr/>
        </p:nvSpPr>
        <p:spPr>
          <a:xfrm>
            <a:off x="8006486" y="1941271"/>
            <a:ext cx="952805" cy="415138"/>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compas_fd ·</a:t>
            </a:r>
            <a:endParaRPr lang="en-US" sz="1200" dirty="0"/>
          </a:p>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compas_dr</a:t>
            </a:r>
            <a:endParaRPr lang="en-US" sz="1200" dirty="0"/>
          </a:p>
        </p:txBody>
      </p:sp>
      <p:sp>
        <p:nvSpPr>
          <p:cNvPr id="20" name="Shape 18"/>
          <p:cNvSpPr/>
          <p:nvPr/>
        </p:nvSpPr>
        <p:spPr>
          <a:xfrm>
            <a:off x="9731045" y="1276502"/>
            <a:ext cx="1851660" cy="1197864"/>
          </a:xfrm>
          <a:prstGeom prst="rect">
            <a:avLst/>
          </a:prstGeom>
          <a:solidFill>
            <a:srgbClr val="E6C3E6"/>
          </a:solidFill>
          <a:ln/>
        </p:spPr>
      </p:sp>
      <p:sp>
        <p:nvSpPr>
          <p:cNvPr id="21" name="Text 19"/>
          <p:cNvSpPr txBox="1"/>
          <p:nvPr/>
        </p:nvSpPr>
        <p:spPr>
          <a:xfrm>
            <a:off x="9857232" y="1391717"/>
            <a:ext cx="379476" cy="207569"/>
          </a:xfrm>
          <a:prstGeom prst="rect">
            <a:avLst/>
          </a:prstGeom>
          <a:noFill/>
          <a:ln/>
        </p:spPr>
        <p:txBody>
          <a:bodyPr wrap="none" lIns="0" tIns="0" rIns="0" bIns="0" rtlCol="0" anchor="t"/>
          <a:lstStyle/>
          <a:p>
            <a:pPr algn="l" indent="0" marL="0">
              <a:lnSpc>
                <a:spcPts val="1634"/>
              </a:lnSpc>
              <a:buNone/>
            </a:pPr>
            <a:r>
              <a:rPr lang="en-US" sz="1200" dirty="0">
                <a:solidFill>
                  <a:srgbClr val="AE4BB2"/>
                </a:solidFill>
                <a:latin typeface="Open Sans" pitchFamily="34" charset="0"/>
                <a:ea typeface="Open Sans" pitchFamily="34" charset="-122"/>
                <a:cs typeface="Open Sans" pitchFamily="34" charset="-120"/>
              </a:rPr>
              <a:t>Ch 5</a:t>
            </a:r>
            <a:endParaRPr lang="en-US" sz="1200" dirty="0"/>
          </a:p>
        </p:txBody>
      </p:sp>
      <p:sp>
        <p:nvSpPr>
          <p:cNvPr id="22" name="Text 20"/>
          <p:cNvSpPr txBox="1"/>
          <p:nvPr/>
        </p:nvSpPr>
        <p:spPr>
          <a:xfrm>
            <a:off x="9857232" y="1658722"/>
            <a:ext cx="1520647" cy="213055"/>
          </a:xfrm>
          <a:prstGeom prst="rect">
            <a:avLst/>
          </a:prstGeom>
          <a:noFill/>
          <a:ln/>
        </p:spPr>
        <p:txBody>
          <a:bodyPr wrap="none" lIns="0" tIns="0" rIns="0" bIns="0" rtlCol="0" anchor="t"/>
          <a:lstStyle/>
          <a:p>
            <a:pPr algn="l" indent="0" marL="0">
              <a:lnSpc>
                <a:spcPts val="1680"/>
              </a:lnSpc>
              <a:buNone/>
            </a:pPr>
            <a:r>
              <a:rPr lang="en-US" sz="1361" b="1" dirty="0">
                <a:solidFill>
                  <a:srgbClr val="141B3D"/>
                </a:solidFill>
                <a:latin typeface="Open Sans" pitchFamily="34" charset="0"/>
                <a:ea typeface="Open Sans" pitchFamily="34" charset="-122"/>
                <a:cs typeface="Open Sans" pitchFamily="34" charset="-120"/>
              </a:rPr>
              <a:t>Constrained, 3D</a:t>
            </a:r>
            <a:endParaRPr lang="en-US" sz="1361" dirty="0"/>
          </a:p>
        </p:txBody>
      </p:sp>
      <p:sp>
        <p:nvSpPr>
          <p:cNvPr id="23" name="Text 21"/>
          <p:cNvSpPr txBox="1"/>
          <p:nvPr/>
        </p:nvSpPr>
        <p:spPr>
          <a:xfrm>
            <a:off x="9857232" y="1941271"/>
            <a:ext cx="1047902" cy="415138"/>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compas_tna ·</a:t>
            </a:r>
            <a:endParaRPr lang="en-US" sz="1200" dirty="0"/>
          </a:p>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RhinoVAULT</a:t>
            </a:r>
            <a:endParaRPr lang="en-US" sz="1200" dirty="0"/>
          </a:p>
        </p:txBody>
      </p:sp>
      <p:sp>
        <p:nvSpPr>
          <p:cNvPr id="24" name="Shape 22"/>
          <p:cNvSpPr/>
          <p:nvPr/>
        </p:nvSpPr>
        <p:spPr>
          <a:xfrm>
            <a:off x="609905" y="2575865"/>
            <a:ext cx="1714500" cy="6401"/>
          </a:xfrm>
          <a:prstGeom prst="rect">
            <a:avLst/>
          </a:prstGeom>
          <a:solidFill>
            <a:srgbClr val="DCD9E4"/>
          </a:solidFill>
          <a:ln/>
        </p:spPr>
      </p:sp>
      <p:sp>
        <p:nvSpPr>
          <p:cNvPr id="25" name="Text 23"/>
          <p:cNvSpPr txBox="1"/>
          <p:nvPr/>
        </p:nvSpPr>
        <p:spPr>
          <a:xfrm>
            <a:off x="609905" y="2734970"/>
            <a:ext cx="1144829" cy="207569"/>
          </a:xfrm>
          <a:prstGeom prst="rect">
            <a:avLst/>
          </a:prstGeom>
          <a:noFill/>
          <a:ln/>
        </p:spPr>
        <p:txBody>
          <a:bodyPr wrap="none" lIns="0" tIns="0" rIns="0" bIns="0" rtlCol="0" anchor="t"/>
          <a:lstStyle/>
          <a:p>
            <a:pPr algn="l" indent="0" marL="0">
              <a:lnSpc>
                <a:spcPts val="1634"/>
              </a:lnSpc>
              <a:buNone/>
            </a:pPr>
            <a:r>
              <a:rPr lang="en-US" sz="1200" dirty="0">
                <a:solidFill>
                  <a:srgbClr val="6F7290"/>
                </a:solidFill>
                <a:latin typeface="Open Sans" pitchFamily="34" charset="0"/>
                <a:ea typeface="Open Sans" pitchFamily="34" charset="-122"/>
                <a:cs typeface="Open Sans" pitchFamily="34" charset="-120"/>
              </a:rPr>
              <a:t>Equilibrium by</a:t>
            </a:r>
            <a:endParaRPr lang="en-US" sz="1200" dirty="0"/>
          </a:p>
        </p:txBody>
      </p:sp>
      <p:sp>
        <p:nvSpPr>
          <p:cNvPr id="26" name="Shape 24"/>
          <p:cNvSpPr/>
          <p:nvPr/>
        </p:nvSpPr>
        <p:spPr>
          <a:xfrm>
            <a:off x="2324405" y="2575865"/>
            <a:ext cx="1851660" cy="6401"/>
          </a:xfrm>
          <a:prstGeom prst="rect">
            <a:avLst/>
          </a:prstGeom>
          <a:solidFill>
            <a:srgbClr val="DCD9E4"/>
          </a:solidFill>
          <a:ln/>
        </p:spPr>
      </p:sp>
      <p:sp>
        <p:nvSpPr>
          <p:cNvPr id="27" name="Text 25"/>
          <p:cNvSpPr txBox="1"/>
          <p:nvPr/>
        </p:nvSpPr>
        <p:spPr>
          <a:xfrm>
            <a:off x="2324405" y="2720340"/>
            <a:ext cx="1537106"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Closing the force</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polygon</a:t>
            </a:r>
            <a:endParaRPr lang="en-US" sz="1400" dirty="0"/>
          </a:p>
        </p:txBody>
      </p:sp>
      <p:sp>
        <p:nvSpPr>
          <p:cNvPr id="28" name="Shape 26"/>
          <p:cNvSpPr/>
          <p:nvPr/>
        </p:nvSpPr>
        <p:spPr>
          <a:xfrm>
            <a:off x="4176065" y="2575865"/>
            <a:ext cx="1851660" cy="6401"/>
          </a:xfrm>
          <a:prstGeom prst="rect">
            <a:avLst/>
          </a:prstGeom>
          <a:solidFill>
            <a:srgbClr val="DCD9E4"/>
          </a:solidFill>
          <a:ln/>
        </p:spPr>
      </p:sp>
      <p:sp>
        <p:nvSpPr>
          <p:cNvPr id="29" name="Text 27"/>
          <p:cNvSpPr txBox="1"/>
          <p:nvPr/>
        </p:nvSpPr>
        <p:spPr>
          <a:xfrm>
            <a:off x="4176065" y="2720340"/>
            <a:ext cx="1558138" cy="231343"/>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Fixed constraints</a:t>
            </a:r>
            <a:endParaRPr lang="en-US" sz="1400" dirty="0"/>
          </a:p>
        </p:txBody>
      </p:sp>
      <p:sp>
        <p:nvSpPr>
          <p:cNvPr id="30" name="Shape 28"/>
          <p:cNvSpPr/>
          <p:nvPr/>
        </p:nvSpPr>
        <p:spPr>
          <a:xfrm>
            <a:off x="6027725" y="2575865"/>
            <a:ext cx="1851660" cy="6401"/>
          </a:xfrm>
          <a:prstGeom prst="rect">
            <a:avLst/>
          </a:prstGeom>
          <a:solidFill>
            <a:srgbClr val="DCD9E4"/>
          </a:solidFill>
          <a:ln/>
        </p:spPr>
      </p:sp>
      <p:sp>
        <p:nvSpPr>
          <p:cNvPr id="31" name="Text 29"/>
          <p:cNvSpPr txBox="1"/>
          <p:nvPr/>
        </p:nvSpPr>
        <p:spPr>
          <a:xfrm>
            <a:off x="6027725" y="2720340"/>
            <a:ext cx="1281074" cy="231343"/>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Linear system</a:t>
            </a:r>
            <a:endParaRPr lang="en-US" sz="1400" dirty="0"/>
          </a:p>
        </p:txBody>
      </p:sp>
      <p:sp>
        <p:nvSpPr>
          <p:cNvPr id="32" name="Shape 30"/>
          <p:cNvSpPr/>
          <p:nvPr/>
        </p:nvSpPr>
        <p:spPr>
          <a:xfrm>
            <a:off x="7879385" y="2575865"/>
            <a:ext cx="1851660" cy="6401"/>
          </a:xfrm>
          <a:prstGeom prst="rect">
            <a:avLst/>
          </a:prstGeom>
          <a:solidFill>
            <a:srgbClr val="DCD9E4"/>
          </a:solidFill>
          <a:ln/>
        </p:spPr>
      </p:sp>
      <p:sp>
        <p:nvSpPr>
          <p:cNvPr id="33" name="Text 31"/>
          <p:cNvSpPr txBox="1"/>
          <p:nvPr/>
        </p:nvSpPr>
        <p:spPr>
          <a:xfrm>
            <a:off x="7879385" y="2720340"/>
            <a:ext cx="1194206"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Iteration to a</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residual</a:t>
            </a:r>
            <a:endParaRPr lang="en-US" sz="1400" dirty="0"/>
          </a:p>
        </p:txBody>
      </p:sp>
      <p:sp>
        <p:nvSpPr>
          <p:cNvPr id="34" name="Shape 32"/>
          <p:cNvSpPr/>
          <p:nvPr/>
        </p:nvSpPr>
        <p:spPr>
          <a:xfrm>
            <a:off x="9731045" y="2575865"/>
            <a:ext cx="1851660" cy="6401"/>
          </a:xfrm>
          <a:prstGeom prst="rect">
            <a:avLst/>
          </a:prstGeom>
          <a:solidFill>
            <a:srgbClr val="DCD9E4"/>
          </a:solidFill>
          <a:ln/>
        </p:spPr>
      </p:sp>
      <p:sp>
        <p:nvSpPr>
          <p:cNvPr id="35" name="Text 33"/>
          <p:cNvSpPr txBox="1"/>
          <p:nvPr/>
        </p:nvSpPr>
        <p:spPr>
          <a:xfrm>
            <a:off x="9731045" y="2720340"/>
            <a:ext cx="1480414"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Horizontal, then</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vertical</a:t>
            </a:r>
            <a:endParaRPr lang="en-US" sz="1400" dirty="0"/>
          </a:p>
        </p:txBody>
      </p:sp>
      <p:sp>
        <p:nvSpPr>
          <p:cNvPr id="36" name="Shape 34"/>
          <p:cNvSpPr/>
          <p:nvPr/>
        </p:nvSpPr>
        <p:spPr>
          <a:xfrm>
            <a:off x="609905" y="3323844"/>
            <a:ext cx="1714500" cy="6401"/>
          </a:xfrm>
          <a:prstGeom prst="rect">
            <a:avLst/>
          </a:prstGeom>
          <a:solidFill>
            <a:srgbClr val="DCD9E4"/>
          </a:solidFill>
          <a:ln/>
        </p:spPr>
      </p:sp>
      <p:sp>
        <p:nvSpPr>
          <p:cNvPr id="37" name="Text 35"/>
          <p:cNvSpPr txBox="1"/>
          <p:nvPr/>
        </p:nvSpPr>
        <p:spPr>
          <a:xfrm>
            <a:off x="609905" y="3482950"/>
            <a:ext cx="1386230" cy="207569"/>
          </a:xfrm>
          <a:prstGeom prst="rect">
            <a:avLst/>
          </a:prstGeom>
          <a:noFill/>
          <a:ln/>
        </p:spPr>
        <p:txBody>
          <a:bodyPr wrap="none" lIns="0" tIns="0" rIns="0" bIns="0" rtlCol="0" anchor="t"/>
          <a:lstStyle/>
          <a:p>
            <a:pPr algn="l" indent="0" marL="0">
              <a:lnSpc>
                <a:spcPts val="1634"/>
              </a:lnSpc>
              <a:buNone/>
            </a:pPr>
            <a:r>
              <a:rPr lang="en-US" sz="1200" dirty="0">
                <a:solidFill>
                  <a:srgbClr val="6F7290"/>
                </a:solidFill>
                <a:latin typeface="Open Sans" pitchFamily="34" charset="0"/>
                <a:ea typeface="Open Sans" pitchFamily="34" charset="-122"/>
                <a:cs typeface="Open Sans" pitchFamily="34" charset="-120"/>
              </a:rPr>
              <a:t>Designer controls</a:t>
            </a:r>
            <a:endParaRPr lang="en-US" sz="1200" dirty="0"/>
          </a:p>
        </p:txBody>
      </p:sp>
      <p:sp>
        <p:nvSpPr>
          <p:cNvPr id="38" name="Shape 36"/>
          <p:cNvSpPr/>
          <p:nvPr/>
        </p:nvSpPr>
        <p:spPr>
          <a:xfrm>
            <a:off x="2324405" y="3323844"/>
            <a:ext cx="1851660" cy="6401"/>
          </a:xfrm>
          <a:prstGeom prst="rect">
            <a:avLst/>
          </a:prstGeom>
          <a:solidFill>
            <a:srgbClr val="DCD9E4"/>
          </a:solidFill>
          <a:ln/>
        </p:spPr>
      </p:sp>
      <p:sp>
        <p:nvSpPr>
          <p:cNvPr id="39" name="Text 37"/>
          <p:cNvSpPr txBox="1"/>
          <p:nvPr/>
        </p:nvSpPr>
        <p:spPr>
          <a:xfrm>
            <a:off x="2324405" y="3468319"/>
            <a:ext cx="896112" cy="231343"/>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Every line</a:t>
            </a:r>
            <a:endParaRPr lang="en-US" sz="1400" dirty="0"/>
          </a:p>
        </p:txBody>
      </p:sp>
      <p:sp>
        <p:nvSpPr>
          <p:cNvPr id="40" name="Shape 38"/>
          <p:cNvSpPr/>
          <p:nvPr/>
        </p:nvSpPr>
        <p:spPr>
          <a:xfrm>
            <a:off x="4176065" y="3323844"/>
            <a:ext cx="1851660" cy="6401"/>
          </a:xfrm>
          <a:prstGeom prst="rect">
            <a:avLst/>
          </a:prstGeom>
          <a:solidFill>
            <a:srgbClr val="DCD9E4"/>
          </a:solidFill>
          <a:ln/>
        </p:spPr>
      </p:sp>
      <p:sp>
        <p:nvSpPr>
          <p:cNvPr id="41" name="Text 39"/>
          <p:cNvSpPr txBox="1"/>
          <p:nvPr/>
        </p:nvSpPr>
        <p:spPr>
          <a:xfrm>
            <a:off x="4176065" y="3468319"/>
            <a:ext cx="1826057" cy="231343"/>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Loads and positions</a:t>
            </a:r>
            <a:endParaRPr lang="en-US" sz="1400" dirty="0"/>
          </a:p>
        </p:txBody>
      </p:sp>
      <p:sp>
        <p:nvSpPr>
          <p:cNvPr id="42" name="Shape 40"/>
          <p:cNvSpPr/>
          <p:nvPr/>
        </p:nvSpPr>
        <p:spPr>
          <a:xfrm>
            <a:off x="6027725" y="3323844"/>
            <a:ext cx="1851660" cy="6401"/>
          </a:xfrm>
          <a:prstGeom prst="rect">
            <a:avLst/>
          </a:prstGeom>
          <a:solidFill>
            <a:srgbClr val="DCD9E4"/>
          </a:solidFill>
          <a:ln/>
        </p:spPr>
      </p:sp>
      <p:sp>
        <p:nvSpPr>
          <p:cNvPr id="43" name="Text 41"/>
          <p:cNvSpPr txBox="1"/>
          <p:nvPr/>
        </p:nvSpPr>
        <p:spPr>
          <a:xfrm>
            <a:off x="6027725" y="3468319"/>
            <a:ext cx="1260958"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Form or force</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diagram</a:t>
            </a:r>
            <a:endParaRPr lang="en-US" sz="1400" dirty="0"/>
          </a:p>
        </p:txBody>
      </p:sp>
      <p:sp>
        <p:nvSpPr>
          <p:cNvPr id="44" name="Shape 42"/>
          <p:cNvSpPr/>
          <p:nvPr/>
        </p:nvSpPr>
        <p:spPr>
          <a:xfrm>
            <a:off x="7879385" y="3323844"/>
            <a:ext cx="1851660" cy="6401"/>
          </a:xfrm>
          <a:prstGeom prst="rect">
            <a:avLst/>
          </a:prstGeom>
          <a:solidFill>
            <a:srgbClr val="DCD9E4"/>
          </a:solidFill>
          <a:ln/>
        </p:spPr>
      </p:sp>
      <p:sp>
        <p:nvSpPr>
          <p:cNvPr id="45" name="Text 43"/>
          <p:cNvSpPr txBox="1"/>
          <p:nvPr/>
        </p:nvSpPr>
        <p:spPr>
          <a:xfrm>
            <a:off x="7879385" y="3468319"/>
            <a:ext cx="1750162"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Supports and force</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densities</a:t>
            </a:r>
            <a:endParaRPr lang="en-US" sz="1400" dirty="0"/>
          </a:p>
        </p:txBody>
      </p:sp>
      <p:sp>
        <p:nvSpPr>
          <p:cNvPr id="46" name="Shape 44"/>
          <p:cNvSpPr/>
          <p:nvPr/>
        </p:nvSpPr>
        <p:spPr>
          <a:xfrm>
            <a:off x="9731045" y="3323844"/>
            <a:ext cx="1851660" cy="6401"/>
          </a:xfrm>
          <a:prstGeom prst="rect">
            <a:avLst/>
          </a:prstGeom>
          <a:solidFill>
            <a:srgbClr val="DCD9E4"/>
          </a:solidFill>
          <a:ln/>
        </p:spPr>
      </p:sp>
      <p:sp>
        <p:nvSpPr>
          <p:cNvPr id="47" name="Text 45"/>
          <p:cNvSpPr txBox="1"/>
          <p:nvPr/>
        </p:nvSpPr>
        <p:spPr>
          <a:xfrm>
            <a:off x="9731045" y="3468319"/>
            <a:ext cx="1249070" cy="462686"/>
          </a:xfrm>
          <a:prstGeom prst="rect">
            <a:avLst/>
          </a:prstGeom>
          <a:noFill/>
          <a:ln/>
        </p:spPr>
        <p:txBody>
          <a:bodyPr wrap="none" lIns="0" tIns="0" rIns="0" bIns="0" rtlCol="0" anchor="t"/>
          <a:lstStyle/>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Topology and</a:t>
            </a:r>
            <a:endParaRPr lang="en-US" sz="1400" dirty="0"/>
          </a:p>
          <a:p>
            <a:pPr algn="l" indent="0" marL="0">
              <a:lnSpc>
                <a:spcPts val="1820"/>
              </a:lnSpc>
              <a:buNone/>
            </a:pPr>
            <a:r>
              <a:rPr lang="en-US" sz="1400" dirty="0">
                <a:solidFill>
                  <a:srgbClr val="141B3D"/>
                </a:solidFill>
                <a:latin typeface="Open Sans" pitchFamily="34" charset="0"/>
                <a:ea typeface="Open Sans" pitchFamily="34" charset="-122"/>
                <a:cs typeface="Open Sans" pitchFamily="34" charset="-120"/>
              </a:rPr>
              <a:t>thickness</a:t>
            </a:r>
            <a:endParaRPr lang="en-US" sz="1400" dirty="0"/>
          </a:p>
        </p:txBody>
      </p:sp>
      <p:sp>
        <p:nvSpPr>
          <p:cNvPr id="48" name="Shape 46"/>
          <p:cNvSpPr/>
          <p:nvPr/>
        </p:nvSpPr>
        <p:spPr>
          <a:xfrm>
            <a:off x="609905" y="4070909"/>
            <a:ext cx="1714500" cy="6401"/>
          </a:xfrm>
          <a:prstGeom prst="rect">
            <a:avLst/>
          </a:prstGeom>
          <a:solidFill>
            <a:srgbClr val="DCD9E4"/>
          </a:solidFill>
          <a:ln/>
        </p:spPr>
      </p:sp>
      <p:sp>
        <p:nvSpPr>
          <p:cNvPr id="49" name="Text 47"/>
          <p:cNvSpPr txBox="1"/>
          <p:nvPr/>
        </p:nvSpPr>
        <p:spPr>
          <a:xfrm>
            <a:off x="609905" y="4230929"/>
            <a:ext cx="1048817" cy="207569"/>
          </a:xfrm>
          <a:prstGeom prst="rect">
            <a:avLst/>
          </a:prstGeom>
          <a:noFill/>
          <a:ln/>
        </p:spPr>
        <p:txBody>
          <a:bodyPr wrap="none" lIns="0" tIns="0" rIns="0" bIns="0" rtlCol="0" anchor="t"/>
          <a:lstStyle/>
          <a:p>
            <a:pPr algn="l" indent="0" marL="0">
              <a:lnSpc>
                <a:spcPts val="1634"/>
              </a:lnSpc>
              <a:buNone/>
            </a:pPr>
            <a:r>
              <a:rPr lang="en-US" sz="1200" dirty="0">
                <a:solidFill>
                  <a:srgbClr val="6F7290"/>
                </a:solidFill>
                <a:latin typeface="Open Sans" pitchFamily="34" charset="0"/>
                <a:ea typeface="Open Sans" pitchFamily="34" charset="-122"/>
                <a:cs typeface="Open Sans" pitchFamily="34" charset="-120"/>
              </a:rPr>
              <a:t>Teaching gap</a:t>
            </a:r>
            <a:endParaRPr lang="en-US" sz="1200" dirty="0"/>
          </a:p>
        </p:txBody>
      </p:sp>
      <p:sp>
        <p:nvSpPr>
          <p:cNvPr id="50" name="Shape 48"/>
          <p:cNvSpPr/>
          <p:nvPr/>
        </p:nvSpPr>
        <p:spPr>
          <a:xfrm>
            <a:off x="2324405" y="4070909"/>
            <a:ext cx="1851660" cy="6401"/>
          </a:xfrm>
          <a:prstGeom prst="rect">
            <a:avLst/>
          </a:prstGeom>
          <a:solidFill>
            <a:srgbClr val="DCD9E4"/>
          </a:solidFill>
          <a:ln/>
        </p:spPr>
      </p:sp>
      <p:sp>
        <p:nvSpPr>
          <p:cNvPr id="51" name="Text 49"/>
          <p:cNvSpPr txBox="1"/>
          <p:nvPr/>
        </p:nvSpPr>
        <p:spPr>
          <a:xfrm>
            <a:off x="2324405" y="4216298"/>
            <a:ext cx="523951" cy="231343"/>
          </a:xfrm>
          <a:prstGeom prst="rect">
            <a:avLst/>
          </a:prstGeom>
          <a:noFill/>
          <a:ln/>
        </p:spPr>
        <p:txBody>
          <a:bodyPr wrap="none" lIns="0" tIns="0" rIns="0" bIns="0" rtlCol="0" anchor="t"/>
          <a:lstStyle/>
          <a:p>
            <a:pPr algn="l" indent="0" marL="0">
              <a:lnSpc>
                <a:spcPts val="1820"/>
              </a:lnSpc>
              <a:buNone/>
            </a:pPr>
            <a:r>
              <a:rPr lang="en-US" sz="1400" dirty="0">
                <a:solidFill>
                  <a:srgbClr val="6F7290"/>
                </a:solidFill>
                <a:latin typeface="Open Sans" pitchFamily="34" charset="0"/>
                <a:ea typeface="Open Sans" pitchFamily="34" charset="-122"/>
                <a:cs typeface="Open Sans" pitchFamily="34" charset="-120"/>
              </a:rPr>
              <a:t>None</a:t>
            </a:r>
            <a:endParaRPr lang="en-US" sz="1400" dirty="0"/>
          </a:p>
        </p:txBody>
      </p:sp>
      <p:sp>
        <p:nvSpPr>
          <p:cNvPr id="52" name="Shape 50"/>
          <p:cNvSpPr/>
          <p:nvPr/>
        </p:nvSpPr>
        <p:spPr>
          <a:xfrm>
            <a:off x="4176065" y="4070909"/>
            <a:ext cx="1851660" cy="6401"/>
          </a:xfrm>
          <a:prstGeom prst="rect">
            <a:avLst/>
          </a:prstGeom>
          <a:solidFill>
            <a:srgbClr val="DCD9E4"/>
          </a:solidFill>
          <a:ln/>
        </p:spPr>
      </p:sp>
      <p:sp>
        <p:nvSpPr>
          <p:cNvPr id="53" name="Text 51"/>
          <p:cNvSpPr txBox="1"/>
          <p:nvPr/>
        </p:nvSpPr>
        <p:spPr>
          <a:xfrm>
            <a:off x="4176065" y="4216298"/>
            <a:ext cx="1699870" cy="231343"/>
          </a:xfrm>
          <a:prstGeom prst="rect">
            <a:avLst/>
          </a:prstGeom>
          <a:noFill/>
          <a:ln/>
        </p:spPr>
        <p:txBody>
          <a:bodyPr wrap="none" lIns="0" tIns="0" rIns="0" bIns="0" rtlCol="0" anchor="t"/>
          <a:lstStyle/>
          <a:p>
            <a:pPr algn="l" indent="0" marL="0">
              <a:lnSpc>
                <a:spcPts val="1820"/>
              </a:lnSpc>
              <a:buNone/>
            </a:pPr>
            <a:r>
              <a:rPr lang="en-US" sz="1345" b="1" dirty="0">
                <a:solidFill>
                  <a:srgbClr val="CA49A4"/>
                </a:solidFill>
                <a:latin typeface="Open Sans" pitchFamily="34" charset="0"/>
                <a:ea typeface="Open Sans" pitchFamily="34" charset="-122"/>
                <a:cs typeface="Open Sans" pitchFamily="34" charset="-120"/>
              </a:rPr>
              <a:t>Teaching material</a:t>
            </a:r>
            <a:endParaRPr lang="en-US" sz="1345" dirty="0"/>
          </a:p>
        </p:txBody>
      </p:sp>
      <p:sp>
        <p:nvSpPr>
          <p:cNvPr id="54" name="Shape 52"/>
          <p:cNvSpPr/>
          <p:nvPr/>
        </p:nvSpPr>
        <p:spPr>
          <a:xfrm>
            <a:off x="6027725" y="4070909"/>
            <a:ext cx="1851660" cy="6401"/>
          </a:xfrm>
          <a:prstGeom prst="rect">
            <a:avLst/>
          </a:prstGeom>
          <a:solidFill>
            <a:srgbClr val="DCD9E4"/>
          </a:solidFill>
          <a:ln/>
        </p:spPr>
      </p:sp>
      <p:sp>
        <p:nvSpPr>
          <p:cNvPr id="55" name="Text 53"/>
          <p:cNvSpPr txBox="1"/>
          <p:nvPr/>
        </p:nvSpPr>
        <p:spPr>
          <a:xfrm>
            <a:off x="6027725" y="4216298"/>
            <a:ext cx="1627632" cy="231343"/>
          </a:xfrm>
          <a:prstGeom prst="rect">
            <a:avLst/>
          </a:prstGeom>
          <a:noFill/>
          <a:ln/>
        </p:spPr>
        <p:txBody>
          <a:bodyPr wrap="none" lIns="0" tIns="0" rIns="0" bIns="0" rtlCol="0" anchor="t"/>
          <a:lstStyle/>
          <a:p>
            <a:pPr algn="l" indent="0" marL="0">
              <a:lnSpc>
                <a:spcPts val="1820"/>
              </a:lnSpc>
              <a:buNone/>
            </a:pPr>
            <a:r>
              <a:rPr lang="en-US" sz="1361" b="1" dirty="0">
                <a:solidFill>
                  <a:srgbClr val="CA49A4"/>
                </a:solidFill>
                <a:latin typeface="Open Sans" pitchFamily="34" charset="0"/>
                <a:ea typeface="Open Sans" pitchFamily="34" charset="-122"/>
                <a:cs typeface="Open Sans" pitchFamily="34" charset="-120"/>
              </a:rPr>
              <a:t>Graded exercises</a:t>
            </a:r>
            <a:endParaRPr lang="en-US" sz="1361" dirty="0"/>
          </a:p>
        </p:txBody>
      </p:sp>
      <p:sp>
        <p:nvSpPr>
          <p:cNvPr id="56" name="Shape 54"/>
          <p:cNvSpPr/>
          <p:nvPr/>
        </p:nvSpPr>
        <p:spPr>
          <a:xfrm>
            <a:off x="7879385" y="4070909"/>
            <a:ext cx="1851660" cy="6401"/>
          </a:xfrm>
          <a:prstGeom prst="rect">
            <a:avLst/>
          </a:prstGeom>
          <a:solidFill>
            <a:srgbClr val="DCD9E4"/>
          </a:solidFill>
          <a:ln/>
        </p:spPr>
      </p:sp>
      <p:sp>
        <p:nvSpPr>
          <p:cNvPr id="57" name="Text 55"/>
          <p:cNvSpPr txBox="1"/>
          <p:nvPr/>
        </p:nvSpPr>
        <p:spPr>
          <a:xfrm>
            <a:off x="7879385" y="4216298"/>
            <a:ext cx="1246327" cy="231343"/>
          </a:xfrm>
          <a:prstGeom prst="rect">
            <a:avLst/>
          </a:prstGeom>
          <a:noFill/>
          <a:ln/>
        </p:spPr>
        <p:txBody>
          <a:bodyPr wrap="none" lIns="0" tIns="0" rIns="0" bIns="0" rtlCol="0" anchor="t"/>
          <a:lstStyle/>
          <a:p>
            <a:pPr algn="l" indent="0" marL="0">
              <a:lnSpc>
                <a:spcPts val="1820"/>
              </a:lnSpc>
              <a:buNone/>
            </a:pPr>
            <a:r>
              <a:rPr lang="en-US" sz="1351" b="1" dirty="0">
                <a:solidFill>
                  <a:srgbClr val="CA49A4"/>
                </a:solidFill>
                <a:latin typeface="Open Sans" pitchFamily="34" charset="0"/>
                <a:ea typeface="Open Sans" pitchFamily="34" charset="-122"/>
                <a:cs typeface="Open Sans" pitchFamily="34" charset="-120"/>
              </a:rPr>
              <a:t>Solver maths</a:t>
            </a:r>
            <a:endParaRPr lang="en-US" sz="1351" dirty="0"/>
          </a:p>
        </p:txBody>
      </p:sp>
      <p:sp>
        <p:nvSpPr>
          <p:cNvPr id="58" name="Shape 56"/>
          <p:cNvSpPr/>
          <p:nvPr/>
        </p:nvSpPr>
        <p:spPr>
          <a:xfrm>
            <a:off x="9731045" y="4070909"/>
            <a:ext cx="1851660" cy="6401"/>
          </a:xfrm>
          <a:prstGeom prst="rect">
            <a:avLst/>
          </a:prstGeom>
          <a:solidFill>
            <a:srgbClr val="DCD9E4"/>
          </a:solidFill>
          <a:ln/>
        </p:spPr>
      </p:sp>
      <p:sp>
        <p:nvSpPr>
          <p:cNvPr id="59" name="Text 57"/>
          <p:cNvSpPr txBox="1"/>
          <p:nvPr/>
        </p:nvSpPr>
        <p:spPr>
          <a:xfrm>
            <a:off x="9731045" y="4216298"/>
            <a:ext cx="1246327" cy="231343"/>
          </a:xfrm>
          <a:prstGeom prst="rect">
            <a:avLst/>
          </a:prstGeom>
          <a:noFill/>
          <a:ln/>
        </p:spPr>
        <p:txBody>
          <a:bodyPr wrap="none" lIns="0" tIns="0" rIns="0" bIns="0" rtlCol="0" anchor="t"/>
          <a:lstStyle/>
          <a:p>
            <a:pPr algn="l" indent="0" marL="0">
              <a:lnSpc>
                <a:spcPts val="1820"/>
              </a:lnSpc>
              <a:buNone/>
            </a:pPr>
            <a:r>
              <a:rPr lang="en-US" sz="1351" b="1" dirty="0">
                <a:solidFill>
                  <a:srgbClr val="CA49A4"/>
                </a:solidFill>
                <a:latin typeface="Open Sans" pitchFamily="34" charset="0"/>
                <a:ea typeface="Open Sans" pitchFamily="34" charset="-122"/>
                <a:cs typeface="Open Sans" pitchFamily="34" charset="-120"/>
              </a:rPr>
              <a:t>Solver maths</a:t>
            </a:r>
            <a:endParaRPr lang="en-US" sz="1351" dirty="0"/>
          </a:p>
        </p:txBody>
      </p:sp>
      <p:sp>
        <p:nvSpPr>
          <p:cNvPr id="60" name="Shape 58"/>
          <p:cNvSpPr/>
          <p:nvPr/>
        </p:nvSpPr>
        <p:spPr>
          <a:xfrm>
            <a:off x="609905" y="6140196"/>
            <a:ext cx="10972800" cy="12802"/>
          </a:xfrm>
          <a:prstGeom prst="rect">
            <a:avLst/>
          </a:prstGeom>
          <a:solidFill>
            <a:srgbClr val="CA49A4"/>
          </a:solidFill>
          <a:ln/>
        </p:spPr>
      </p:sp>
      <p:sp>
        <p:nvSpPr>
          <p:cNvPr id="61" name="Text 59"/>
          <p:cNvSpPr txBox="1"/>
          <p:nvPr/>
        </p:nvSpPr>
        <p:spPr>
          <a:xfrm>
            <a:off x="609905" y="6166714"/>
            <a:ext cx="1807769"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From the repo ReadMe</a:t>
            </a:r>
            <a:endParaRPr lang="en-US" sz="1200" dirty="0"/>
          </a:p>
        </p:txBody>
      </p:sp>
      <p:sp>
        <p:nvSpPr>
          <p:cNvPr id="62" name="Text 60"/>
          <p:cNvSpPr txBox="1"/>
          <p:nvPr/>
        </p:nvSpPr>
        <p:spPr>
          <a:xfrm>
            <a:off x="2414016" y="6166714"/>
            <a:ext cx="6235294" cy="207569"/>
          </a:xfrm>
          <a:prstGeom prst="rect">
            <a:avLst/>
          </a:prstGeom>
          <a:noFill/>
          <a:ln/>
        </p:spPr>
        <p:txBody>
          <a:bodyPr wrap="none" lIns="0" tIns="0" rIns="0" bIns="0" rtlCol="0" anchor="t"/>
          <a:lstStyle/>
          <a:p>
            <a:pPr algn="l" indent="0" marL="0">
              <a:lnSpc>
                <a:spcPts val="1634"/>
              </a:lnSpc>
              <a:buNone/>
            </a:pPr>
            <a:r>
              <a:rPr lang="en-US" sz="1200" dirty="0">
                <a:solidFill>
                  <a:srgbClr val="141B3D"/>
                </a:solidFill>
                <a:latin typeface="Open Sans" pitchFamily="34" charset="0"/>
                <a:ea typeface="Open Sans" pitchFamily="34" charset="-122"/>
                <a:cs typeface="Open Sans" pitchFamily="34" charset="-120"/>
              </a:rPr>
              <a:t>“2D Graphic Statics is made for teaching. Everything else is made for developers.”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B3D"/>
        </a:solidFill>
      </p:bgPr>
    </p:bg>
    <p:spTree>
      <p:nvGrpSpPr>
        <p:cNvPr id="1" name=""/>
        <p:cNvGrpSpPr/>
        <p:nvPr/>
      </p:nvGrpSpPr>
      <p:grpSpPr>
        <a:xfrm>
          <a:off x="0" y="0"/>
          <a:ext cx="0" cy="0"/>
          <a:chOff x="0" y="0"/>
          <a:chExt cx="0" cy="0"/>
        </a:xfrm>
      </p:grpSpPr>
      <p:sp>
        <p:nvSpPr>
          <p:cNvPr id="2" name="Text 0"/>
          <p:cNvSpPr txBox="1"/>
          <p:nvPr/>
        </p:nvSpPr>
        <p:spPr>
          <a:xfrm>
            <a:off x="609905" y="657454"/>
            <a:ext cx="5362042" cy="400507"/>
          </a:xfrm>
          <a:prstGeom prst="rect">
            <a:avLst/>
          </a:prstGeom>
          <a:noFill/>
          <a:ln/>
        </p:spPr>
        <p:txBody>
          <a:bodyPr wrap="none" lIns="0" tIns="0" rIns="0" bIns="0" rtlCol="0" anchor="t"/>
          <a:lstStyle/>
          <a:p>
            <a:pPr algn="l" indent="0" marL="0">
              <a:lnSpc>
                <a:spcPts val="3150"/>
              </a:lnSpc>
              <a:buNone/>
            </a:pPr>
            <a:r>
              <a:rPr lang="en-US" sz="2907" b="1" spc="-60" kern="0" dirty="0">
                <a:solidFill>
                  <a:srgbClr val="FFFFFF"/>
                </a:solidFill>
                <a:latin typeface="Open Sans" pitchFamily="34" charset="0"/>
                <a:ea typeface="Open Sans" pitchFamily="34" charset="-122"/>
                <a:cs typeface="Open Sans" pitchFamily="34" charset="-120"/>
              </a:rPr>
              <a:t>What Still Needs to Be Done</a:t>
            </a:r>
            <a:endParaRPr lang="en-US" sz="2907" dirty="0"/>
          </a:p>
        </p:txBody>
      </p:sp>
      <p:sp>
        <p:nvSpPr>
          <p:cNvPr id="3" name="Shape 1"/>
          <p:cNvSpPr/>
          <p:nvPr/>
        </p:nvSpPr>
        <p:spPr>
          <a:xfrm>
            <a:off x="609905" y="1225296"/>
            <a:ext cx="10972800" cy="6401"/>
          </a:xfrm>
          <a:prstGeom prst="rect">
            <a:avLst/>
          </a:prstGeom>
          <a:solidFill>
            <a:srgbClr val="3A405D"/>
          </a:solidFill>
          <a:ln/>
        </p:spPr>
      </p:sp>
      <p:sp>
        <p:nvSpPr>
          <p:cNvPr id="4" name="Shape 2"/>
          <p:cNvSpPr/>
          <p:nvPr/>
        </p:nvSpPr>
        <p:spPr>
          <a:xfrm>
            <a:off x="5835701" y="1434694"/>
            <a:ext cx="6401" cy="4940503"/>
          </a:xfrm>
          <a:prstGeom prst="rect">
            <a:avLst/>
          </a:prstGeom>
          <a:solidFill>
            <a:srgbClr val="3A405D"/>
          </a:solidFill>
          <a:ln/>
        </p:spPr>
      </p:sp>
      <p:sp>
        <p:nvSpPr>
          <p:cNvPr id="5" name="Text 3"/>
          <p:cNvSpPr txBox="1"/>
          <p:nvPr/>
        </p:nvSpPr>
        <p:spPr>
          <a:xfrm>
            <a:off x="609905" y="1436522"/>
            <a:ext cx="2415845" cy="207569"/>
          </a:xfrm>
          <a:prstGeom prst="rect">
            <a:avLst/>
          </a:prstGeom>
          <a:noFill/>
          <a:ln/>
        </p:spPr>
        <p:txBody>
          <a:bodyPr wrap="none" lIns="0" tIns="0" rIns="0" bIns="0" rtlCol="0" anchor="t"/>
          <a:lstStyle/>
          <a:p>
            <a:pPr algn="l" indent="0" marL="0">
              <a:lnSpc>
                <a:spcPts val="1634"/>
              </a:lnSpc>
              <a:buNone/>
            </a:pPr>
            <a:r>
              <a:rPr lang="en-US" sz="1200" dirty="0">
                <a:solidFill>
                  <a:srgbClr val="918FA4"/>
                </a:solidFill>
                <a:latin typeface="Open Sans" pitchFamily="34" charset="0"/>
                <a:ea typeface="Open Sans" pitchFamily="34" charset="-122"/>
                <a:cs typeface="Open Sans" pitchFamily="34" charset="-120"/>
              </a:rPr>
              <a:t>What the repo says about itself</a:t>
            </a:r>
            <a:endParaRPr lang="en-US" sz="1200" dirty="0"/>
          </a:p>
        </p:txBody>
      </p:sp>
      <p:sp>
        <p:nvSpPr>
          <p:cNvPr id="6" name="Text 4"/>
          <p:cNvSpPr txBox="1"/>
          <p:nvPr/>
        </p:nvSpPr>
        <p:spPr>
          <a:xfrm>
            <a:off x="609905" y="1754734"/>
            <a:ext cx="3197657" cy="244145"/>
          </a:xfrm>
          <a:prstGeom prst="rect">
            <a:avLst/>
          </a:prstGeom>
          <a:noFill/>
          <a:ln/>
        </p:spPr>
        <p:txBody>
          <a:bodyPr wrap="none" lIns="0" tIns="0" rIns="0" bIns="0" rtlCol="0" anchor="t"/>
          <a:lstStyle/>
          <a:p>
            <a:pPr algn="l" indent="0" marL="0">
              <a:lnSpc>
                <a:spcPts val="1920"/>
              </a:lnSpc>
              <a:buNone/>
            </a:pPr>
            <a:r>
              <a:rPr lang="en-US" sz="1200" dirty="0">
                <a:solidFill>
                  <a:srgbClr val="FFFFFF"/>
                </a:solidFill>
                <a:latin typeface="Open Sans" pitchFamily="34" charset="0"/>
                <a:ea typeface="Open Sans" pitchFamily="34" charset="-122"/>
                <a:cs typeface="Open Sans" pitchFamily="34" charset="-120"/>
              </a:rPr>
              <a:t>“2D Graphic Statics is made for teaching.”</a:t>
            </a:r>
            <a:endParaRPr lang="en-US" sz="1200" dirty="0"/>
          </a:p>
        </p:txBody>
      </p:sp>
      <p:sp>
        <p:nvSpPr>
          <p:cNvPr id="7" name="Text 5"/>
          <p:cNvSpPr txBox="1"/>
          <p:nvPr/>
        </p:nvSpPr>
        <p:spPr>
          <a:xfrm>
            <a:off x="609905" y="2112264"/>
            <a:ext cx="3147365" cy="244145"/>
          </a:xfrm>
          <a:prstGeom prst="rect">
            <a:avLst/>
          </a:prstGeom>
          <a:noFill/>
          <a:ln/>
        </p:spPr>
        <p:txBody>
          <a:bodyPr wrap="none" lIns="0" tIns="0" rIns="0" bIns="0" rtlCol="0" anchor="t"/>
          <a:lstStyle/>
          <a:p>
            <a:pPr algn="l" indent="0" marL="0">
              <a:lnSpc>
                <a:spcPts val="1920"/>
              </a:lnSpc>
              <a:buNone/>
            </a:pPr>
            <a:r>
              <a:rPr lang="en-US" sz="1200" dirty="0">
                <a:solidFill>
                  <a:srgbClr val="FFFFFF"/>
                </a:solidFill>
                <a:latin typeface="Open Sans" pitchFamily="34" charset="0"/>
                <a:ea typeface="Open Sans" pitchFamily="34" charset="-122"/>
                <a:cs typeface="Open Sans" pitchFamily="34" charset="-120"/>
              </a:rPr>
              <a:t>“Everything else is made for developers.”</a:t>
            </a:r>
            <a:endParaRPr lang="en-US" sz="1200" dirty="0"/>
          </a:p>
        </p:txBody>
      </p:sp>
      <p:sp>
        <p:nvSpPr>
          <p:cNvPr id="8" name="Text 6"/>
          <p:cNvSpPr txBox="1"/>
          <p:nvPr/>
        </p:nvSpPr>
        <p:spPr>
          <a:xfrm>
            <a:off x="609905" y="2470709"/>
            <a:ext cx="4969764" cy="487375"/>
          </a:xfrm>
          <a:prstGeom prst="rect">
            <a:avLst/>
          </a:prstGeom>
          <a:noFill/>
          <a:ln/>
        </p:spPr>
        <p:txBody>
          <a:bodyPr wrap="none" lIns="0" tIns="0" rIns="0" bIns="0" rtlCol="0" anchor="t"/>
          <a:lstStyle/>
          <a:p>
            <a:pPr algn="l" indent="0" marL="0">
              <a:lnSpc>
                <a:spcPts val="1920"/>
              </a:lnSpc>
              <a:buNone/>
            </a:pPr>
            <a:r>
              <a:rPr lang="en-US" sz="1200" dirty="0">
                <a:solidFill>
                  <a:srgbClr val="FFFFFF"/>
                </a:solidFill>
                <a:latin typeface="Open Sans" pitchFamily="34" charset="0"/>
                <a:ea typeface="Open Sans" pitchFamily="34" charset="-122"/>
                <a:cs typeface="Open Sans" pitchFamily="34" charset="-120"/>
              </a:rPr>
              <a:t>“Why math is not explained how the solvers work, as the focus is</a:t>
            </a:r>
            <a:endParaRPr lang="en-US" sz="1200" dirty="0"/>
          </a:p>
          <a:p>
            <a:pPr algn="l" indent="0" marL="0">
              <a:lnSpc>
                <a:spcPts val="1920"/>
              </a:lnSpc>
              <a:buNone/>
            </a:pPr>
            <a:r>
              <a:rPr lang="en-US" sz="1200" dirty="0">
                <a:solidFill>
                  <a:srgbClr val="FFFFFF"/>
                </a:solidFill>
                <a:latin typeface="Open Sans" pitchFamily="34" charset="0"/>
                <a:ea typeface="Open Sans" pitchFamily="34" charset="-122"/>
                <a:cs typeface="Open Sans" pitchFamily="34" charset="-120"/>
              </a:rPr>
              <a:t>given to the user interfaces?”</a:t>
            </a:r>
            <a:endParaRPr lang="en-US" sz="1200" dirty="0"/>
          </a:p>
        </p:txBody>
      </p:sp>
      <p:sp>
        <p:nvSpPr>
          <p:cNvPr id="9" name="Text 7"/>
          <p:cNvSpPr txBox="1"/>
          <p:nvPr/>
        </p:nvSpPr>
        <p:spPr>
          <a:xfrm>
            <a:off x="609905" y="3072384"/>
            <a:ext cx="4930445" cy="487375"/>
          </a:xfrm>
          <a:prstGeom prst="rect">
            <a:avLst/>
          </a:prstGeom>
          <a:noFill/>
          <a:ln/>
        </p:spPr>
        <p:txBody>
          <a:bodyPr wrap="none" lIns="0" tIns="0" rIns="0" bIns="0" rtlCol="0" anchor="t"/>
          <a:lstStyle/>
          <a:p>
            <a:pPr algn="l" indent="0" marL="0">
              <a:lnSpc>
                <a:spcPts val="1920"/>
              </a:lnSpc>
              <a:buNone/>
            </a:pPr>
            <a:r>
              <a:rPr lang="en-US" sz="1200" dirty="0">
                <a:solidFill>
                  <a:srgbClr val="9E9CB0"/>
                </a:solidFill>
                <a:latin typeface="Open Sans" pitchFamily="34" charset="0"/>
                <a:ea typeface="Open Sans" pitchFamily="34" charset="-122"/>
                <a:cs typeface="Open Sans" pitchFamily="34" charset="-120"/>
              </a:rPr>
              <a:t>“FEA resources very minimal.” · “AI materials is absent.” Both are</a:t>
            </a:r>
            <a:endParaRPr lang="en-US" sz="1200" dirty="0"/>
          </a:p>
          <a:p>
            <a:pPr algn="l" indent="0" marL="0">
              <a:lnSpc>
                <a:spcPts val="1920"/>
              </a:lnSpc>
              <a:buNone/>
            </a:pPr>
            <a:r>
              <a:rPr lang="en-US" sz="1200" dirty="0">
                <a:solidFill>
                  <a:srgbClr val="9E9CB0"/>
                </a:solidFill>
                <a:latin typeface="Open Sans" pitchFamily="34" charset="0"/>
                <a:ea typeface="Open Sans" pitchFamily="34" charset="-122"/>
                <a:cs typeface="Open Sans" pitchFamily="34" charset="-120"/>
              </a:rPr>
              <a:t>deferred to a CAS 2, together with masonry and BIM.</a:t>
            </a:r>
            <a:endParaRPr lang="en-US" sz="1200" dirty="0"/>
          </a:p>
        </p:txBody>
      </p:sp>
      <p:sp>
        <p:nvSpPr>
          <p:cNvPr id="10" name="Shape 8"/>
          <p:cNvSpPr/>
          <p:nvPr/>
        </p:nvSpPr>
        <p:spPr>
          <a:xfrm>
            <a:off x="609905" y="5661965"/>
            <a:ext cx="4781398" cy="12802"/>
          </a:xfrm>
          <a:prstGeom prst="rect">
            <a:avLst/>
          </a:prstGeom>
          <a:solidFill>
            <a:srgbClr val="CA49A4"/>
          </a:solidFill>
          <a:ln/>
        </p:spPr>
      </p:sp>
      <p:sp>
        <p:nvSpPr>
          <p:cNvPr id="11" name="Text 9"/>
          <p:cNvSpPr txBox="1"/>
          <p:nvPr/>
        </p:nvSpPr>
        <p:spPr>
          <a:xfrm>
            <a:off x="609905" y="5838444"/>
            <a:ext cx="2949854" cy="231343"/>
          </a:xfrm>
          <a:prstGeom prst="rect">
            <a:avLst/>
          </a:prstGeom>
          <a:noFill/>
          <a:ln/>
        </p:spPr>
        <p:txBody>
          <a:bodyPr wrap="none" lIns="0" tIns="0" rIns="0" bIns="0" rtlCol="0" anchor="t"/>
          <a:lstStyle/>
          <a:p>
            <a:pPr algn="l" indent="0" marL="0">
              <a:lnSpc>
                <a:spcPts val="1820"/>
              </a:lnSpc>
              <a:buNone/>
            </a:pPr>
            <a:r>
              <a:rPr lang="en-US" sz="1355" b="1" dirty="0">
                <a:solidFill>
                  <a:srgbClr val="FFFFFF"/>
                </a:solidFill>
                <a:latin typeface="Open Sans" pitchFamily="34" charset="0"/>
                <a:ea typeface="Open Sans" pitchFamily="34" charset="-122"/>
                <a:cs typeface="Open Sans" pitchFamily="34" charset="-120"/>
              </a:rPr>
              <a:t>About 20 to 30 weeks of writing</a:t>
            </a:r>
            <a:endParaRPr lang="en-US" sz="1355" dirty="0"/>
          </a:p>
        </p:txBody>
      </p:sp>
      <p:sp>
        <p:nvSpPr>
          <p:cNvPr id="12" name="Text 10"/>
          <p:cNvSpPr txBox="1"/>
          <p:nvPr/>
        </p:nvSpPr>
        <p:spPr>
          <a:xfrm>
            <a:off x="609905" y="6143854"/>
            <a:ext cx="3401568" cy="228600"/>
          </a:xfrm>
          <a:prstGeom prst="rect">
            <a:avLst/>
          </a:prstGeom>
          <a:noFill/>
          <a:ln/>
        </p:spPr>
        <p:txBody>
          <a:bodyPr wrap="none" lIns="0" tIns="0" rIns="0" bIns="0" rtlCol="0" anchor="t"/>
          <a:lstStyle/>
          <a:p>
            <a:pPr algn="l" indent="0" marL="0">
              <a:lnSpc>
                <a:spcPts val="1800"/>
              </a:lnSpc>
              <a:buNone/>
            </a:pPr>
            <a:r>
              <a:rPr lang="en-US" sz="1200" dirty="0">
                <a:solidFill>
                  <a:srgbClr val="D0CFDE"/>
                </a:solidFill>
                <a:latin typeface="Open Sans" pitchFamily="34" charset="0"/>
                <a:ea typeface="Open Sans" pitchFamily="34" charset="-122"/>
                <a:cs typeface="Open Sans" pitchFamily="34" charset="-120"/>
              </a:rPr>
              <a:t>Most of it is rewriting what we already have.</a:t>
            </a:r>
            <a:endParaRPr lang="en-US" sz="1200" dirty="0"/>
          </a:p>
        </p:txBody>
      </p:sp>
      <p:sp>
        <p:nvSpPr>
          <p:cNvPr id="13" name="Shape 11"/>
          <p:cNvSpPr/>
          <p:nvPr/>
        </p:nvSpPr>
        <p:spPr>
          <a:xfrm>
            <a:off x="6349594" y="1991563"/>
            <a:ext cx="5232197" cy="6401"/>
          </a:xfrm>
          <a:prstGeom prst="rect">
            <a:avLst/>
          </a:prstGeom>
          <a:solidFill>
            <a:srgbClr val="3A405D"/>
          </a:solidFill>
          <a:ln/>
        </p:spPr>
      </p:sp>
      <p:sp>
        <p:nvSpPr>
          <p:cNvPr id="14" name="Text 12"/>
          <p:cNvSpPr txBox="1"/>
          <p:nvPr/>
        </p:nvSpPr>
        <p:spPr>
          <a:xfrm>
            <a:off x="6349594" y="1493215"/>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01</a:t>
            </a:r>
            <a:endParaRPr lang="en-US" sz="1200" dirty="0"/>
          </a:p>
        </p:txBody>
      </p:sp>
      <p:sp>
        <p:nvSpPr>
          <p:cNvPr id="15" name="Text 13"/>
          <p:cNvSpPr txBox="1"/>
          <p:nvPr/>
        </p:nvSpPr>
        <p:spPr>
          <a:xfrm>
            <a:off x="6883603" y="1486814"/>
            <a:ext cx="3898087" cy="44165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Merge the graphic statics gitbooks into one course</a:t>
            </a:r>
            <a:endParaRPr lang="en-US" sz="1200" dirty="0"/>
          </a:p>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book</a:t>
            </a:r>
            <a:endParaRPr lang="en-US" sz="1200" dirty="0"/>
          </a:p>
        </p:txBody>
      </p:sp>
      <p:sp>
        <p:nvSpPr>
          <p:cNvPr id="16" name="Text 14"/>
          <p:cNvSpPr txBox="1"/>
          <p:nvPr/>
        </p:nvSpPr>
        <p:spPr>
          <a:xfrm>
            <a:off x="11103559" y="1493215"/>
            <a:ext cx="47914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3–4 w</a:t>
            </a:r>
            <a:endParaRPr lang="en-US" sz="1200" dirty="0"/>
          </a:p>
        </p:txBody>
      </p:sp>
      <p:sp>
        <p:nvSpPr>
          <p:cNvPr id="17" name="Shape 15"/>
          <p:cNvSpPr/>
          <p:nvPr/>
        </p:nvSpPr>
        <p:spPr>
          <a:xfrm>
            <a:off x="6349594" y="2332634"/>
            <a:ext cx="5232197" cy="6401"/>
          </a:xfrm>
          <a:prstGeom prst="rect">
            <a:avLst/>
          </a:prstGeom>
          <a:solidFill>
            <a:srgbClr val="3A405D"/>
          </a:solidFill>
          <a:ln/>
        </p:spPr>
      </p:sp>
      <p:sp>
        <p:nvSpPr>
          <p:cNvPr id="18" name="Text 16"/>
          <p:cNvSpPr txBox="1"/>
          <p:nvPr/>
        </p:nvSpPr>
        <p:spPr>
          <a:xfrm>
            <a:off x="6349594" y="2055571"/>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02</a:t>
            </a:r>
            <a:endParaRPr lang="en-US" sz="1200" dirty="0"/>
          </a:p>
        </p:txBody>
      </p:sp>
      <p:sp>
        <p:nvSpPr>
          <p:cNvPr id="19" name="Text 17"/>
          <p:cNvSpPr txBox="1"/>
          <p:nvPr/>
        </p:nvSpPr>
        <p:spPr>
          <a:xfrm>
            <a:off x="6883603" y="2049170"/>
            <a:ext cx="2726741" cy="22128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Write the maths behind the solvers</a:t>
            </a:r>
            <a:endParaRPr lang="en-US" sz="1200" dirty="0"/>
          </a:p>
        </p:txBody>
      </p:sp>
      <p:sp>
        <p:nvSpPr>
          <p:cNvPr id="20" name="Text 18"/>
          <p:cNvSpPr txBox="1"/>
          <p:nvPr/>
        </p:nvSpPr>
        <p:spPr>
          <a:xfrm>
            <a:off x="11103559" y="2055571"/>
            <a:ext cx="47914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4–6 w</a:t>
            </a:r>
            <a:endParaRPr lang="en-US" sz="1200" dirty="0"/>
          </a:p>
        </p:txBody>
      </p:sp>
      <p:sp>
        <p:nvSpPr>
          <p:cNvPr id="21" name="Shape 19"/>
          <p:cNvSpPr/>
          <p:nvPr/>
        </p:nvSpPr>
        <p:spPr>
          <a:xfrm>
            <a:off x="6349594" y="2895905"/>
            <a:ext cx="5232197" cy="6401"/>
          </a:xfrm>
          <a:prstGeom prst="rect">
            <a:avLst/>
          </a:prstGeom>
          <a:solidFill>
            <a:srgbClr val="3A405D"/>
          </a:solidFill>
          <a:ln/>
        </p:spPr>
      </p:sp>
      <p:sp>
        <p:nvSpPr>
          <p:cNvPr id="22" name="Text 20"/>
          <p:cNvSpPr txBox="1"/>
          <p:nvPr/>
        </p:nvSpPr>
        <p:spPr>
          <a:xfrm>
            <a:off x="6349594" y="2397557"/>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03</a:t>
            </a:r>
            <a:endParaRPr lang="en-US" sz="1200" dirty="0"/>
          </a:p>
        </p:txBody>
      </p:sp>
      <p:sp>
        <p:nvSpPr>
          <p:cNvPr id="23" name="Text 21"/>
          <p:cNvSpPr txBox="1"/>
          <p:nvPr/>
        </p:nvSpPr>
        <p:spPr>
          <a:xfrm>
            <a:off x="6883603" y="2391156"/>
            <a:ext cx="3793846" cy="44165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Write exercises and notebooks for Ch 3 to 5, with</a:t>
            </a:r>
            <a:endParaRPr lang="en-US" sz="1200" dirty="0"/>
          </a:p>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answers</a:t>
            </a:r>
            <a:endParaRPr lang="en-US" sz="1200" dirty="0"/>
          </a:p>
        </p:txBody>
      </p:sp>
      <p:sp>
        <p:nvSpPr>
          <p:cNvPr id="24" name="Text 22"/>
          <p:cNvSpPr txBox="1"/>
          <p:nvPr/>
        </p:nvSpPr>
        <p:spPr>
          <a:xfrm>
            <a:off x="11103559" y="2397557"/>
            <a:ext cx="47914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6–8 w</a:t>
            </a:r>
            <a:endParaRPr lang="en-US" sz="1200" dirty="0"/>
          </a:p>
        </p:txBody>
      </p:sp>
      <p:sp>
        <p:nvSpPr>
          <p:cNvPr id="25" name="Shape 23"/>
          <p:cNvSpPr/>
          <p:nvPr/>
        </p:nvSpPr>
        <p:spPr>
          <a:xfrm>
            <a:off x="6349594" y="3236976"/>
            <a:ext cx="5232197" cy="6401"/>
          </a:xfrm>
          <a:prstGeom prst="rect">
            <a:avLst/>
          </a:prstGeom>
          <a:solidFill>
            <a:srgbClr val="3A405D"/>
          </a:solidFill>
          <a:ln/>
        </p:spPr>
      </p:sp>
      <p:sp>
        <p:nvSpPr>
          <p:cNvPr id="26" name="Text 24"/>
          <p:cNvSpPr txBox="1"/>
          <p:nvPr/>
        </p:nvSpPr>
        <p:spPr>
          <a:xfrm>
            <a:off x="6349594" y="2959913"/>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04</a:t>
            </a:r>
            <a:endParaRPr lang="en-US" sz="1200" dirty="0"/>
          </a:p>
        </p:txBody>
      </p:sp>
      <p:sp>
        <p:nvSpPr>
          <p:cNvPr id="27" name="Text 25"/>
          <p:cNvSpPr txBox="1"/>
          <p:nvPr/>
        </p:nvSpPr>
        <p:spPr>
          <a:xfrm>
            <a:off x="6883603" y="2953512"/>
            <a:ext cx="3814877" cy="22128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Write the project briefs and how they are marked</a:t>
            </a:r>
            <a:endParaRPr lang="en-US" sz="1200" dirty="0"/>
          </a:p>
        </p:txBody>
      </p:sp>
      <p:sp>
        <p:nvSpPr>
          <p:cNvPr id="28" name="Text 26"/>
          <p:cNvSpPr txBox="1"/>
          <p:nvPr/>
        </p:nvSpPr>
        <p:spPr>
          <a:xfrm>
            <a:off x="11280038" y="2959913"/>
            <a:ext cx="30266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2 w</a:t>
            </a:r>
            <a:endParaRPr lang="en-US" sz="1200" dirty="0"/>
          </a:p>
        </p:txBody>
      </p:sp>
      <p:sp>
        <p:nvSpPr>
          <p:cNvPr id="29" name="Shape 27"/>
          <p:cNvSpPr/>
          <p:nvPr/>
        </p:nvSpPr>
        <p:spPr>
          <a:xfrm>
            <a:off x="6349594" y="3799332"/>
            <a:ext cx="5232197" cy="6401"/>
          </a:xfrm>
          <a:prstGeom prst="rect">
            <a:avLst/>
          </a:prstGeom>
          <a:solidFill>
            <a:srgbClr val="3A405D"/>
          </a:solidFill>
          <a:ln/>
        </p:spPr>
      </p:sp>
      <p:sp>
        <p:nvSpPr>
          <p:cNvPr id="30" name="Text 28"/>
          <p:cNvSpPr txBox="1"/>
          <p:nvPr/>
        </p:nvSpPr>
        <p:spPr>
          <a:xfrm>
            <a:off x="6349594" y="3301898"/>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05</a:t>
            </a:r>
            <a:endParaRPr lang="en-US" sz="1200" dirty="0"/>
          </a:p>
        </p:txBody>
      </p:sp>
      <p:sp>
        <p:nvSpPr>
          <p:cNvPr id="31" name="Text 29"/>
          <p:cNvSpPr txBox="1"/>
          <p:nvPr/>
        </p:nvSpPr>
        <p:spPr>
          <a:xfrm>
            <a:off x="6883603" y="3294583"/>
            <a:ext cx="3776472" cy="44165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Turn the built projects into case material we may</a:t>
            </a:r>
            <a:endParaRPr lang="en-US" sz="1200" dirty="0"/>
          </a:p>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share</a:t>
            </a:r>
            <a:endParaRPr lang="en-US" sz="1200" dirty="0"/>
          </a:p>
        </p:txBody>
      </p:sp>
      <p:sp>
        <p:nvSpPr>
          <p:cNvPr id="32" name="Text 30"/>
          <p:cNvSpPr txBox="1"/>
          <p:nvPr/>
        </p:nvSpPr>
        <p:spPr>
          <a:xfrm>
            <a:off x="11103559" y="3301898"/>
            <a:ext cx="47914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2–3 w</a:t>
            </a:r>
            <a:endParaRPr lang="en-US" sz="1200" dirty="0"/>
          </a:p>
        </p:txBody>
      </p:sp>
      <p:sp>
        <p:nvSpPr>
          <p:cNvPr id="33" name="Shape 31"/>
          <p:cNvSpPr/>
          <p:nvPr/>
        </p:nvSpPr>
        <p:spPr>
          <a:xfrm>
            <a:off x="6349594" y="4362602"/>
            <a:ext cx="5232197" cy="6401"/>
          </a:xfrm>
          <a:prstGeom prst="rect">
            <a:avLst/>
          </a:prstGeom>
          <a:solidFill>
            <a:srgbClr val="3A405D"/>
          </a:solidFill>
          <a:ln/>
        </p:spPr>
      </p:sp>
      <p:sp>
        <p:nvSpPr>
          <p:cNvPr id="34" name="Text 32"/>
          <p:cNvSpPr txBox="1"/>
          <p:nvPr/>
        </p:nvSpPr>
        <p:spPr>
          <a:xfrm>
            <a:off x="6349594" y="3864254"/>
            <a:ext cx="226771" cy="207569"/>
          </a:xfrm>
          <a:prstGeom prst="rect">
            <a:avLst/>
          </a:prstGeom>
          <a:noFill/>
          <a:ln/>
        </p:spPr>
        <p:txBody>
          <a:bodyPr wrap="none" lIns="0" tIns="0" rIns="0" bIns="0" rtlCol="0" anchor="t"/>
          <a:lstStyle/>
          <a:p>
            <a:pPr algn="l" indent="0" marL="0">
              <a:lnSpc>
                <a:spcPts val="1634"/>
              </a:lnSpc>
              <a:buNone/>
            </a:pPr>
            <a:r>
              <a:rPr lang="en-US" sz="1200" dirty="0">
                <a:solidFill>
                  <a:srgbClr val="CA49A4"/>
                </a:solidFill>
                <a:latin typeface="Open Sans" pitchFamily="34" charset="0"/>
                <a:ea typeface="Open Sans" pitchFamily="34" charset="-122"/>
                <a:cs typeface="Open Sans" pitchFamily="34" charset="-120"/>
              </a:rPr>
              <a:t>06</a:t>
            </a:r>
            <a:endParaRPr lang="en-US" sz="1200" dirty="0"/>
          </a:p>
        </p:txBody>
      </p:sp>
      <p:sp>
        <p:nvSpPr>
          <p:cNvPr id="35" name="Text 33"/>
          <p:cNvSpPr txBox="1"/>
          <p:nvPr/>
        </p:nvSpPr>
        <p:spPr>
          <a:xfrm>
            <a:off x="6883603" y="3857854"/>
            <a:ext cx="3978554" cy="441655"/>
          </a:xfrm>
          <a:prstGeom prst="rect">
            <a:avLst/>
          </a:prstGeom>
          <a:noFill/>
          <a:ln/>
        </p:spPr>
        <p:txBody>
          <a:bodyPr wrap="none" lIns="0" tIns="0" rIns="0" bIns="0" rtlCol="0" anchor="t"/>
          <a:lstStyle/>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File the SCE papers, hire the coordinator, set up the</a:t>
            </a:r>
            <a:endParaRPr lang="en-US" sz="1200" dirty="0"/>
          </a:p>
          <a:p>
            <a:pPr algn="l" indent="0" marL="0">
              <a:lnSpc>
                <a:spcPts val="1740"/>
              </a:lnSpc>
              <a:buNone/>
            </a:pPr>
            <a:r>
              <a:rPr lang="en-US" sz="1200" dirty="0">
                <a:solidFill>
                  <a:srgbClr val="FFFFFF"/>
                </a:solidFill>
                <a:latin typeface="Open Sans" pitchFamily="34" charset="0"/>
                <a:ea typeface="Open Sans" pitchFamily="34" charset="-122"/>
                <a:cs typeface="Open Sans" pitchFamily="34" charset="-120"/>
              </a:rPr>
              <a:t>course website</a:t>
            </a:r>
            <a:endParaRPr lang="en-US" sz="1200" dirty="0"/>
          </a:p>
        </p:txBody>
      </p:sp>
      <p:sp>
        <p:nvSpPr>
          <p:cNvPr id="36" name="Text 34"/>
          <p:cNvSpPr txBox="1"/>
          <p:nvPr/>
        </p:nvSpPr>
        <p:spPr>
          <a:xfrm>
            <a:off x="11103559" y="3864254"/>
            <a:ext cx="479146" cy="207569"/>
          </a:xfrm>
          <a:prstGeom prst="rect">
            <a:avLst/>
          </a:prstGeom>
          <a:noFill/>
          <a:ln/>
        </p:spPr>
        <p:txBody>
          <a:bodyPr wrap="none" lIns="0" tIns="0" rIns="0" bIns="0" rtlCol="0" anchor="t"/>
          <a:lstStyle/>
          <a:p>
            <a:pPr algn="r" indent="0" marL="0">
              <a:lnSpc>
                <a:spcPts val="1634"/>
              </a:lnSpc>
              <a:buNone/>
            </a:pPr>
            <a:r>
              <a:rPr lang="en-US" sz="1200" dirty="0">
                <a:solidFill>
                  <a:srgbClr val="9E9CB0"/>
                </a:solidFill>
                <a:latin typeface="Open Sans" pitchFamily="34" charset="0"/>
                <a:ea typeface="Open Sans" pitchFamily="34" charset="-122"/>
                <a:cs typeface="Open Sans" pitchFamily="34" charset="-120"/>
              </a:rPr>
              <a:t>3–4 w</a:t>
            </a:r>
            <a:endParaRPr lang="en-US" sz="1200" dirty="0"/>
          </a:p>
        </p:txBody>
      </p:sp>
      <p:sp>
        <p:nvSpPr>
          <p:cNvPr id="37" name="Text 35"/>
          <p:cNvSpPr txBox="1"/>
          <p:nvPr/>
        </p:nvSpPr>
        <p:spPr>
          <a:xfrm>
            <a:off x="6678778" y="5476342"/>
            <a:ext cx="740664" cy="207569"/>
          </a:xfrm>
          <a:prstGeom prst="rect">
            <a:avLst/>
          </a:prstGeom>
          <a:noFill/>
          <a:ln/>
        </p:spPr>
        <p:txBody>
          <a:bodyPr wrap="none" lIns="0" tIns="0" rIns="0" bIns="0" rtlCol="0" anchor="t"/>
          <a:lstStyle/>
          <a:p>
            <a:pPr algn="l" indent="0" marL="0">
              <a:lnSpc>
                <a:spcPts val="1634"/>
              </a:lnSpc>
              <a:buNone/>
            </a:pPr>
            <a:r>
              <a:rPr lang="en-US" sz="1200" dirty="0">
                <a:solidFill>
                  <a:srgbClr val="9E9CB0"/>
                </a:solidFill>
                <a:latin typeface="Open Sans" pitchFamily="34" charset="0"/>
                <a:ea typeface="Open Sans" pitchFamily="34" charset="-122"/>
                <a:cs typeface="Open Sans" pitchFamily="34" charset="-120"/>
              </a:rPr>
              <a:t>Sep 2026</a:t>
            </a:r>
            <a:endParaRPr lang="en-US" sz="1200" dirty="0"/>
          </a:p>
        </p:txBody>
      </p:sp>
      <p:sp>
        <p:nvSpPr>
          <p:cNvPr id="38" name="Shape 36"/>
          <p:cNvSpPr/>
          <p:nvPr/>
        </p:nvSpPr>
        <p:spPr>
          <a:xfrm>
            <a:off x="6953098" y="5773522"/>
            <a:ext cx="101498" cy="101498"/>
          </a:xfrm>
          <a:prstGeom prst="ellipse">
            <a:avLst/>
          </a:prstGeom>
          <a:solidFill>
            <a:srgbClr val="CA49A4"/>
          </a:solidFill>
          <a:ln/>
        </p:spPr>
      </p:sp>
      <p:sp>
        <p:nvSpPr>
          <p:cNvPr id="39" name="Text 37"/>
          <p:cNvSpPr txBox="1"/>
          <p:nvPr/>
        </p:nvSpPr>
        <p:spPr>
          <a:xfrm>
            <a:off x="6677863" y="5959145"/>
            <a:ext cx="652882" cy="205740"/>
          </a:xfrm>
          <a:prstGeom prst="rect">
            <a:avLst/>
          </a:prstGeom>
          <a:noFill/>
          <a:ln/>
        </p:spPr>
        <p:txBody>
          <a:bodyPr wrap="none" lIns="0" tIns="0" rIns="0" bIns="0" rtlCol="0" anchor="t"/>
          <a:lstStyle/>
          <a:p>
            <a:pPr algn="ctr" indent="0" marL="0">
              <a:lnSpc>
                <a:spcPts val="1620"/>
              </a:lnSpc>
              <a:buNone/>
            </a:pPr>
            <a:r>
              <a:rPr lang="en-US" sz="1200" dirty="0">
                <a:solidFill>
                  <a:srgbClr val="D0CFDE"/>
                </a:solidFill>
                <a:latin typeface="Open Sans" pitchFamily="34" charset="0"/>
                <a:ea typeface="Open Sans" pitchFamily="34" charset="-122"/>
                <a:cs typeface="Open Sans" pitchFamily="34" charset="-120"/>
              </a:rPr>
              <a:t>Content</a:t>
            </a:r>
            <a:endParaRPr lang="en-US" sz="1200" dirty="0"/>
          </a:p>
        </p:txBody>
      </p:sp>
      <p:sp>
        <p:nvSpPr>
          <p:cNvPr id="40" name="Text 38"/>
          <p:cNvSpPr txBox="1"/>
          <p:nvPr/>
        </p:nvSpPr>
        <p:spPr>
          <a:xfrm>
            <a:off x="7977226" y="5476342"/>
            <a:ext cx="762610" cy="207569"/>
          </a:xfrm>
          <a:prstGeom prst="rect">
            <a:avLst/>
          </a:prstGeom>
          <a:noFill/>
          <a:ln/>
        </p:spPr>
        <p:txBody>
          <a:bodyPr wrap="none" lIns="0" tIns="0" rIns="0" bIns="0" rtlCol="0" anchor="t"/>
          <a:lstStyle/>
          <a:p>
            <a:pPr algn="l" indent="0" marL="0">
              <a:lnSpc>
                <a:spcPts val="1634"/>
              </a:lnSpc>
              <a:buNone/>
            </a:pPr>
            <a:r>
              <a:rPr lang="en-US" sz="1200" dirty="0">
                <a:solidFill>
                  <a:srgbClr val="9E9CB0"/>
                </a:solidFill>
                <a:latin typeface="Open Sans" pitchFamily="34" charset="0"/>
                <a:ea typeface="Open Sans" pitchFamily="34" charset="-122"/>
                <a:cs typeface="Open Sans" pitchFamily="34" charset="-120"/>
              </a:rPr>
              <a:t>Nov 2026</a:t>
            </a:r>
            <a:endParaRPr lang="en-US" sz="1200" dirty="0"/>
          </a:p>
        </p:txBody>
      </p:sp>
      <p:sp>
        <p:nvSpPr>
          <p:cNvPr id="41" name="Shape 39"/>
          <p:cNvSpPr/>
          <p:nvPr/>
        </p:nvSpPr>
        <p:spPr>
          <a:xfrm>
            <a:off x="8261604" y="5773522"/>
            <a:ext cx="101498" cy="101498"/>
          </a:xfrm>
          <a:prstGeom prst="ellipse">
            <a:avLst/>
          </a:prstGeom>
          <a:solidFill>
            <a:srgbClr val="CA49A4"/>
          </a:solidFill>
          <a:ln/>
        </p:spPr>
      </p:sp>
      <p:sp>
        <p:nvSpPr>
          <p:cNvPr id="42" name="Text 40"/>
          <p:cNvSpPr txBox="1"/>
          <p:nvPr/>
        </p:nvSpPr>
        <p:spPr>
          <a:xfrm>
            <a:off x="7638898" y="5959145"/>
            <a:ext cx="1345997" cy="411480"/>
          </a:xfrm>
          <a:prstGeom prst="rect">
            <a:avLst/>
          </a:prstGeom>
          <a:noFill/>
          <a:ln/>
        </p:spPr>
        <p:txBody>
          <a:bodyPr wrap="none" lIns="0" tIns="0" rIns="0" bIns="0" rtlCol="0" anchor="t"/>
          <a:lstStyle/>
          <a:p>
            <a:pPr algn="ctr" indent="0" marL="0">
              <a:lnSpc>
                <a:spcPts val="1620"/>
              </a:lnSpc>
              <a:buNone/>
            </a:pPr>
            <a:r>
              <a:rPr lang="en-US" sz="1200" dirty="0">
                <a:solidFill>
                  <a:srgbClr val="D0CFDE"/>
                </a:solidFill>
                <a:latin typeface="Open Sans" pitchFamily="34" charset="0"/>
                <a:ea typeface="Open Sans" pitchFamily="34" charset="-122"/>
                <a:cs typeface="Open Sans" pitchFamily="34" charset="-120"/>
              </a:rPr>
              <a:t>Department says</a:t>
            </a:r>
            <a:endParaRPr lang="en-US" sz="1200" dirty="0"/>
          </a:p>
          <a:p>
            <a:pPr algn="ctr" indent="0" marL="0">
              <a:lnSpc>
                <a:spcPts val="1620"/>
              </a:lnSpc>
              <a:buNone/>
            </a:pPr>
            <a:r>
              <a:rPr lang="en-US" sz="1200" dirty="0">
                <a:solidFill>
                  <a:srgbClr val="D0CFDE"/>
                </a:solidFill>
                <a:latin typeface="Open Sans" pitchFamily="34" charset="0"/>
                <a:ea typeface="Open Sans" pitchFamily="34" charset="-122"/>
                <a:cs typeface="Open Sans" pitchFamily="34" charset="-120"/>
              </a:rPr>
              <a:t>yes</a:t>
            </a:r>
            <a:endParaRPr lang="en-US" sz="1200" dirty="0"/>
          </a:p>
        </p:txBody>
      </p:sp>
      <p:sp>
        <p:nvSpPr>
          <p:cNvPr id="43" name="Text 41"/>
          <p:cNvSpPr txBox="1"/>
          <p:nvPr/>
        </p:nvSpPr>
        <p:spPr>
          <a:xfrm>
            <a:off x="9445752" y="5476342"/>
            <a:ext cx="414223" cy="207569"/>
          </a:xfrm>
          <a:prstGeom prst="rect">
            <a:avLst/>
          </a:prstGeom>
          <a:noFill/>
          <a:ln/>
        </p:spPr>
        <p:txBody>
          <a:bodyPr wrap="none" lIns="0" tIns="0" rIns="0" bIns="0" rtlCol="0" anchor="t"/>
          <a:lstStyle/>
          <a:p>
            <a:pPr algn="l" indent="0" marL="0">
              <a:lnSpc>
                <a:spcPts val="1634"/>
              </a:lnSpc>
              <a:buNone/>
            </a:pPr>
            <a:r>
              <a:rPr lang="en-US" sz="1200" dirty="0">
                <a:solidFill>
                  <a:srgbClr val="9E9CB0"/>
                </a:solidFill>
                <a:latin typeface="Open Sans" pitchFamily="34" charset="0"/>
                <a:ea typeface="Open Sans" pitchFamily="34" charset="-122"/>
                <a:cs typeface="Open Sans" pitchFamily="34" charset="-120"/>
              </a:rPr>
              <a:t>2027</a:t>
            </a:r>
            <a:endParaRPr lang="en-US" sz="1200" dirty="0"/>
          </a:p>
        </p:txBody>
      </p:sp>
      <p:sp>
        <p:nvSpPr>
          <p:cNvPr id="44" name="Shape 42"/>
          <p:cNvSpPr/>
          <p:nvPr/>
        </p:nvSpPr>
        <p:spPr>
          <a:xfrm>
            <a:off x="9569196" y="5773522"/>
            <a:ext cx="101498" cy="101498"/>
          </a:xfrm>
          <a:prstGeom prst="ellipse">
            <a:avLst/>
          </a:prstGeom>
          <a:solidFill>
            <a:srgbClr val="CA49A4"/>
          </a:solidFill>
          <a:ln/>
        </p:spPr>
      </p:sp>
      <p:sp>
        <p:nvSpPr>
          <p:cNvPr id="45" name="Text 43"/>
          <p:cNvSpPr txBox="1"/>
          <p:nvPr/>
        </p:nvSpPr>
        <p:spPr>
          <a:xfrm>
            <a:off x="9210751" y="5959145"/>
            <a:ext cx="818388" cy="411480"/>
          </a:xfrm>
          <a:prstGeom prst="rect">
            <a:avLst/>
          </a:prstGeom>
          <a:noFill/>
          <a:ln/>
        </p:spPr>
        <p:txBody>
          <a:bodyPr wrap="none" lIns="0" tIns="0" rIns="0" bIns="0" rtlCol="0" anchor="t"/>
          <a:lstStyle/>
          <a:p>
            <a:pPr algn="ctr" indent="0" marL="0">
              <a:lnSpc>
                <a:spcPts val="1620"/>
              </a:lnSpc>
              <a:buNone/>
            </a:pPr>
            <a:r>
              <a:rPr lang="en-US" sz="1200" dirty="0">
                <a:solidFill>
                  <a:srgbClr val="D0CFDE"/>
                </a:solidFill>
                <a:latin typeface="Open Sans" pitchFamily="34" charset="0"/>
                <a:ea typeface="Open Sans" pitchFamily="34" charset="-122"/>
                <a:cs typeface="Open Sans" pitchFamily="34" charset="-120"/>
              </a:rPr>
              <a:t>Rules and</a:t>
            </a:r>
            <a:endParaRPr lang="en-US" sz="1200" dirty="0"/>
          </a:p>
          <a:p>
            <a:pPr algn="ctr" indent="0" marL="0">
              <a:lnSpc>
                <a:spcPts val="1620"/>
              </a:lnSpc>
              <a:buNone/>
            </a:pPr>
            <a:r>
              <a:rPr lang="en-US" sz="1200" dirty="0">
                <a:solidFill>
                  <a:srgbClr val="D0CFDE"/>
                </a:solidFill>
                <a:latin typeface="Open Sans" pitchFamily="34" charset="0"/>
                <a:ea typeface="Open Sans" pitchFamily="34" charset="-122"/>
                <a:cs typeface="Open Sans" pitchFamily="34" charset="-120"/>
              </a:rPr>
              <a:t>marketing</a:t>
            </a:r>
            <a:endParaRPr lang="en-US" sz="1200" dirty="0"/>
          </a:p>
        </p:txBody>
      </p:sp>
      <p:sp>
        <p:nvSpPr>
          <p:cNvPr id="46" name="Text 44"/>
          <p:cNvSpPr txBox="1"/>
          <p:nvPr/>
        </p:nvSpPr>
        <p:spPr>
          <a:xfrm>
            <a:off x="10611612" y="5476342"/>
            <a:ext cx="722376" cy="207569"/>
          </a:xfrm>
          <a:prstGeom prst="rect">
            <a:avLst/>
          </a:prstGeom>
          <a:noFill/>
          <a:ln/>
        </p:spPr>
        <p:txBody>
          <a:bodyPr wrap="none" lIns="0" tIns="0" rIns="0" bIns="0" rtlCol="0" anchor="t"/>
          <a:lstStyle/>
          <a:p>
            <a:pPr algn="l" indent="0" marL="0">
              <a:lnSpc>
                <a:spcPts val="1634"/>
              </a:lnSpc>
              <a:buNone/>
            </a:pPr>
            <a:r>
              <a:rPr lang="en-US" sz="1200" dirty="0">
                <a:solidFill>
                  <a:srgbClr val="FFFFFF"/>
                </a:solidFill>
                <a:latin typeface="Open Sans" pitchFamily="34" charset="0"/>
                <a:ea typeface="Open Sans" pitchFamily="34" charset="-122"/>
                <a:cs typeface="Open Sans" pitchFamily="34" charset="-120"/>
              </a:rPr>
              <a:t>Oct 2027</a:t>
            </a:r>
            <a:endParaRPr lang="en-US" sz="1200" dirty="0"/>
          </a:p>
        </p:txBody>
      </p:sp>
      <p:sp>
        <p:nvSpPr>
          <p:cNvPr id="47" name="Shape 45"/>
          <p:cNvSpPr/>
          <p:nvPr/>
        </p:nvSpPr>
        <p:spPr>
          <a:xfrm>
            <a:off x="10877702" y="5773522"/>
            <a:ext cx="101498" cy="101498"/>
          </a:xfrm>
          <a:prstGeom prst="ellipse">
            <a:avLst/>
          </a:prstGeom>
          <a:solidFill>
            <a:srgbClr val="FFFFFF"/>
          </a:solidFill>
          <a:ln/>
        </p:spPr>
      </p:sp>
      <p:sp>
        <p:nvSpPr>
          <p:cNvPr id="48" name="Text 46"/>
          <p:cNvSpPr txBox="1"/>
          <p:nvPr/>
        </p:nvSpPr>
        <p:spPr>
          <a:xfrm>
            <a:off x="10387584" y="5959145"/>
            <a:ext cx="1080821" cy="411480"/>
          </a:xfrm>
          <a:prstGeom prst="rect">
            <a:avLst/>
          </a:prstGeom>
          <a:noFill/>
          <a:ln/>
        </p:spPr>
        <p:txBody>
          <a:bodyPr wrap="none" lIns="0" tIns="0" rIns="0" bIns="0" rtlCol="0" anchor="t"/>
          <a:lstStyle/>
          <a:p>
            <a:pPr algn="ctr" indent="0" marL="0">
              <a:lnSpc>
                <a:spcPts val="1620"/>
              </a:lnSpc>
              <a:buNone/>
            </a:pPr>
            <a:r>
              <a:rPr lang="en-US" sz="1200" dirty="0">
                <a:solidFill>
                  <a:srgbClr val="FFFFFF"/>
                </a:solidFill>
                <a:latin typeface="Open Sans" pitchFamily="34" charset="0"/>
                <a:ea typeface="Open Sans" pitchFamily="34" charset="-122"/>
                <a:cs typeface="Open Sans" pitchFamily="34" charset="-120"/>
              </a:rPr>
              <a:t>First students</a:t>
            </a:r>
            <a:endParaRPr lang="en-US" sz="1200" dirty="0"/>
          </a:p>
          <a:p>
            <a:pPr algn="ctr" indent="0" marL="0">
              <a:lnSpc>
                <a:spcPts val="1620"/>
              </a:lnSpc>
              <a:buNone/>
            </a:pPr>
            <a:r>
              <a:rPr lang="en-US" sz="1200" dirty="0">
                <a:solidFill>
                  <a:srgbClr val="FFFFFF"/>
                </a:solidFill>
                <a:latin typeface="Open Sans" pitchFamily="34" charset="0"/>
                <a:ea typeface="Open Sans" pitchFamily="34" charset="-122"/>
                <a:cs typeface="Open Sans" pitchFamily="34" charset="-120"/>
              </a:rPr>
              <a:t>start</a:t>
            </a:r>
            <a:endParaRPr lang="en-US" sz="1200" dirty="0"/>
          </a:p>
        </p:txBody>
      </p:sp>
      <p:sp>
        <p:nvSpPr>
          <p:cNvPr id="49" name="Shape 47"/>
          <p:cNvSpPr/>
          <p:nvPr/>
        </p:nvSpPr>
        <p:spPr>
          <a:xfrm>
            <a:off x="6534302" y="5424221"/>
            <a:ext cx="0" cy="12802"/>
          </a:xfrm>
          <a:prstGeom prst="rect">
            <a:avLst/>
          </a:prstGeom>
          <a:solidFill>
            <a:srgbClr val="3A405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 Computational Form-finding</dc:title>
  <dc:subject>PptxGenJS Presentation</dc:subject>
  <dc:creator>Block Research Group, ETH Zürich</dc:creator>
  <cp:lastModifiedBy>Block Research Group, ETH Zürich</cp:lastModifiedBy>
  <cp:revision>1</cp:revision>
  <dcterms:created xsi:type="dcterms:W3CDTF">2026-10-16T20:49:27Z</dcterms:created>
  <dcterms:modified xsi:type="dcterms:W3CDTF">2026-10-16T20:49:27Z</dcterms:modified>
</cp:coreProperties>
</file>